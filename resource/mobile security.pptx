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0"/>
  </p:notesMasterIdLst>
  <p:sldIdLst>
    <p:sldId id="263" r:id="rId3"/>
    <p:sldId id="278" r:id="rId4"/>
    <p:sldId id="256" r:id="rId5"/>
    <p:sldId id="266" r:id="rId6"/>
    <p:sldId id="290" r:id="rId7"/>
    <p:sldId id="257" r:id="rId8"/>
    <p:sldId id="258" r:id="rId9"/>
    <p:sldId id="259" r:id="rId10"/>
    <p:sldId id="260" r:id="rId11"/>
    <p:sldId id="261" r:id="rId12"/>
    <p:sldId id="262" r:id="rId13"/>
    <p:sldId id="264" r:id="rId14"/>
    <p:sldId id="265" r:id="rId15"/>
    <p:sldId id="275" r:id="rId16"/>
    <p:sldId id="276" r:id="rId17"/>
    <p:sldId id="277" r:id="rId18"/>
    <p:sldId id="274" r:id="rId19"/>
    <p:sldId id="286" r:id="rId20"/>
    <p:sldId id="287" r:id="rId21"/>
    <p:sldId id="267" r:id="rId22"/>
    <p:sldId id="268" r:id="rId23"/>
    <p:sldId id="288" r:id="rId24"/>
    <p:sldId id="289" r:id="rId25"/>
    <p:sldId id="279" r:id="rId26"/>
    <p:sldId id="280" r:id="rId27"/>
    <p:sldId id="269" r:id="rId28"/>
    <p:sldId id="270" r:id="rId29"/>
    <p:sldId id="271" r:id="rId31"/>
    <p:sldId id="272" r:id="rId32"/>
    <p:sldId id="273" r:id="rId33"/>
    <p:sldId id="285" r:id="rId34"/>
    <p:sldId id="282" r:id="rId35"/>
    <p:sldId id="281" r:id="rId36"/>
    <p:sldId id="283" r:id="rId37"/>
    <p:sldId id="284"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1" Type="http://schemas.openxmlformats.org/officeDocument/2006/relationships/tableStyles" Target="tableStyles.xml"/><Relationship Id="rId40" Type="http://schemas.openxmlformats.org/officeDocument/2006/relationships/viewProps" Target="viewProps.xml"/><Relationship Id="rId4" Type="http://schemas.openxmlformats.org/officeDocument/2006/relationships/slide" Target="slides/slide2.xml"/><Relationship Id="rId39" Type="http://schemas.openxmlformats.org/officeDocument/2006/relationships/presProps" Target="presProps.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notesMaster" Target="notesMasters/notesMaster1.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jpeg"/><Relationship Id="rId1" Type="http://schemas.openxmlformats.org/officeDocument/2006/relationships/tags" Target="../tags/tag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485140"/>
          </a:xfrm>
        </p:spPr>
        <p:txBody>
          <a:bodyPr>
            <a:normAutofit fontScale="90000"/>
          </a:bodyPr>
          <a:p>
            <a:pPr algn="ctr"/>
            <a:r>
              <a:rPr lang="en-US" b="1"/>
              <a:t>Contents</a:t>
            </a:r>
            <a:endParaRPr lang="en-US" b="1"/>
          </a:p>
        </p:txBody>
      </p:sp>
      <p:sp>
        <p:nvSpPr>
          <p:cNvPr id="3" name="Content Placeholder 2"/>
          <p:cNvSpPr>
            <a:spLocks noGrp="1"/>
          </p:cNvSpPr>
          <p:nvPr>
            <p:ph idx="1"/>
          </p:nvPr>
        </p:nvSpPr>
        <p:spPr>
          <a:xfrm>
            <a:off x="838200" y="849630"/>
            <a:ext cx="10515600" cy="5327650"/>
          </a:xfrm>
        </p:spPr>
        <p:txBody>
          <a:bodyPr>
            <a:normAutofit fontScale="90000" lnSpcReduction="10000"/>
          </a:bodyPr>
          <a:p>
            <a:pPr algn="just">
              <a:lnSpc>
                <a:spcPct val="150000"/>
              </a:lnSpc>
            </a:pPr>
            <a:r>
              <a:rPr lang="en-US">
                <a:latin typeface="Times New Roman" panose="02020603050405020304" charset="0"/>
                <a:cs typeface="Times New Roman" panose="02020603050405020304" charset="0"/>
              </a:rPr>
              <a:t>Introduction</a:t>
            </a:r>
            <a:endParaRPr lang="en-US">
              <a:latin typeface="Times New Roman" panose="02020603050405020304" charset="0"/>
              <a:cs typeface="Times New Roman" panose="02020603050405020304" charset="0"/>
            </a:endParaRPr>
          </a:p>
          <a:p>
            <a:pPr algn="just">
              <a:lnSpc>
                <a:spcPct val="150000"/>
              </a:lnSpc>
            </a:pPr>
            <a:r>
              <a:rPr lang="en-US">
                <a:latin typeface="Times New Roman" panose="02020603050405020304" charset="0"/>
                <a:cs typeface="Times New Roman" panose="02020603050405020304" charset="0"/>
              </a:rPr>
              <a:t>Types of mobile apps</a:t>
            </a:r>
            <a:endParaRPr lang="en-US">
              <a:latin typeface="Times New Roman" panose="02020603050405020304" charset="0"/>
              <a:cs typeface="Times New Roman" panose="02020603050405020304" charset="0"/>
            </a:endParaRPr>
          </a:p>
          <a:p>
            <a:pPr algn="just">
              <a:lnSpc>
                <a:spcPct val="150000"/>
              </a:lnSpc>
            </a:pPr>
            <a:r>
              <a:rPr lang="en-US">
                <a:latin typeface="Times New Roman" panose="02020603050405020304" charset="0"/>
                <a:cs typeface="Times New Roman" panose="02020603050405020304" charset="0"/>
              </a:rPr>
              <a:t>Mobile app platforms</a:t>
            </a:r>
            <a:endParaRPr lang="en-US">
              <a:latin typeface="Times New Roman" panose="02020603050405020304" charset="0"/>
              <a:cs typeface="Times New Roman" panose="02020603050405020304" charset="0"/>
            </a:endParaRPr>
          </a:p>
          <a:p>
            <a:pPr algn="just">
              <a:lnSpc>
                <a:spcPct val="150000"/>
              </a:lnSpc>
            </a:pPr>
            <a:r>
              <a:rPr lang="en-US" altLang="en-US">
                <a:latin typeface="Times New Roman" panose="02020603050405020304" charset="0"/>
                <a:cs typeface="Times New Roman" panose="02020603050405020304" charset="0"/>
                <a:sym typeface="+mn-ea"/>
              </a:rPr>
              <a:t>Android Platform Overview</a:t>
            </a:r>
            <a:endParaRPr lang="en-US" altLang="en-US">
              <a:latin typeface="Times New Roman" panose="02020603050405020304" charset="0"/>
              <a:cs typeface="Times New Roman" panose="02020603050405020304" charset="0"/>
            </a:endParaRPr>
          </a:p>
          <a:p>
            <a:pPr algn="just">
              <a:lnSpc>
                <a:spcPct val="150000"/>
              </a:lnSpc>
            </a:pPr>
            <a:r>
              <a:rPr lang="en-US">
                <a:latin typeface="Times New Roman" panose="02020603050405020304" charset="0"/>
                <a:cs typeface="Times New Roman" panose="02020603050405020304" charset="0"/>
                <a:sym typeface="+mn-ea"/>
              </a:rPr>
              <a:t>Mobile application components</a:t>
            </a:r>
            <a:endParaRPr lang="en-US">
              <a:latin typeface="Times New Roman" panose="02020603050405020304" charset="0"/>
              <a:cs typeface="Times New Roman" panose="02020603050405020304" charset="0"/>
              <a:sym typeface="+mn-ea"/>
            </a:endParaRPr>
          </a:p>
          <a:p>
            <a:pPr algn="just">
              <a:lnSpc>
                <a:spcPct val="150000"/>
              </a:lnSpc>
            </a:pPr>
            <a:r>
              <a:rPr lang="en-US" altLang="en-US">
                <a:latin typeface="Times New Roman" panose="02020603050405020304" charset="0"/>
                <a:cs typeface="Times New Roman" panose="02020603050405020304" charset="0"/>
                <a:sym typeface="+mn-ea"/>
              </a:rPr>
              <a:t>APK Structure and APK signing schemes</a:t>
            </a:r>
            <a:endParaRPr lang="en-US" altLang="en-US">
              <a:latin typeface="Times New Roman" panose="02020603050405020304" charset="0"/>
              <a:cs typeface="Times New Roman" panose="02020603050405020304" charset="0"/>
            </a:endParaRPr>
          </a:p>
          <a:p>
            <a:pPr algn="just">
              <a:lnSpc>
                <a:spcPct val="150000"/>
              </a:lnSpc>
            </a:pPr>
            <a:r>
              <a:rPr lang="en-US">
                <a:latin typeface="Times New Roman" panose="02020603050405020304" charset="0"/>
                <a:cs typeface="Times New Roman" panose="02020603050405020304" charset="0"/>
                <a:sym typeface="+mn-ea"/>
              </a:rPr>
              <a:t>Sandboxing and permissions</a:t>
            </a:r>
            <a:endParaRPr lang="en-US">
              <a:latin typeface="Times New Roman" panose="02020603050405020304" charset="0"/>
              <a:cs typeface="Times New Roman" panose="02020603050405020304" charset="0"/>
            </a:endParaRPr>
          </a:p>
          <a:p>
            <a:pPr algn="just">
              <a:lnSpc>
                <a:spcPct val="150000"/>
              </a:lnSpc>
            </a:pPr>
            <a:r>
              <a:rPr lang="en-US">
                <a:latin typeface="Times New Roman" panose="02020603050405020304" charset="0"/>
                <a:cs typeface="Times New Roman" panose="02020603050405020304" charset="0"/>
                <a:sym typeface="+mn-ea"/>
              </a:rPr>
              <a:t>Mobile Application Threat Model</a:t>
            </a:r>
            <a:endParaRPr lang="en-US">
              <a:latin typeface="Times New Roman" panose="02020603050405020304" charset="0"/>
              <a:cs typeface="Times New Roman" panose="02020603050405020304" charset="0"/>
              <a:sym typeface="+mn-ea"/>
            </a:endParaRPr>
          </a:p>
          <a:p>
            <a:pPr algn="just"/>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1004570"/>
          </a:xfrm>
        </p:spPr>
        <p:txBody>
          <a:bodyPr>
            <a:normAutofit fontScale="90000"/>
          </a:bodyPr>
          <a:p>
            <a:r>
              <a:rPr lang="en-US" altLang="en-US">
                <a:latin typeface="Times New Roman" panose="02020603050405020304" charset="0"/>
                <a:cs typeface="Times New Roman" panose="02020603050405020304" charset="0"/>
                <a:sym typeface="+mn-ea"/>
              </a:rPr>
              <a:t>Contents contd...</a:t>
            </a:r>
            <a:br>
              <a:rPr lang="en-US" altLang="en-US">
                <a:latin typeface="Times New Roman" panose="02020603050405020304" charset="0"/>
                <a:cs typeface="Times New Roman" panose="02020603050405020304" charset="0"/>
                <a:sym typeface="+mn-ea"/>
              </a:rPr>
            </a:br>
            <a:endParaRPr lang="en-US"/>
          </a:p>
        </p:txBody>
      </p:sp>
      <p:sp>
        <p:nvSpPr>
          <p:cNvPr id="3" name="Content Placeholder 2"/>
          <p:cNvSpPr>
            <a:spLocks noGrp="1"/>
          </p:cNvSpPr>
          <p:nvPr>
            <p:ph idx="1"/>
          </p:nvPr>
        </p:nvSpPr>
        <p:spPr>
          <a:xfrm>
            <a:off x="838200" y="1300480"/>
            <a:ext cx="10515600" cy="4876800"/>
          </a:xfrm>
        </p:spPr>
        <p:txBody>
          <a:bodyPr>
            <a:normAutofit lnSpcReduction="20000"/>
          </a:bodyPr>
          <a:p>
            <a:pPr algn="just">
              <a:lnSpc>
                <a:spcPct val="150000"/>
              </a:lnSpc>
            </a:pPr>
            <a:r>
              <a:rPr lang="en-US">
                <a:latin typeface="Times New Roman" panose="02020603050405020304" charset="0"/>
                <a:cs typeface="Times New Roman" panose="02020603050405020304" charset="0"/>
                <a:sym typeface="+mn-ea"/>
              </a:rPr>
              <a:t>Deeplinks and webviews</a:t>
            </a:r>
            <a:endParaRPr lang="en-US" altLang="en-US">
              <a:latin typeface="Times New Roman" panose="02020603050405020304" charset="0"/>
              <a:cs typeface="Times New Roman" panose="02020603050405020304" charset="0"/>
              <a:sym typeface="+mn-ea"/>
            </a:endParaRPr>
          </a:p>
          <a:p>
            <a:pPr algn="just">
              <a:lnSpc>
                <a:spcPct val="150000"/>
              </a:lnSpc>
            </a:pPr>
            <a:r>
              <a:rPr lang="en-US" altLang="en-US">
                <a:latin typeface="Times New Roman" panose="02020603050405020304" charset="0"/>
                <a:cs typeface="Times New Roman" panose="02020603050405020304" charset="0"/>
                <a:sym typeface="+mn-ea"/>
              </a:rPr>
              <a:t>Mobile App Tampering and Reverse Engineering</a:t>
            </a:r>
            <a:endParaRPr lang="en-US">
              <a:latin typeface="Times New Roman" panose="02020603050405020304" charset="0"/>
              <a:cs typeface="Times New Roman" panose="02020603050405020304" charset="0"/>
              <a:sym typeface="+mn-ea"/>
            </a:endParaRPr>
          </a:p>
          <a:p>
            <a:pPr algn="just">
              <a:lnSpc>
                <a:spcPct val="150000"/>
              </a:lnSpc>
            </a:pPr>
            <a:r>
              <a:rPr lang="en-US" altLang="en-US">
                <a:latin typeface="Times New Roman" panose="02020603050405020304" charset="0"/>
                <a:cs typeface="Times New Roman" panose="02020603050405020304" charset="0"/>
                <a:sym typeface="+mn-ea"/>
              </a:rPr>
              <a:t>Mobile Application Security Testing</a:t>
            </a:r>
            <a:endParaRPr lang="en-US" altLang="en-US">
              <a:latin typeface="Times New Roman" panose="02020603050405020304" charset="0"/>
              <a:cs typeface="Times New Roman" panose="02020603050405020304" charset="0"/>
              <a:sym typeface="+mn-ea"/>
            </a:endParaRPr>
          </a:p>
          <a:p>
            <a:pPr algn="just">
              <a:lnSpc>
                <a:spcPct val="150000"/>
              </a:lnSpc>
            </a:pPr>
            <a:r>
              <a:rPr lang="en-US">
                <a:latin typeface="Times New Roman" panose="02020603050405020304" charset="0"/>
                <a:cs typeface="Times New Roman" panose="02020603050405020304" charset="0"/>
                <a:sym typeface="+mn-ea"/>
              </a:rPr>
              <a:t>Static analysis of mobile application</a:t>
            </a:r>
            <a:endParaRPr lang="en-US">
              <a:latin typeface="Times New Roman" panose="02020603050405020304" charset="0"/>
              <a:cs typeface="Times New Roman" panose="02020603050405020304" charset="0"/>
            </a:endParaRPr>
          </a:p>
          <a:p>
            <a:pPr algn="just">
              <a:lnSpc>
                <a:spcPct val="150000"/>
              </a:lnSpc>
            </a:pPr>
            <a:r>
              <a:rPr lang="en-US">
                <a:latin typeface="Times New Roman" panose="02020603050405020304" charset="0"/>
                <a:cs typeface="Times New Roman" panose="02020603050405020304" charset="0"/>
                <a:sym typeface="+mn-ea"/>
              </a:rPr>
              <a:t>Dynamic analysis of mobile application</a:t>
            </a:r>
            <a:endParaRPr lang="en-US">
              <a:latin typeface="Times New Roman" panose="02020603050405020304" charset="0"/>
              <a:cs typeface="Times New Roman" panose="02020603050405020304" charset="0"/>
              <a:sym typeface="+mn-ea"/>
            </a:endParaRPr>
          </a:p>
          <a:p>
            <a:pPr marL="0" indent="0" algn="just">
              <a:lnSpc>
                <a:spcPct val="150000"/>
              </a:lnSpc>
              <a:buNone/>
            </a:pPr>
            <a:endParaRPr lang="en-US">
              <a:latin typeface="Times New Roman" panose="02020603050405020304" charset="0"/>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535305"/>
            <a:ext cx="9144000" cy="862330"/>
          </a:xfrm>
        </p:spPr>
        <p:txBody>
          <a:bodyPr>
            <a:normAutofit fontScale="90000"/>
          </a:bodyPr>
          <a:lstStyle/>
          <a:p>
            <a:r>
              <a:rPr lang="en-US" dirty="0"/>
              <a:t>Introduction</a:t>
            </a:r>
            <a:endParaRPr lang="en-US" dirty="0"/>
          </a:p>
        </p:txBody>
      </p:sp>
      <p:sp>
        <p:nvSpPr>
          <p:cNvPr id="3" name="Subtitle 2"/>
          <p:cNvSpPr>
            <a:spLocks noGrp="1"/>
          </p:cNvSpPr>
          <p:nvPr>
            <p:ph type="subTitle" idx="1"/>
          </p:nvPr>
        </p:nvSpPr>
        <p:spPr>
          <a:xfrm>
            <a:off x="1004570" y="1397635"/>
            <a:ext cx="9144000" cy="5104130"/>
          </a:xfrm>
        </p:spPr>
        <p:txBody>
          <a:bodyPr>
            <a:normAutofit fontScale="80000"/>
          </a:bodyPr>
          <a:lstStyle/>
          <a:p>
            <a:pPr algn="just">
              <a:lnSpc>
                <a:spcPct val="150000"/>
              </a:lnSpc>
            </a:pPr>
            <a:r>
              <a:rPr lang="en-US" altLang="en-US" sz="3000">
                <a:latin typeface="Times New Roman" panose="02020603050405020304" charset="0"/>
                <a:cs typeface="Times New Roman" panose="02020603050405020304" charset="0"/>
              </a:rPr>
              <a:t> Mobile application security penetration testing is the practice of assessing and identifying vulnerabilities within mobile applications.</a:t>
            </a:r>
            <a:endParaRPr lang="en-US" altLang="en-US" sz="3000">
              <a:latin typeface="Times New Roman" panose="02020603050405020304" charset="0"/>
              <a:cs typeface="Times New Roman" panose="02020603050405020304" charset="0"/>
            </a:endParaRPr>
          </a:p>
          <a:p>
            <a:pPr algn="just">
              <a:lnSpc>
                <a:spcPct val="150000"/>
              </a:lnSpc>
            </a:pPr>
            <a:r>
              <a:rPr lang="en-US" altLang="en-US" sz="3000">
                <a:latin typeface="Times New Roman" panose="02020603050405020304" charset="0"/>
                <a:cs typeface="Times New Roman" panose="02020603050405020304" charset="0"/>
              </a:rPr>
              <a:t> Mobile apps often handle sensitive information such as user credentials, financial data, and personal information. A compromised mobile app can lead to severe security breaches, such as identity theft, unauthorized financial transactions, and loss of user trust. Therefore, securing these apps through rigorous testing is essential for safeguarding users' privacy and maintaining the integrity of the app.</a:t>
            </a:r>
            <a:endParaRPr lang="en-US" altLang="en-US" sz="3000">
              <a:latin typeface="Times New Roman" panose="02020603050405020304" charset="0"/>
              <a:cs typeface="Times New Roman" panose="02020603050405020304" charset="0"/>
            </a:endParaRPr>
          </a:p>
          <a:p>
            <a:pPr algn="just">
              <a:lnSpc>
                <a:spcPct val="150000"/>
              </a:lnSpc>
            </a:pPr>
            <a:endParaRPr lang="en-US" altLang="en-US" sz="3000">
              <a:latin typeface="Times New Roman" panose="02020603050405020304" charset="0"/>
              <a:cs typeface="Times New Roman" panose="02020603050405020304" charset="0"/>
            </a:endParaRPr>
          </a:p>
          <a:p>
            <a:pPr algn="just">
              <a:lnSpc>
                <a:spcPct val="150000"/>
              </a:lnSpc>
            </a:pPr>
            <a:endParaRPr lang="en-US" altLang="en-US" sz="3000">
              <a:latin typeface="Times New Roman" panose="02020603050405020304" charset="0"/>
              <a:cs typeface="Times New Roman" panose="0202060305040502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789305"/>
          </a:xfrm>
        </p:spPr>
        <p:txBody>
          <a:bodyPr/>
          <a:p>
            <a:r>
              <a:rPr lang="en-US" dirty="0">
                <a:sym typeface="+mn-ea"/>
              </a:rPr>
              <a:t>Introduction contd...</a:t>
            </a:r>
            <a:endParaRPr lang="en-US"/>
          </a:p>
        </p:txBody>
      </p:sp>
      <p:sp>
        <p:nvSpPr>
          <p:cNvPr id="3" name="Content Placeholder 2"/>
          <p:cNvSpPr>
            <a:spLocks noGrp="1"/>
          </p:cNvSpPr>
          <p:nvPr>
            <p:ph idx="1"/>
          </p:nvPr>
        </p:nvSpPr>
        <p:spPr>
          <a:xfrm>
            <a:off x="838200" y="1204595"/>
            <a:ext cx="10515600" cy="5053330"/>
          </a:xfrm>
        </p:spPr>
        <p:txBody>
          <a:bodyPr>
            <a:noAutofit/>
          </a:bodyPr>
          <a:p>
            <a:pPr algn="just">
              <a:lnSpc>
                <a:spcPct val="150000"/>
              </a:lnSpc>
            </a:pPr>
            <a:r>
              <a:rPr lang="en-US" altLang="en-US" sz="2400">
                <a:latin typeface="Times New Roman" panose="02020603050405020304" charset="0"/>
                <a:cs typeface="Times New Roman" panose="02020603050405020304" charset="0"/>
                <a:sym typeface="+mn-ea"/>
              </a:rPr>
              <a:t>Penetration testing involves simulating attacks on an app from an attacker’s perspective. The goal is to uncover security flaws before malicious individuals can exploit them.</a:t>
            </a:r>
            <a:endParaRPr lang="en-US" altLang="en-US" sz="2400">
              <a:latin typeface="Times New Roman" panose="02020603050405020304" charset="0"/>
              <a:cs typeface="Times New Roman" panose="02020603050405020304" charset="0"/>
              <a:sym typeface="+mn-ea"/>
            </a:endParaRPr>
          </a:p>
          <a:p>
            <a:pPr algn="just">
              <a:lnSpc>
                <a:spcPct val="150000"/>
              </a:lnSpc>
            </a:pPr>
            <a:r>
              <a:rPr lang="en-US" altLang="en-US" sz="2400" b="1">
                <a:latin typeface="Times New Roman" panose="02020603050405020304" charset="0"/>
                <a:cs typeface="Times New Roman" panose="02020603050405020304" charset="0"/>
              </a:rPr>
              <a:t>Standards (Define what should be secured and how)</a:t>
            </a:r>
            <a:endParaRPr lang="en-US" altLang="en-US" sz="2400">
              <a:latin typeface="Times New Roman" panose="02020603050405020304" charset="0"/>
              <a:cs typeface="Times New Roman" panose="02020603050405020304" charset="0"/>
            </a:endParaRPr>
          </a:p>
          <a:p>
            <a:pPr algn="just">
              <a:lnSpc>
                <a:spcPct val="150000"/>
              </a:lnSpc>
            </a:pPr>
            <a:r>
              <a:rPr lang="en-US" altLang="en-US" sz="2400">
                <a:latin typeface="Times New Roman" panose="02020603050405020304" charset="0"/>
                <a:cs typeface="Times New Roman" panose="02020603050405020304" charset="0"/>
              </a:rPr>
              <a:t>OWASP MASVS (Mobile App Security Verification Standard)</a:t>
            </a:r>
            <a:endParaRPr lang="en-US" altLang="en-US" sz="2400">
              <a:latin typeface="Times New Roman" panose="02020603050405020304" charset="0"/>
              <a:cs typeface="Times New Roman" panose="02020603050405020304" charset="0"/>
            </a:endParaRPr>
          </a:p>
          <a:p>
            <a:pPr algn="just">
              <a:lnSpc>
                <a:spcPct val="150000"/>
              </a:lnSpc>
            </a:pPr>
            <a:r>
              <a:rPr lang="en-US" altLang="en-US" sz="2400">
                <a:latin typeface="Times New Roman" panose="02020603050405020304" charset="0"/>
                <a:cs typeface="Times New Roman" panose="02020603050405020304" charset="0"/>
              </a:rPr>
              <a:t>OWASP MSTG (Mobile Security Testing Guide)</a:t>
            </a:r>
            <a:endParaRPr lang="en-US" altLang="en-US" sz="2400">
              <a:latin typeface="Times New Roman" panose="02020603050405020304" charset="0"/>
              <a:cs typeface="Times New Roman" panose="02020603050405020304" charset="0"/>
            </a:endParaRPr>
          </a:p>
          <a:p>
            <a:pPr algn="just">
              <a:lnSpc>
                <a:spcPct val="150000"/>
              </a:lnSpc>
            </a:pPr>
            <a:r>
              <a:rPr lang="en-US" altLang="en-US" sz="2400">
                <a:latin typeface="Times New Roman" panose="02020603050405020304" charset="0"/>
                <a:cs typeface="Times New Roman" panose="02020603050405020304" charset="0"/>
              </a:rPr>
              <a:t> ISO/IEC 27034 (Application Security)</a:t>
            </a:r>
            <a:endParaRPr lang="en-US" altLang="en-US" sz="2400">
              <a:latin typeface="Times New Roman" panose="02020603050405020304" charset="0"/>
              <a:cs typeface="Times New Roman" panose="02020603050405020304" charset="0"/>
            </a:endParaRPr>
          </a:p>
          <a:p>
            <a:pPr algn="just">
              <a:lnSpc>
                <a:spcPct val="150000"/>
              </a:lnSpc>
            </a:pPr>
            <a:r>
              <a:rPr lang="en-US" altLang="en-US" sz="2400">
                <a:latin typeface="Times New Roman" panose="02020603050405020304" charset="0"/>
                <a:cs typeface="Times New Roman" panose="02020603050405020304" charset="0"/>
              </a:rPr>
              <a:t>NIST SP 800-163 (Mobile App Vetting)</a:t>
            </a:r>
            <a:endParaRPr lang="en-US" altLang="en-US" sz="2400">
              <a:latin typeface="Times New Roman" panose="02020603050405020304" charset="0"/>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954405"/>
          </a:xfrm>
        </p:spPr>
        <p:txBody>
          <a:bodyPr/>
          <a:p>
            <a:r>
              <a:rPr lang="en-US" dirty="0">
                <a:sym typeface="+mn-ea"/>
              </a:rPr>
              <a:t>Introduction contd...</a:t>
            </a:r>
            <a:endParaRPr lang="en-US"/>
          </a:p>
        </p:txBody>
      </p:sp>
      <p:sp>
        <p:nvSpPr>
          <p:cNvPr id="3" name="Content Placeholder 2"/>
          <p:cNvSpPr>
            <a:spLocks noGrp="1"/>
          </p:cNvSpPr>
          <p:nvPr>
            <p:ph idx="1"/>
          </p:nvPr>
        </p:nvSpPr>
        <p:spPr>
          <a:xfrm>
            <a:off x="838200" y="1393825"/>
            <a:ext cx="10515600" cy="4783455"/>
          </a:xfrm>
        </p:spPr>
        <p:txBody>
          <a:bodyPr>
            <a:normAutofit/>
          </a:bodyPr>
          <a:p>
            <a:pPr marL="0" indent="0" algn="just">
              <a:lnSpc>
                <a:spcPct val="150000"/>
              </a:lnSpc>
              <a:buNone/>
            </a:pPr>
            <a:r>
              <a:rPr lang="en-US" altLang="en-US" sz="2400">
                <a:latin typeface="Times New Roman" panose="02020603050405020304" charset="0"/>
                <a:cs typeface="Times New Roman" panose="02020603050405020304" charset="0"/>
              </a:rPr>
              <a:t> </a:t>
            </a:r>
            <a:r>
              <a:rPr lang="en-US" altLang="en-US" sz="2400" b="1">
                <a:latin typeface="Times New Roman" panose="02020603050405020304" charset="0"/>
                <a:cs typeface="Times New Roman" panose="02020603050405020304" charset="0"/>
              </a:rPr>
              <a:t>Compliance Frameworks (Legal or industry requirements you must follow)</a:t>
            </a:r>
            <a:endParaRPr lang="en-US" altLang="en-US" sz="2400" b="1">
              <a:latin typeface="Times New Roman" panose="02020603050405020304" charset="0"/>
              <a:cs typeface="Times New Roman" panose="02020603050405020304" charset="0"/>
            </a:endParaRPr>
          </a:p>
          <a:p>
            <a:pPr algn="just">
              <a:lnSpc>
                <a:spcPct val="150000"/>
              </a:lnSpc>
            </a:pPr>
            <a:r>
              <a:rPr lang="en-US" altLang="en-US" sz="2400" b="1">
                <a:latin typeface="Times New Roman" panose="02020603050405020304" charset="0"/>
                <a:cs typeface="Times New Roman" panose="02020603050405020304" charset="0"/>
              </a:rPr>
              <a:t>GDPR</a:t>
            </a:r>
            <a:r>
              <a:rPr lang="en-US" altLang="en-US" sz="2400">
                <a:latin typeface="Times New Roman" panose="02020603050405020304" charset="0"/>
                <a:cs typeface="Times New Roman" panose="02020603050405020304" charset="0"/>
              </a:rPr>
              <a:t> – General Data Protection Regulation (EU)</a:t>
            </a:r>
            <a:endParaRPr lang="en-US" altLang="en-US" sz="2400">
              <a:latin typeface="Times New Roman" panose="02020603050405020304" charset="0"/>
              <a:cs typeface="Times New Roman" panose="02020603050405020304" charset="0"/>
            </a:endParaRPr>
          </a:p>
          <a:p>
            <a:pPr algn="just">
              <a:lnSpc>
                <a:spcPct val="150000"/>
              </a:lnSpc>
            </a:pPr>
            <a:r>
              <a:rPr lang="en-US" altLang="en-US" sz="2400">
                <a:latin typeface="Times New Roman" panose="02020603050405020304" charset="0"/>
                <a:cs typeface="Times New Roman" panose="02020603050405020304" charset="0"/>
              </a:rPr>
              <a:t> </a:t>
            </a:r>
            <a:r>
              <a:rPr lang="en-US" altLang="en-US" sz="2400" b="1">
                <a:latin typeface="Times New Roman" panose="02020603050405020304" charset="0"/>
                <a:cs typeface="Times New Roman" panose="02020603050405020304" charset="0"/>
              </a:rPr>
              <a:t>PCI-DSS</a:t>
            </a:r>
            <a:r>
              <a:rPr lang="en-US" altLang="en-US" sz="2400">
                <a:latin typeface="Times New Roman" panose="02020603050405020304" charset="0"/>
                <a:cs typeface="Times New Roman" panose="02020603050405020304" charset="0"/>
              </a:rPr>
              <a:t> – Payment Card Industry Data Security Standard</a:t>
            </a:r>
            <a:endParaRPr lang="en-US" altLang="en-US" sz="2400">
              <a:latin typeface="Times New Roman" panose="02020603050405020304" charset="0"/>
              <a:cs typeface="Times New Roman" panose="02020603050405020304" charset="0"/>
            </a:endParaRPr>
          </a:p>
          <a:p>
            <a:pPr algn="just">
              <a:lnSpc>
                <a:spcPct val="150000"/>
              </a:lnSpc>
            </a:pPr>
            <a:r>
              <a:rPr lang="en-US" altLang="en-US" sz="2400" b="1">
                <a:latin typeface="Times New Roman" panose="02020603050405020304" charset="0"/>
                <a:cs typeface="Times New Roman" panose="02020603050405020304" charset="0"/>
              </a:rPr>
              <a:t>HIPAA</a:t>
            </a:r>
            <a:r>
              <a:rPr lang="en-US" altLang="en-US" sz="2400">
                <a:latin typeface="Times New Roman" panose="02020603050405020304" charset="0"/>
                <a:cs typeface="Times New Roman" panose="02020603050405020304" charset="0"/>
              </a:rPr>
              <a:t> – Health Insurance Portability and Accountability Act (US)</a:t>
            </a:r>
            <a:endParaRPr lang="en-US" altLang="en-US" sz="2400">
              <a:latin typeface="Times New Roman" panose="02020603050405020304" charset="0"/>
              <a:cs typeface="Times New Roman" panose="02020603050405020304" charset="0"/>
            </a:endParaRPr>
          </a:p>
          <a:p>
            <a:pPr marL="0" indent="0" algn="just">
              <a:lnSpc>
                <a:spcPct val="150000"/>
              </a:lnSpc>
              <a:buNone/>
            </a:pPr>
            <a:r>
              <a:rPr lang="en-US" altLang="en-US" sz="2400">
                <a:latin typeface="Times New Roman" panose="02020603050405020304" charset="0"/>
                <a:cs typeface="Times New Roman" panose="02020603050405020304" charset="0"/>
              </a:rPr>
              <a:t> </a:t>
            </a:r>
            <a:r>
              <a:rPr lang="en-US" altLang="en-US" sz="2400" b="1">
                <a:latin typeface="Times New Roman" panose="02020603050405020304" charset="0"/>
                <a:cs typeface="Times New Roman" panose="02020603050405020304" charset="0"/>
              </a:rPr>
              <a:t>Supporting Systems (Used within or alongside standards)</a:t>
            </a:r>
            <a:endParaRPr lang="en-US" altLang="en-US" sz="2400">
              <a:latin typeface="Times New Roman" panose="02020603050405020304" charset="0"/>
              <a:cs typeface="Times New Roman" panose="02020603050405020304" charset="0"/>
            </a:endParaRPr>
          </a:p>
          <a:p>
            <a:pPr algn="just">
              <a:lnSpc>
                <a:spcPct val="150000"/>
              </a:lnSpc>
            </a:pPr>
            <a:r>
              <a:rPr lang="en-US" altLang="en-US" sz="2400" b="1">
                <a:latin typeface="Times New Roman" panose="02020603050405020304" charset="0"/>
                <a:cs typeface="Times New Roman" panose="02020603050405020304" charset="0"/>
              </a:rPr>
              <a:t>CVE</a:t>
            </a:r>
            <a:r>
              <a:rPr lang="en-US" altLang="en-US" sz="2400">
                <a:latin typeface="Times New Roman" panose="02020603050405020304" charset="0"/>
                <a:cs typeface="Times New Roman" panose="02020603050405020304" charset="0"/>
              </a:rPr>
              <a:t> – Identifier for known vulnerabilities</a:t>
            </a:r>
            <a:endParaRPr lang="en-US" altLang="en-US" sz="2400">
              <a:latin typeface="Times New Roman" panose="02020603050405020304" charset="0"/>
              <a:cs typeface="Times New Roman" panose="02020603050405020304" charset="0"/>
            </a:endParaRPr>
          </a:p>
          <a:p>
            <a:pPr algn="just">
              <a:lnSpc>
                <a:spcPct val="150000"/>
              </a:lnSpc>
            </a:pPr>
            <a:r>
              <a:rPr lang="en-US" altLang="en-US" sz="2400" b="1">
                <a:latin typeface="Times New Roman" panose="02020603050405020304" charset="0"/>
                <a:cs typeface="Times New Roman" panose="02020603050405020304" charset="0"/>
              </a:rPr>
              <a:t>CVSS </a:t>
            </a:r>
            <a:r>
              <a:rPr lang="en-US" altLang="en-US" sz="2400">
                <a:latin typeface="Times New Roman" panose="02020603050405020304" charset="0"/>
                <a:cs typeface="Times New Roman" panose="02020603050405020304" charset="0"/>
              </a:rPr>
              <a:t>– Risk scoring system for those vulnerabilities</a:t>
            </a:r>
            <a:endParaRPr lang="en-US" altLang="en-US" sz="2400">
              <a:latin typeface="Times New Roman" panose="02020603050405020304" charset="0"/>
              <a:cs typeface="Times New Roman"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711835"/>
          </a:xfrm>
        </p:spPr>
        <p:txBody>
          <a:bodyPr>
            <a:normAutofit/>
          </a:bodyPr>
          <a:p>
            <a:r>
              <a:rPr lang="en-US" sz="4000" b="1">
                <a:latin typeface="Times New Roman" panose="02020603050405020304" charset="0"/>
                <a:cs typeface="Times New Roman" panose="02020603050405020304" charset="0"/>
              </a:rPr>
              <a:t>types of mobile apps</a:t>
            </a:r>
            <a:endParaRPr lang="en-US" sz="4000"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838200" y="1028065"/>
            <a:ext cx="10515600" cy="5149215"/>
          </a:xfrm>
        </p:spPr>
        <p:txBody>
          <a:bodyPr>
            <a:normAutofit lnSpcReduction="20000"/>
          </a:bodyPr>
          <a:p>
            <a:pPr algn="just">
              <a:lnSpc>
                <a:spcPct val="150000"/>
              </a:lnSpc>
            </a:pPr>
            <a:r>
              <a:rPr lang="en-US" altLang="en-US" sz="2400" b="1">
                <a:latin typeface="Times New Roman" panose="02020603050405020304" charset="0"/>
                <a:cs typeface="Times New Roman" panose="02020603050405020304" charset="0"/>
              </a:rPr>
              <a:t>Native Apps :</a:t>
            </a:r>
            <a:r>
              <a:rPr lang="en-US" altLang="en-US" sz="2400">
                <a:latin typeface="Times New Roman" panose="02020603050405020304" charset="0"/>
                <a:cs typeface="Times New Roman" panose="02020603050405020304" charset="0"/>
              </a:rPr>
              <a:t> implemented in a standard programming language for that mobile operating system - Objective-C or Swift for iOS, and Java or Kotlin for Android.</a:t>
            </a:r>
            <a:endParaRPr lang="en-US" altLang="en-US" sz="2400">
              <a:latin typeface="Times New Roman" panose="02020603050405020304" charset="0"/>
              <a:cs typeface="Times New Roman" panose="02020603050405020304" charset="0"/>
            </a:endParaRPr>
          </a:p>
          <a:p>
            <a:pPr algn="just">
              <a:lnSpc>
                <a:spcPct val="150000"/>
              </a:lnSpc>
            </a:pPr>
            <a:r>
              <a:rPr lang="en-US" altLang="en-US" sz="2400" b="1">
                <a:latin typeface="Times New Roman" panose="02020603050405020304" charset="0"/>
                <a:cs typeface="Times New Roman" panose="02020603050405020304" charset="0"/>
              </a:rPr>
              <a:t> hybrid:</a:t>
            </a:r>
            <a:r>
              <a:rPr lang="en-US" altLang="en-US" sz="2400">
                <a:latin typeface="Times New Roman" panose="02020603050405020304" charset="0"/>
                <a:cs typeface="Times New Roman" panose="02020603050405020304" charset="0"/>
              </a:rPr>
              <a:t> executes like a native app, but a majority of the processes rely on web technologies, meaning a portion of the app runs in an embedded web browser (commonly called "WebView").</a:t>
            </a:r>
            <a:endParaRPr lang="en-US" altLang="en-US" sz="2400">
              <a:latin typeface="Times New Roman" panose="02020603050405020304" charset="0"/>
              <a:cs typeface="Times New Roman" panose="02020603050405020304" charset="0"/>
            </a:endParaRPr>
          </a:p>
          <a:p>
            <a:pPr algn="just">
              <a:lnSpc>
                <a:spcPct val="150000"/>
              </a:lnSpc>
            </a:pPr>
            <a:r>
              <a:rPr lang="en-US" altLang="en-US" sz="2400" b="1">
                <a:latin typeface="Times New Roman" panose="02020603050405020304" charset="0"/>
                <a:cs typeface="Times New Roman" panose="02020603050405020304" charset="0"/>
              </a:rPr>
              <a:t>Progressive Web App: </a:t>
            </a:r>
            <a:r>
              <a:rPr lang="en-US" altLang="en-US" sz="2400">
                <a:latin typeface="Times New Roman" panose="02020603050405020304" charset="0"/>
                <a:cs typeface="Times New Roman" panose="02020603050405020304" charset="0"/>
              </a:rPr>
              <a:t>A Progressive Web App (PWA) as a mobile app is a web-based application that behaves like a native mobile app when installed on a smartphone. It runs in a standalone window (not the browser), supports offline functionality, and can be launched from the home screen—without going through an app store.</a:t>
            </a:r>
            <a:endParaRPr lang="en-US" altLang="en-US" sz="2400">
              <a:latin typeface="Times New Roman" panose="02020603050405020304" charset="0"/>
              <a:cs typeface="Times New Roman" panose="02020603050405020304" charset="0"/>
            </a:endParaRPr>
          </a:p>
          <a:p>
            <a:pPr algn="just">
              <a:lnSpc>
                <a:spcPct val="150000"/>
              </a:lnSpc>
            </a:pPr>
            <a:endParaRPr lang="en-US" altLang="en-US" sz="2400">
              <a:latin typeface="Times New Roman" panose="02020603050405020304" charset="0"/>
              <a:cs typeface="Times New Roman" panose="020206030504050203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735965"/>
          </a:xfrm>
        </p:spPr>
        <p:txBody>
          <a:bodyPr>
            <a:normAutofit fontScale="90000"/>
          </a:bodyPr>
          <a:p>
            <a:r>
              <a:rPr lang="en-US" altLang="en-US"/>
              <a:t>Mobile Application Platforms</a:t>
            </a:r>
            <a:endParaRPr lang="en-US" altLang="en-US"/>
          </a:p>
        </p:txBody>
      </p:sp>
      <p:sp>
        <p:nvSpPr>
          <p:cNvPr id="3" name="Content Placeholder 2"/>
          <p:cNvSpPr>
            <a:spLocks noGrp="1"/>
          </p:cNvSpPr>
          <p:nvPr>
            <p:ph idx="1"/>
          </p:nvPr>
        </p:nvSpPr>
        <p:spPr>
          <a:xfrm>
            <a:off x="838200" y="1228725"/>
            <a:ext cx="10515600" cy="4948555"/>
          </a:xfrm>
        </p:spPr>
        <p:txBody>
          <a:bodyPr/>
          <a:p>
            <a:pPr algn="just">
              <a:lnSpc>
                <a:spcPct val="150000"/>
              </a:lnSpc>
            </a:pPr>
            <a:r>
              <a:rPr lang="en-US" altLang="en-US" sz="2400" b="1"/>
              <a:t>Android Platform:</a:t>
            </a:r>
            <a:r>
              <a:rPr lang="en-US" altLang="en-US" sz="2400"/>
              <a:t> Android is an open-source mobile operating system developed by Google. It runs on a Linux-based kernel and uses a sandboxed application model for security.</a:t>
            </a:r>
            <a:endParaRPr lang="en-US" altLang="en-US" sz="2400"/>
          </a:p>
          <a:p>
            <a:pPr algn="just">
              <a:lnSpc>
                <a:spcPct val="150000"/>
              </a:lnSpc>
            </a:pPr>
            <a:r>
              <a:rPr lang="en-US" altLang="en-US" sz="2400" b="1"/>
              <a:t>iOS Platform:</a:t>
            </a:r>
            <a:r>
              <a:rPr lang="en-US" altLang="en-US" sz="2400"/>
              <a:t> iOS is Apple's mobile operating system, known for its strong security model and controlled ecosystem.</a:t>
            </a:r>
            <a:endParaRPr lang="en-US" altLang="en-US" sz="2400"/>
          </a:p>
          <a:p>
            <a:pPr algn="just">
              <a:lnSpc>
                <a:spcPct val="150000"/>
              </a:lnSpc>
            </a:pPr>
            <a:r>
              <a:rPr lang="en-US" altLang="en-US" sz="2400"/>
              <a:t> </a:t>
            </a:r>
            <a:r>
              <a:rPr lang="en-US" altLang="en-US" sz="2400" b="1"/>
              <a:t>Cross-Platform Applications: </a:t>
            </a:r>
            <a:r>
              <a:rPr lang="en-US" altLang="en-US" sz="2400"/>
              <a:t>Cross-platform frameworks enable developers to write a single codebase that runs on both Android and iOS</a:t>
            </a:r>
            <a:endParaRPr lang="en-US" altLang="en-US" sz="24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635000"/>
          </a:xfrm>
        </p:spPr>
        <p:txBody>
          <a:bodyPr>
            <a:normAutofit fontScale="90000"/>
          </a:bodyPr>
          <a:p>
            <a:r>
              <a:rPr lang="en-US" altLang="en-US"/>
              <a:t>Android Platform Overview</a:t>
            </a:r>
            <a:endParaRPr lang="en-US" altLang="en-US"/>
          </a:p>
        </p:txBody>
      </p:sp>
      <p:sp>
        <p:nvSpPr>
          <p:cNvPr id="3" name="Content Placeholder 2"/>
          <p:cNvSpPr>
            <a:spLocks noGrp="1"/>
          </p:cNvSpPr>
          <p:nvPr>
            <p:ph idx="1"/>
          </p:nvPr>
        </p:nvSpPr>
        <p:spPr>
          <a:xfrm>
            <a:off x="838200" y="929005"/>
            <a:ext cx="10515600" cy="5248275"/>
          </a:xfrm>
        </p:spPr>
        <p:txBody>
          <a:bodyPr/>
          <a:p>
            <a:r>
              <a:rPr lang="en-US" altLang="en-US" sz="2400" b="1"/>
              <a:t>Android architecture: </a:t>
            </a:r>
            <a:r>
              <a:rPr lang="en-US" altLang="en-US" sz="2400">
                <a:latin typeface="Times New Roman" panose="02020603050405020304" charset="0"/>
                <a:cs typeface="Times New Roman" panose="02020603050405020304" charset="0"/>
              </a:rPr>
              <a:t>Android's software stack is composed of several different layers. Each layer defines interfaces and offers specific services.</a:t>
            </a:r>
            <a:endParaRPr lang="en-US" altLang="en-US" sz="2400">
              <a:latin typeface="Times New Roman" panose="02020603050405020304" charset="0"/>
              <a:cs typeface="Times New Roman" panose="02020603050405020304" charset="0"/>
            </a:endParaRPr>
          </a:p>
          <a:p>
            <a:endParaRPr lang="en-US" altLang="en-US" sz="2400">
              <a:latin typeface="Times New Roman" panose="02020603050405020304" charset="0"/>
              <a:cs typeface="Times New Roman" panose="02020603050405020304" charset="0"/>
            </a:endParaRPr>
          </a:p>
        </p:txBody>
      </p:sp>
      <p:pic>
        <p:nvPicPr>
          <p:cNvPr id="4" name="Picture 3"/>
          <p:cNvPicPr/>
          <p:nvPr/>
        </p:nvPicPr>
        <p:blipFill>
          <a:blip r:embed="rId1"/>
          <a:stretch>
            <a:fillRect/>
          </a:stretch>
        </p:blipFill>
        <p:spPr>
          <a:xfrm>
            <a:off x="934085" y="1675130"/>
            <a:ext cx="9506585" cy="499237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481330"/>
          </a:xfrm>
        </p:spPr>
        <p:txBody>
          <a:bodyPr>
            <a:normAutofit fontScale="90000"/>
          </a:bodyPr>
          <a:p>
            <a:r>
              <a:rPr lang="en-US" altLang="en-US" b="1">
                <a:sym typeface="+mn-ea"/>
              </a:rPr>
              <a:t>Android architecture contd...</a:t>
            </a:r>
            <a:endParaRPr lang="en-US"/>
          </a:p>
        </p:txBody>
      </p:sp>
      <p:sp>
        <p:nvSpPr>
          <p:cNvPr id="3" name="Content Placeholder 2"/>
          <p:cNvSpPr>
            <a:spLocks noGrp="1"/>
          </p:cNvSpPr>
          <p:nvPr>
            <p:ph idx="1"/>
          </p:nvPr>
        </p:nvSpPr>
        <p:spPr>
          <a:xfrm>
            <a:off x="838200" y="846455"/>
            <a:ext cx="10515600" cy="5330825"/>
          </a:xfrm>
        </p:spPr>
        <p:txBody>
          <a:bodyPr/>
          <a:p>
            <a:pPr algn="just">
              <a:lnSpc>
                <a:spcPct val="150000"/>
              </a:lnSpc>
            </a:pPr>
            <a:r>
              <a:rPr lang="en-US" altLang="en-US" sz="2400" b="1">
                <a:latin typeface="Times New Roman" panose="02020603050405020304" charset="0"/>
                <a:cs typeface="Times New Roman" panose="02020603050405020304" charset="0"/>
              </a:rPr>
              <a:t>Linux Kernel:</a:t>
            </a:r>
            <a:r>
              <a:rPr lang="en-US" altLang="en-US" sz="2400">
                <a:latin typeface="Times New Roman" panose="02020603050405020304" charset="0"/>
                <a:cs typeface="Times New Roman" panose="02020603050405020304" charset="0"/>
              </a:rPr>
              <a:t> At the lowest level, Android is based on a variation of the Linux Kernel  containing some significant additions, including Low Memory Killer  wake locks, the Binder IPC.</a:t>
            </a:r>
            <a:endParaRPr lang="en-US" altLang="en-US" sz="2400">
              <a:latin typeface="Times New Roman" panose="02020603050405020304" charset="0"/>
              <a:cs typeface="Times New Roman" panose="02020603050405020304" charset="0"/>
            </a:endParaRPr>
          </a:p>
          <a:p>
            <a:pPr algn="just">
              <a:lnSpc>
                <a:spcPct val="150000"/>
              </a:lnSpc>
            </a:pPr>
            <a:r>
              <a:rPr lang="en-US" altLang="en-US" sz="2400" b="1">
                <a:latin typeface="Times New Roman" panose="02020603050405020304" charset="0"/>
                <a:cs typeface="Times New Roman" panose="02020603050405020304" charset="0"/>
              </a:rPr>
              <a:t>HAL:</a:t>
            </a:r>
            <a:r>
              <a:rPr lang="en-US" altLang="en-US" sz="2400">
                <a:latin typeface="Times New Roman" panose="02020603050405020304" charset="0"/>
                <a:cs typeface="Times New Roman" panose="02020603050405020304" charset="0"/>
              </a:rPr>
              <a:t> On top of the kernel, the Hardware Abstraction Layer (HAL) defines a standard interface for interacting with built-in hardware components.</a:t>
            </a:r>
            <a:endParaRPr lang="en-US" altLang="en-US" sz="2400">
              <a:latin typeface="Times New Roman" panose="02020603050405020304" charset="0"/>
              <a:cs typeface="Times New Roman" panose="02020603050405020304" charset="0"/>
            </a:endParaRPr>
          </a:p>
          <a:p>
            <a:pPr algn="just">
              <a:lnSpc>
                <a:spcPct val="150000"/>
              </a:lnSpc>
            </a:pPr>
            <a:r>
              <a:rPr lang="en-US" altLang="en-US" sz="2400" b="1">
                <a:latin typeface="Times New Roman" panose="02020603050405020304" charset="0"/>
                <a:cs typeface="Times New Roman" panose="02020603050405020304" charset="0"/>
              </a:rPr>
              <a:t>Runtime Environment:</a:t>
            </a:r>
            <a:r>
              <a:rPr lang="en-US" altLang="en-US" sz="2400">
                <a:latin typeface="Times New Roman" panose="02020603050405020304" charset="0"/>
                <a:cs typeface="Times New Roman" panose="02020603050405020304" charset="0"/>
              </a:rPr>
              <a:t> Android apps are written in Java and Kotlin and then compiled to Dalvik bytecode ↗ which can be then executed using a runtime that interprets the bytecode instructions and executes them on the target device.</a:t>
            </a:r>
            <a:endParaRPr lang="en-US" altLang="en-US" sz="2400">
              <a:latin typeface="Times New Roman" panose="02020603050405020304" charset="0"/>
              <a:cs typeface="Times New Roman" panose="020206030504050203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538480"/>
          </a:xfrm>
        </p:spPr>
        <p:txBody>
          <a:bodyPr>
            <a:normAutofit fontScale="90000"/>
          </a:bodyPr>
          <a:p>
            <a:r>
              <a:rPr lang="en-US" altLang="en-US" b="1">
                <a:sym typeface="+mn-ea"/>
              </a:rPr>
              <a:t>Android architecture contd...</a:t>
            </a:r>
            <a:endParaRPr lang="en-US"/>
          </a:p>
        </p:txBody>
      </p:sp>
      <p:sp>
        <p:nvSpPr>
          <p:cNvPr id="3" name="Content Placeholder 2"/>
          <p:cNvSpPr>
            <a:spLocks noGrp="1"/>
          </p:cNvSpPr>
          <p:nvPr>
            <p:ph idx="1"/>
          </p:nvPr>
        </p:nvSpPr>
        <p:spPr>
          <a:xfrm>
            <a:off x="838200" y="903605"/>
            <a:ext cx="10515600" cy="5273675"/>
          </a:xfrm>
        </p:spPr>
        <p:txBody>
          <a:bodyPr/>
          <a:p>
            <a:pPr algn="just">
              <a:lnSpc>
                <a:spcPct val="150000"/>
              </a:lnSpc>
            </a:pPr>
            <a:r>
              <a:rPr lang="en-US" altLang="en-US" sz="2400" b="1">
                <a:latin typeface="Times New Roman" panose="02020603050405020304" charset="0"/>
                <a:cs typeface="Times New Roman" panose="02020603050405020304" charset="0"/>
              </a:rPr>
              <a:t>Android Runtime (ART) :</a:t>
            </a:r>
            <a:r>
              <a:rPr lang="en-US" altLang="en-US" sz="2400">
                <a:latin typeface="Times New Roman" panose="02020603050405020304" charset="0"/>
                <a:cs typeface="Times New Roman" panose="02020603050405020304" charset="0"/>
              </a:rPr>
              <a:t> The execution environment for Android applications.</a:t>
            </a:r>
            <a:endParaRPr lang="en-US" altLang="en-US" sz="2400">
              <a:latin typeface="Times New Roman" panose="02020603050405020304" charset="0"/>
              <a:cs typeface="Times New Roman" panose="02020603050405020304" charset="0"/>
            </a:endParaRPr>
          </a:p>
          <a:p>
            <a:pPr algn="just">
              <a:lnSpc>
                <a:spcPct val="150000"/>
              </a:lnSpc>
            </a:pPr>
            <a:r>
              <a:rPr lang="en-US" altLang="en-US" sz="2400">
                <a:latin typeface="Times New Roman" panose="02020603050405020304" charset="0"/>
                <a:cs typeface="Times New Roman" panose="02020603050405020304" charset="0"/>
              </a:rPr>
              <a:t>Android Runtime  Replaces the older Dalvik Virtual Machine, optimized for better performance.</a:t>
            </a:r>
            <a:endParaRPr lang="en-US" altLang="en-US" sz="2400">
              <a:latin typeface="Times New Roman" panose="02020603050405020304" charset="0"/>
              <a:cs typeface="Times New Roman" panose="02020603050405020304" charset="0"/>
            </a:endParaRPr>
          </a:p>
          <a:p>
            <a:pPr algn="just">
              <a:lnSpc>
                <a:spcPct val="150000"/>
              </a:lnSpc>
            </a:pPr>
            <a:r>
              <a:rPr lang="en-US" altLang="en-US" sz="2400">
                <a:latin typeface="Times New Roman" panose="02020603050405020304" charset="0"/>
                <a:cs typeface="Times New Roman" panose="02020603050405020304" charset="0"/>
              </a:rPr>
              <a:t>Core Libraries: Provides fundamental Java libraries for application development.</a:t>
            </a:r>
            <a:endParaRPr lang="en-US" altLang="en-US" sz="2400">
              <a:latin typeface="Times New Roman" panose="02020603050405020304" charset="0"/>
              <a:cs typeface="Times New Roman" panose="02020603050405020304" charset="0"/>
            </a:endParaRPr>
          </a:p>
          <a:p>
            <a:pPr algn="just">
              <a:lnSpc>
                <a:spcPct val="150000"/>
              </a:lnSpc>
            </a:pPr>
            <a:r>
              <a:rPr lang="en-US" altLang="en-US" sz="2400" b="1">
                <a:latin typeface="Times New Roman" panose="02020603050405020304" charset="0"/>
                <a:cs typeface="Times New Roman" panose="02020603050405020304" charset="0"/>
              </a:rPr>
              <a:t>Java API Framework:</a:t>
            </a:r>
            <a:r>
              <a:rPr lang="en-US" altLang="en-US" sz="2400">
                <a:latin typeface="Times New Roman" panose="02020603050405020304" charset="0"/>
                <a:cs typeface="Times New Roman" panose="02020603050405020304" charset="0"/>
              </a:rPr>
              <a:t> Provides APIs for application development and system interactions.</a:t>
            </a:r>
            <a:endParaRPr lang="en-US" altLang="en-US" sz="2400">
              <a:latin typeface="Times New Roman" panose="02020603050405020304" charset="0"/>
              <a:cs typeface="Times New Roman" panose="02020603050405020304" charset="0"/>
            </a:endParaRPr>
          </a:p>
          <a:p>
            <a:pPr algn="just">
              <a:lnSpc>
                <a:spcPct val="150000"/>
              </a:lnSpc>
            </a:pPr>
            <a:r>
              <a:rPr lang="en-US" altLang="en-US" sz="2400">
                <a:latin typeface="Times New Roman" panose="02020603050405020304" charset="0"/>
                <a:cs typeface="Times New Roman" panose="02020603050405020304" charset="0"/>
              </a:rPr>
              <a:t> </a:t>
            </a:r>
            <a:r>
              <a:rPr lang="en-US" altLang="en-US" sz="2400" b="1">
                <a:latin typeface="Times New Roman" panose="02020603050405020304" charset="0"/>
                <a:cs typeface="Times New Roman" panose="02020603050405020304" charset="0"/>
              </a:rPr>
              <a:t>System Apps:</a:t>
            </a:r>
            <a:r>
              <a:rPr lang="en-US" altLang="en-US" sz="2400">
                <a:latin typeface="Times New Roman" panose="02020603050405020304" charset="0"/>
                <a:cs typeface="Times New Roman" panose="02020603050405020304" charset="0"/>
              </a:rPr>
              <a:t> Pre-installed apps that provide essential functionalities such as Dialer, Email, Calendar, Camera, etc ... Core applications for user interaction.</a:t>
            </a:r>
            <a:endParaRPr lang="en-US" altLang="en-US" sz="2400">
              <a:latin typeface="Times New Roman" panose="02020603050405020304" charset="0"/>
              <a:cs typeface="Times New Roman" panose="0202060305040502030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520700"/>
          </a:xfrm>
        </p:spPr>
        <p:txBody>
          <a:bodyPr>
            <a:normAutofit fontScale="90000"/>
          </a:bodyPr>
          <a:p>
            <a:r>
              <a:rPr lang="en-US"/>
              <a:t>Mobile application components</a:t>
            </a:r>
            <a:endParaRPr lang="en-US"/>
          </a:p>
        </p:txBody>
      </p:sp>
      <p:sp>
        <p:nvSpPr>
          <p:cNvPr id="3" name="Content Placeholder 2"/>
          <p:cNvSpPr>
            <a:spLocks noGrp="1"/>
          </p:cNvSpPr>
          <p:nvPr>
            <p:ph idx="1"/>
          </p:nvPr>
        </p:nvSpPr>
        <p:spPr>
          <a:xfrm>
            <a:off x="838200" y="886460"/>
            <a:ext cx="10515600" cy="5290820"/>
          </a:xfrm>
        </p:spPr>
        <p:txBody>
          <a:bodyPr/>
          <a:p>
            <a:pPr marL="0" indent="0">
              <a:buNone/>
            </a:pPr>
            <a:r>
              <a:rPr lang="en-US" altLang="en-US" sz="2400"/>
              <a:t>Android apps are made of several high-level components. The main components are:</a:t>
            </a:r>
            <a:endParaRPr lang="en-US" altLang="en-US" sz="2400"/>
          </a:p>
          <a:p>
            <a:pPr>
              <a:buFont typeface="Wingdings" panose="05000000000000000000" charset="0"/>
              <a:buChar char="ü"/>
            </a:pPr>
            <a:r>
              <a:rPr lang="en-US" altLang="en-US" sz="2400"/>
              <a:t> Activities</a:t>
            </a:r>
            <a:endParaRPr lang="en-US" altLang="en-US" sz="2400"/>
          </a:p>
          <a:p>
            <a:pPr>
              <a:buFont typeface="Wingdings" panose="05000000000000000000" charset="0"/>
              <a:buChar char="ü"/>
            </a:pPr>
            <a:r>
              <a:rPr lang="en-US" altLang="en-US" sz="2400"/>
              <a:t> services</a:t>
            </a:r>
            <a:endParaRPr lang="en-US" altLang="en-US" sz="2400"/>
          </a:p>
          <a:p>
            <a:pPr>
              <a:buFont typeface="Wingdings" panose="05000000000000000000" charset="0"/>
              <a:buChar char="ü"/>
            </a:pPr>
            <a:r>
              <a:rPr lang="en-US" altLang="en-US" sz="2400"/>
              <a:t> Broadcast receivers</a:t>
            </a:r>
            <a:endParaRPr lang="en-US" altLang="en-US" sz="2400"/>
          </a:p>
          <a:p>
            <a:pPr>
              <a:buFont typeface="Wingdings" panose="05000000000000000000" charset="0"/>
              <a:buChar char="ü"/>
            </a:pPr>
            <a:r>
              <a:rPr lang="en-US" altLang="en-US" sz="2400"/>
              <a:t> Content providers </a:t>
            </a:r>
            <a:endParaRPr lang="en-US" altLang="en-US" sz="2400"/>
          </a:p>
          <a:p>
            <a:pPr>
              <a:buFont typeface="Wingdings" panose="05000000000000000000" charset="0"/>
              <a:buChar char="ü"/>
            </a:pPr>
            <a:r>
              <a:rPr lang="en-US" altLang="en-US" sz="2400"/>
              <a:t> </a:t>
            </a:r>
            <a:r>
              <a:rPr lang="en-US" altLang="en-US" sz="2400">
                <a:sym typeface="+mn-ea"/>
              </a:rPr>
              <a:t>Intents(explicit and implicit)</a:t>
            </a:r>
            <a:endParaRPr lang="en-US" altLang="en-US" sz="2400"/>
          </a:p>
          <a:p>
            <a:endParaRPr lang="en-US" altLang="en-US" sz="2400"/>
          </a:p>
          <a:p>
            <a:endParaRPr lang="en-US" altLang="en-US" sz="24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767080"/>
          </a:xfrm>
        </p:spPr>
        <p:txBody>
          <a:bodyPr>
            <a:normAutofit/>
          </a:bodyPr>
          <a:p>
            <a:r>
              <a:rPr lang="en-US" altLang="en-US"/>
              <a:t>APK Structure</a:t>
            </a:r>
            <a:endParaRPr lang="en-US" altLang="en-US"/>
          </a:p>
        </p:txBody>
      </p:sp>
      <p:sp>
        <p:nvSpPr>
          <p:cNvPr id="3" name="Content Placeholder 2"/>
          <p:cNvSpPr>
            <a:spLocks noGrp="1"/>
          </p:cNvSpPr>
          <p:nvPr>
            <p:ph idx="1"/>
          </p:nvPr>
        </p:nvSpPr>
        <p:spPr>
          <a:xfrm>
            <a:off x="838200" y="1132205"/>
            <a:ext cx="10515600" cy="5518150"/>
          </a:xfrm>
        </p:spPr>
        <p:txBody>
          <a:bodyPr>
            <a:noAutofit/>
          </a:bodyPr>
          <a:p>
            <a:pPr marL="0" indent="0">
              <a:buNone/>
            </a:pPr>
            <a:endParaRPr lang="en-US" altLang="en-US" sz="1700"/>
          </a:p>
          <a:p>
            <a:pPr algn="just">
              <a:lnSpc>
                <a:spcPct val="100000"/>
              </a:lnSpc>
            </a:pPr>
            <a:r>
              <a:rPr lang="en-US" altLang="en-US" sz="1700" b="1"/>
              <a:t>  </a:t>
            </a:r>
            <a:r>
              <a:rPr lang="en-US" altLang="en-US" sz="2400" b="1"/>
              <a:t> </a:t>
            </a:r>
            <a:r>
              <a:rPr lang="en-US" altLang="en-US" sz="2400" b="1">
                <a:latin typeface="Times New Roman" panose="02020603050405020304" charset="0"/>
                <a:cs typeface="Times New Roman" panose="02020603050405020304" charset="0"/>
              </a:rPr>
              <a:t> META-INF  </a:t>
            </a:r>
            <a:r>
              <a:rPr lang="en-US" altLang="en-US" sz="2400">
                <a:latin typeface="Times New Roman" panose="02020603050405020304" charset="0"/>
                <a:cs typeface="Times New Roman" panose="02020603050405020304" charset="0"/>
              </a:rPr>
              <a:t>  &lt;-- Contains metadata about the APK (like signature and certificate).</a:t>
            </a:r>
            <a:endParaRPr lang="en-US" altLang="en-US" sz="2400">
              <a:latin typeface="Times New Roman" panose="02020603050405020304" charset="0"/>
              <a:cs typeface="Times New Roman" panose="02020603050405020304" charset="0"/>
            </a:endParaRPr>
          </a:p>
          <a:p>
            <a:pPr algn="just">
              <a:lnSpc>
                <a:spcPct val="100000"/>
              </a:lnSpc>
            </a:pPr>
            <a:r>
              <a:rPr lang="en-US" altLang="en-US" sz="2400" b="1">
                <a:latin typeface="Times New Roman" panose="02020603050405020304" charset="0"/>
                <a:cs typeface="Times New Roman" panose="02020603050405020304" charset="0"/>
              </a:rPr>
              <a:t>    AndroidManifest.xml</a:t>
            </a:r>
            <a:r>
              <a:rPr lang="en-US" altLang="en-US" sz="2400">
                <a:latin typeface="Times New Roman" panose="02020603050405020304" charset="0"/>
                <a:cs typeface="Times New Roman" panose="02020603050405020304" charset="0"/>
              </a:rPr>
              <a:t>  |  &lt;-- Describes the structure, components, and permissions of the app.</a:t>
            </a:r>
            <a:endParaRPr lang="en-US" altLang="en-US" sz="2400">
              <a:latin typeface="Times New Roman" panose="02020603050405020304" charset="0"/>
              <a:cs typeface="Times New Roman" panose="02020603050405020304" charset="0"/>
            </a:endParaRPr>
          </a:p>
          <a:p>
            <a:pPr algn="just">
              <a:lnSpc>
                <a:spcPct val="100000"/>
              </a:lnSpc>
            </a:pPr>
            <a:r>
              <a:rPr lang="en-US" altLang="en-US" sz="2400" b="1">
                <a:latin typeface="Times New Roman" panose="02020603050405020304" charset="0"/>
                <a:cs typeface="Times New Roman" panose="02020603050405020304" charset="0"/>
              </a:rPr>
              <a:t>  res/    </a:t>
            </a:r>
            <a:r>
              <a:rPr lang="en-US" altLang="en-US" sz="2400">
                <a:latin typeface="Times New Roman" panose="02020603050405020304" charset="0"/>
                <a:cs typeface="Times New Roman" panose="02020603050405020304" charset="0"/>
              </a:rPr>
              <a:t> &lt;-- Contains resources such as images, layouts, and strings.</a:t>
            </a:r>
            <a:endParaRPr lang="en-US" altLang="en-US" sz="2400">
              <a:latin typeface="Times New Roman" panose="02020603050405020304" charset="0"/>
              <a:cs typeface="Times New Roman" panose="02020603050405020304" charset="0"/>
            </a:endParaRPr>
          </a:p>
          <a:p>
            <a:pPr algn="just">
              <a:lnSpc>
                <a:spcPct val="100000"/>
              </a:lnSpc>
            </a:pPr>
            <a:r>
              <a:rPr lang="en-US" altLang="en-US" sz="2400" b="1">
                <a:latin typeface="Times New Roman" panose="02020603050405020304" charset="0"/>
                <a:cs typeface="Times New Roman" panose="02020603050405020304" charset="0"/>
              </a:rPr>
              <a:t> assets/ </a:t>
            </a:r>
            <a:r>
              <a:rPr lang="en-US" altLang="en-US" sz="2400">
                <a:latin typeface="Times New Roman" panose="02020603050405020304" charset="0"/>
                <a:cs typeface="Times New Roman" panose="02020603050405020304" charset="0"/>
              </a:rPr>
              <a:t>   &lt;-- Contains raw assets bundled with the APK (e.g., fonts, databases).</a:t>
            </a:r>
            <a:endParaRPr lang="en-US" altLang="en-US" sz="2400">
              <a:latin typeface="Times New Roman" panose="02020603050405020304" charset="0"/>
              <a:cs typeface="Times New Roman" panose="02020603050405020304" charset="0"/>
            </a:endParaRPr>
          </a:p>
          <a:p>
            <a:pPr algn="just">
              <a:lnSpc>
                <a:spcPct val="100000"/>
              </a:lnSpc>
            </a:pPr>
            <a:r>
              <a:rPr lang="en-US" altLang="en-US" sz="2400" b="1">
                <a:latin typeface="Times New Roman" panose="02020603050405020304" charset="0"/>
                <a:cs typeface="Times New Roman" panose="02020603050405020304" charset="0"/>
              </a:rPr>
              <a:t> lib/ </a:t>
            </a:r>
            <a:r>
              <a:rPr lang="en-US" altLang="en-US" sz="2400">
                <a:latin typeface="Times New Roman" panose="02020603050405020304" charset="0"/>
                <a:cs typeface="Times New Roman" panose="02020603050405020304" charset="0"/>
              </a:rPr>
              <a:t> &lt;-- Contains native libraries (e.g., .so files) used by the app.</a:t>
            </a:r>
            <a:endParaRPr lang="en-US" altLang="en-US" sz="2400">
              <a:latin typeface="Times New Roman" panose="02020603050405020304" charset="0"/>
              <a:cs typeface="Times New Roman" panose="02020603050405020304" charset="0"/>
            </a:endParaRPr>
          </a:p>
          <a:p>
            <a:pPr algn="just">
              <a:lnSpc>
                <a:spcPct val="100000"/>
              </a:lnSpc>
            </a:pPr>
            <a:r>
              <a:rPr lang="en-US" altLang="en-US" sz="2400" b="1">
                <a:latin typeface="Times New Roman" panose="02020603050405020304" charset="0"/>
                <a:cs typeface="Times New Roman" panose="02020603050405020304" charset="0"/>
              </a:rPr>
              <a:t>classes.dex </a:t>
            </a:r>
            <a:r>
              <a:rPr lang="en-US" altLang="en-US" sz="2400">
                <a:latin typeface="Times New Roman" panose="02020603050405020304" charset="0"/>
                <a:cs typeface="Times New Roman" panose="02020603050405020304" charset="0"/>
              </a:rPr>
              <a:t> |  &lt;-- Contains the compiled bytecode (DEX) of the app.</a:t>
            </a:r>
            <a:endParaRPr lang="en-US" altLang="en-US" sz="2400">
              <a:latin typeface="Times New Roman" panose="02020603050405020304" charset="0"/>
              <a:cs typeface="Times New Roman" panose="02020603050405020304" charset="0"/>
            </a:endParaRPr>
          </a:p>
          <a:p>
            <a:pPr algn="just">
              <a:lnSpc>
                <a:spcPct val="100000"/>
              </a:lnSpc>
            </a:pPr>
            <a:r>
              <a:rPr lang="en-US" altLang="en-US" sz="2400" b="1">
                <a:latin typeface="Times New Roman" panose="02020603050405020304" charset="0"/>
                <a:cs typeface="Times New Roman" panose="02020603050405020304" charset="0"/>
              </a:rPr>
              <a:t> resources.arsc </a:t>
            </a:r>
            <a:r>
              <a:rPr lang="en-US" altLang="en-US" sz="2400">
                <a:latin typeface="Times New Roman" panose="02020603050405020304" charset="0"/>
                <a:cs typeface="Times New Roman" panose="02020603050405020304" charset="0"/>
              </a:rPr>
              <a:t>   |  &lt;-- Contains precompiled resources for quicker access during runtime</a:t>
            </a:r>
            <a:endParaRPr lang="en-US" altLang="en-US" sz="2400">
              <a:latin typeface="Times New Roman" panose="02020603050405020304" charset="0"/>
              <a:cs typeface="Times New Roman" panose="0202060305040502030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742950"/>
          </a:xfrm>
        </p:spPr>
        <p:txBody>
          <a:bodyPr>
            <a:normAutofit/>
          </a:bodyPr>
          <a:p>
            <a:pPr algn="ctr"/>
            <a:r>
              <a:rPr lang="en-US" altLang="en-US">
                <a:latin typeface="Times New Roman" panose="02020603050405020304" charset="0"/>
                <a:cs typeface="Times New Roman" panose="02020603050405020304" charset="0"/>
              </a:rPr>
              <a:t>APK signing schemes</a:t>
            </a:r>
            <a:endParaRPr lang="en-US" altLang="en-US">
              <a:latin typeface="Times New Roman" panose="02020603050405020304" charset="0"/>
              <a:cs typeface="Times New Roman" panose="02020603050405020304" charset="0"/>
            </a:endParaRPr>
          </a:p>
        </p:txBody>
      </p:sp>
      <p:pic>
        <p:nvPicPr>
          <p:cNvPr id="6" name="Content Placeholder 5"/>
          <p:cNvPicPr>
            <a:picLocks noChangeAspect="1"/>
          </p:cNvPicPr>
          <p:nvPr>
            <p:ph idx="1"/>
          </p:nvPr>
        </p:nvPicPr>
        <p:blipFill>
          <a:blip r:embed="rId1"/>
          <a:stretch>
            <a:fillRect/>
          </a:stretch>
        </p:blipFill>
        <p:spPr>
          <a:xfrm>
            <a:off x="1353820" y="1173480"/>
            <a:ext cx="8823325" cy="519684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685165"/>
          </a:xfrm>
        </p:spPr>
        <p:txBody>
          <a:bodyPr>
            <a:normAutofit fontScale="90000"/>
          </a:bodyPr>
          <a:p>
            <a:r>
              <a:rPr lang="en-US"/>
              <a:t>Sandboxing and permissions</a:t>
            </a:r>
            <a:endParaRPr lang="en-US"/>
          </a:p>
        </p:txBody>
      </p:sp>
      <p:sp>
        <p:nvSpPr>
          <p:cNvPr id="3" name="Content Placeholder 2"/>
          <p:cNvSpPr>
            <a:spLocks noGrp="1"/>
          </p:cNvSpPr>
          <p:nvPr>
            <p:ph idx="1"/>
          </p:nvPr>
        </p:nvSpPr>
        <p:spPr>
          <a:xfrm>
            <a:off x="838200" y="999490"/>
            <a:ext cx="10515600" cy="5348605"/>
          </a:xfrm>
        </p:spPr>
        <p:txBody>
          <a:bodyPr>
            <a:normAutofit lnSpcReduction="10000"/>
          </a:bodyPr>
          <a:p>
            <a:pPr algn="just">
              <a:lnSpc>
                <a:spcPct val="150000"/>
              </a:lnSpc>
            </a:pPr>
            <a:r>
              <a:rPr lang="en-US" sz="2400" b="1">
                <a:latin typeface="Times New Roman" panose="02020603050405020304" charset="0"/>
                <a:cs typeface="Times New Roman" panose="02020603050405020304" charset="0"/>
              </a:rPr>
              <a:t>Application Sandboxing:</a:t>
            </a:r>
            <a:r>
              <a:rPr lang="en-US" altLang="en-US" sz="2400">
                <a:latin typeface="Times New Roman" panose="02020603050405020304" charset="0"/>
                <a:cs typeface="Times New Roman" panose="02020603050405020304" charset="0"/>
              </a:rPr>
              <a:t> isolation of apps from each other and the OS using the Linux user ID (</a:t>
            </a:r>
            <a:r>
              <a:rPr lang="en-US" altLang="en-US" sz="2400" b="1">
                <a:latin typeface="Times New Roman" panose="02020603050405020304" charset="0"/>
                <a:cs typeface="Times New Roman" panose="02020603050405020304" charset="0"/>
              </a:rPr>
              <a:t>UID</a:t>
            </a:r>
            <a:r>
              <a:rPr lang="en-US" altLang="en-US" sz="2400">
                <a:latin typeface="Times New Roman" panose="02020603050405020304" charset="0"/>
                <a:cs typeface="Times New Roman" panose="02020603050405020304" charset="0"/>
              </a:rPr>
              <a:t>) and </a:t>
            </a:r>
            <a:r>
              <a:rPr lang="en-US" altLang="en-US" sz="2400" b="1">
                <a:latin typeface="Times New Roman" panose="02020603050405020304" charset="0"/>
                <a:cs typeface="Times New Roman" panose="02020603050405020304" charset="0"/>
              </a:rPr>
              <a:t>filesystem permissions</a:t>
            </a:r>
            <a:r>
              <a:rPr lang="en-US" altLang="en-US" sz="2400">
                <a:latin typeface="Times New Roman" panose="02020603050405020304" charset="0"/>
                <a:cs typeface="Times New Roman" panose="02020603050405020304" charset="0"/>
              </a:rPr>
              <a:t>. Each app runs in its own sandboxed(isolated) environment.</a:t>
            </a:r>
            <a:endParaRPr lang="en-US" altLang="en-US" sz="2400">
              <a:latin typeface="Times New Roman" panose="02020603050405020304" charset="0"/>
              <a:cs typeface="Times New Roman" panose="02020603050405020304" charset="0"/>
            </a:endParaRPr>
          </a:p>
          <a:p>
            <a:pPr algn="just">
              <a:lnSpc>
                <a:spcPct val="150000"/>
              </a:lnSpc>
            </a:pPr>
            <a:r>
              <a:rPr lang="en-US" altLang="en-US" sz="2400" b="1">
                <a:latin typeface="Times New Roman" panose="02020603050405020304" charset="0"/>
                <a:cs typeface="Times New Roman" panose="02020603050405020304" charset="0"/>
              </a:rPr>
              <a:t>UID:</a:t>
            </a:r>
            <a:r>
              <a:rPr lang="en-US" altLang="en-US" sz="2400">
                <a:latin typeface="Times New Roman" panose="02020603050405020304" charset="0"/>
                <a:cs typeface="Times New Roman" panose="02020603050405020304" charset="0"/>
              </a:rPr>
              <a:t> Each Android app is assigned a unique UID (User ID) when installed. This UID is used to distinguish each app's data and resources</a:t>
            </a:r>
            <a:endParaRPr lang="en-US" altLang="en-US" sz="2400">
              <a:latin typeface="Times New Roman" panose="02020603050405020304" charset="0"/>
              <a:cs typeface="Times New Roman" panose="02020603050405020304" charset="0"/>
            </a:endParaRPr>
          </a:p>
          <a:p>
            <a:pPr algn="just">
              <a:lnSpc>
                <a:spcPct val="150000"/>
              </a:lnSpc>
            </a:pPr>
            <a:r>
              <a:rPr lang="en-US" altLang="en-US" sz="2400">
                <a:latin typeface="Times New Roman" panose="02020603050405020304" charset="0"/>
                <a:cs typeface="Times New Roman" panose="02020603050405020304" charset="0"/>
              </a:rPr>
              <a:t> SELinux: enforces mandtory access control policies at runtime.</a:t>
            </a:r>
            <a:endParaRPr lang="en-US" altLang="en-US" sz="2400">
              <a:latin typeface="Times New Roman" panose="02020603050405020304" charset="0"/>
              <a:cs typeface="Times New Roman" panose="02020603050405020304" charset="0"/>
            </a:endParaRPr>
          </a:p>
          <a:p>
            <a:pPr algn="just">
              <a:lnSpc>
                <a:spcPct val="150000"/>
              </a:lnSpc>
            </a:pPr>
            <a:r>
              <a:rPr lang="en-US" altLang="en-US" sz="2400" b="1">
                <a:latin typeface="Times New Roman" panose="02020603050405020304" charset="0"/>
                <a:cs typeface="Times New Roman" panose="02020603050405020304" charset="0"/>
              </a:rPr>
              <a:t>filesys isolation:</a:t>
            </a:r>
            <a:r>
              <a:rPr lang="en-US" altLang="en-US" sz="2400">
                <a:latin typeface="Times New Roman" panose="02020603050405020304" charset="0"/>
                <a:cs typeface="Times New Roman" panose="02020603050405020304" charset="0"/>
              </a:rPr>
              <a:t> app data is stored in data/data/package and only accessible to that app only.</a:t>
            </a:r>
            <a:endParaRPr lang="en-US" altLang="en-US" sz="2400">
              <a:latin typeface="Times New Roman" panose="02020603050405020304" charset="0"/>
              <a:cs typeface="Times New Roman" panose="02020603050405020304" charset="0"/>
            </a:endParaRPr>
          </a:p>
          <a:p>
            <a:pPr algn="just">
              <a:lnSpc>
                <a:spcPct val="150000"/>
              </a:lnSpc>
            </a:pPr>
            <a:r>
              <a:rPr lang="en-US" altLang="en-US" sz="2400" b="1">
                <a:latin typeface="Times New Roman" panose="02020603050405020304" charset="0"/>
                <a:cs typeface="Times New Roman" panose="02020603050405020304" charset="0"/>
              </a:rPr>
              <a:t>permissions:</a:t>
            </a:r>
            <a:r>
              <a:rPr lang="en-US" altLang="en-US" sz="2400">
                <a:latin typeface="Times New Roman" panose="02020603050405020304" charset="0"/>
                <a:cs typeface="Times New Roman" panose="02020603050405020304" charset="0"/>
              </a:rPr>
              <a:t> app must declare permissions to access other data or hardware.</a:t>
            </a:r>
            <a:endParaRPr lang="en-US" altLang="en-US" sz="2400">
              <a:latin typeface="Times New Roman" panose="02020603050405020304" charset="0"/>
              <a:cs typeface="Times New Roman" panose="0202060305040502030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779780"/>
          </a:xfrm>
        </p:spPr>
        <p:txBody>
          <a:bodyPr>
            <a:normAutofit/>
          </a:bodyPr>
          <a:p>
            <a:r>
              <a:rPr lang="en-US" altLang="en-US"/>
              <a:t>Permissions</a:t>
            </a:r>
            <a:endParaRPr lang="en-US" altLang="en-US"/>
          </a:p>
        </p:txBody>
      </p:sp>
      <p:sp>
        <p:nvSpPr>
          <p:cNvPr id="3" name="Content Placeholder 2"/>
          <p:cNvSpPr>
            <a:spLocks noGrp="1"/>
          </p:cNvSpPr>
          <p:nvPr>
            <p:ph idx="1"/>
          </p:nvPr>
        </p:nvSpPr>
        <p:spPr>
          <a:xfrm>
            <a:off x="838200" y="1145540"/>
            <a:ext cx="10515600" cy="5031740"/>
          </a:xfrm>
        </p:spPr>
        <p:txBody>
          <a:bodyPr/>
          <a:p>
            <a:pPr algn="just">
              <a:lnSpc>
                <a:spcPct val="150000"/>
              </a:lnSpc>
            </a:pPr>
            <a:r>
              <a:rPr lang="en-US" altLang="en-US" sz="2400">
                <a:latin typeface="Times New Roman" panose="02020603050405020304" charset="0"/>
                <a:cs typeface="Times New Roman" panose="02020603050405020304" charset="0"/>
              </a:rPr>
              <a:t>Because Android applications are sandboxed, they can access only their own files and any world-accessible resources on the device. Such a limited application wouldn’t be very interesting though, and Android can grant additional, fine-grained access rights to applications in order to allow for richer functionality</a:t>
            </a:r>
            <a:endParaRPr lang="en-US" altLang="en-US" sz="2400">
              <a:latin typeface="Times New Roman" panose="02020603050405020304" charset="0"/>
              <a:cs typeface="Times New Roman" panose="02020603050405020304" charset="0"/>
            </a:endParaRPr>
          </a:p>
          <a:p>
            <a:pPr algn="just">
              <a:lnSpc>
                <a:spcPct val="150000"/>
              </a:lnSpc>
            </a:pPr>
            <a:r>
              <a:rPr lang="en-US" altLang="en-US" sz="2400">
                <a:latin typeface="Times New Roman" panose="02020603050405020304" charset="0"/>
                <a:cs typeface="Times New Roman" panose="02020603050405020304" charset="0"/>
              </a:rPr>
              <a:t>Applications request permissions by adding one or more </a:t>
            </a:r>
            <a:r>
              <a:rPr lang="en-US" altLang="en-US" sz="2400" b="1">
                <a:latin typeface="Times New Roman" panose="02020603050405020304" charset="0"/>
                <a:cs typeface="Times New Roman" panose="02020603050405020304" charset="0"/>
              </a:rPr>
              <a:t>&lt;uses-permission&gt;</a:t>
            </a:r>
            <a:r>
              <a:rPr lang="en-US" altLang="en-US" sz="2400">
                <a:latin typeface="Times New Roman" panose="02020603050405020304" charset="0"/>
                <a:cs typeface="Times New Roman" panose="02020603050405020304" charset="0"/>
              </a:rPr>
              <a:t>tags to their </a:t>
            </a:r>
            <a:r>
              <a:rPr lang="en-US" altLang="en-US" sz="2400" b="1">
                <a:latin typeface="Times New Roman" panose="02020603050405020304" charset="0"/>
                <a:cs typeface="Times New Roman" panose="02020603050405020304" charset="0"/>
              </a:rPr>
              <a:t>AndroidManifest.xml</a:t>
            </a:r>
            <a:r>
              <a:rPr lang="en-US" altLang="en-US" sz="2400">
                <a:latin typeface="Times New Roman" panose="02020603050405020304" charset="0"/>
                <a:cs typeface="Times New Roman" panose="02020603050405020304" charset="0"/>
              </a:rPr>
              <a:t> file and can define new permissions with the &lt;</a:t>
            </a:r>
            <a:r>
              <a:rPr lang="en-US" altLang="en-US" sz="2400" b="1">
                <a:latin typeface="Times New Roman" panose="02020603050405020304" charset="0"/>
                <a:cs typeface="Times New Roman" panose="02020603050405020304" charset="0"/>
              </a:rPr>
              <a:t>permission&gt;</a:t>
            </a:r>
            <a:r>
              <a:rPr lang="en-US" altLang="en-US" sz="2400">
                <a:latin typeface="Times New Roman" panose="02020603050405020304" charset="0"/>
                <a:cs typeface="Times New Roman" panose="02020603050405020304" charset="0"/>
              </a:rPr>
              <a:t> tag</a:t>
            </a:r>
            <a:endParaRPr lang="en-US" altLang="en-US" sz="2400">
              <a:latin typeface="Times New Roman" panose="02020603050405020304" charset="0"/>
              <a:cs typeface="Times New Roman" panose="02020603050405020304" charset="0"/>
            </a:endParaRPr>
          </a:p>
          <a:p>
            <a:pPr algn="just">
              <a:lnSpc>
                <a:spcPct val="150000"/>
              </a:lnSpc>
            </a:pPr>
            <a:endParaRPr lang="en-US" altLang="en-US" sz="2400">
              <a:latin typeface="Times New Roman" panose="02020603050405020304" charset="0"/>
              <a:cs typeface="Times New Roman" panose="0202060305040502030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887730"/>
          </a:xfrm>
        </p:spPr>
        <p:txBody>
          <a:bodyPr>
            <a:normAutofit/>
          </a:bodyPr>
          <a:p>
            <a:r>
              <a:rPr lang="en-US" altLang="en-US"/>
              <a:t>Permission Protection Levels</a:t>
            </a:r>
            <a:endParaRPr lang="en-US" altLang="en-US"/>
          </a:p>
        </p:txBody>
      </p:sp>
      <p:sp>
        <p:nvSpPr>
          <p:cNvPr id="3" name="Content Placeholder 2"/>
          <p:cNvSpPr>
            <a:spLocks noGrp="1"/>
          </p:cNvSpPr>
          <p:nvPr>
            <p:ph idx="1"/>
          </p:nvPr>
        </p:nvSpPr>
        <p:spPr>
          <a:xfrm>
            <a:off x="838200" y="1252220"/>
            <a:ext cx="10515600" cy="4773295"/>
          </a:xfrm>
        </p:spPr>
        <p:txBody>
          <a:bodyPr>
            <a:normAutofit lnSpcReduction="10000"/>
          </a:bodyPr>
          <a:p>
            <a:pPr algn="just">
              <a:lnSpc>
                <a:spcPct val="150000"/>
              </a:lnSpc>
            </a:pPr>
            <a:r>
              <a:rPr lang="en-US" altLang="en-US" sz="2400" b="1">
                <a:latin typeface="Times New Roman" panose="02020603050405020304" charset="0"/>
                <a:cs typeface="Times New Roman" panose="02020603050405020304" charset="0"/>
              </a:rPr>
              <a:t>normal: </a:t>
            </a:r>
            <a:r>
              <a:rPr lang="en-US" altLang="en-US" sz="2400">
                <a:latin typeface="Times New Roman" panose="02020603050405020304" charset="0"/>
                <a:cs typeface="Times New Roman" panose="02020603050405020304" charset="0"/>
              </a:rPr>
              <a:t>defualt value and automatically granted without requiring user confirmation.</a:t>
            </a:r>
            <a:endParaRPr lang="en-US" altLang="en-US" sz="2400">
              <a:latin typeface="Times New Roman" panose="02020603050405020304" charset="0"/>
              <a:cs typeface="Times New Roman" panose="02020603050405020304" charset="0"/>
            </a:endParaRPr>
          </a:p>
          <a:p>
            <a:pPr algn="just">
              <a:lnSpc>
                <a:spcPct val="150000"/>
              </a:lnSpc>
            </a:pPr>
            <a:r>
              <a:rPr lang="en-US" altLang="en-US" sz="2400" b="1">
                <a:latin typeface="Times New Roman" panose="02020603050405020304" charset="0"/>
                <a:cs typeface="Times New Roman" panose="02020603050405020304" charset="0"/>
              </a:rPr>
              <a:t>dangerous:</a:t>
            </a:r>
            <a:r>
              <a:rPr lang="en-US" altLang="en-US" sz="2400">
                <a:latin typeface="Times New Roman" panose="02020603050405020304" charset="0"/>
                <a:cs typeface="Times New Roman" panose="02020603050405020304" charset="0"/>
              </a:rPr>
              <a:t>  These permissions allow access to sensitive data or system resources. Because they could affect user privacy or security, Android requires the user to explicitly grant or deny these permissions at runtime</a:t>
            </a:r>
            <a:endParaRPr lang="en-US" altLang="en-US" sz="2400">
              <a:latin typeface="Times New Roman" panose="02020603050405020304" charset="0"/>
              <a:cs typeface="Times New Roman" panose="02020603050405020304" charset="0"/>
            </a:endParaRPr>
          </a:p>
          <a:p>
            <a:pPr algn="just">
              <a:lnSpc>
                <a:spcPct val="150000"/>
              </a:lnSpc>
            </a:pPr>
            <a:r>
              <a:rPr lang="en-US" altLang="en-US" sz="2400" b="1">
                <a:latin typeface="Times New Roman" panose="02020603050405020304" charset="0"/>
                <a:cs typeface="Times New Roman" panose="02020603050405020304" charset="0"/>
              </a:rPr>
              <a:t>Signature:</a:t>
            </a:r>
            <a:r>
              <a:rPr lang="en-US" altLang="en-US" sz="2400">
                <a:latin typeface="Times New Roman" panose="02020603050405020304" charset="0"/>
                <a:cs typeface="Times New Roman" panose="02020603050405020304" charset="0"/>
              </a:rPr>
              <a:t>  granted only to apps that are signed with the same certificate </a:t>
            </a:r>
            <a:endParaRPr lang="en-US" altLang="en-US" sz="2400">
              <a:latin typeface="Times New Roman" panose="02020603050405020304" charset="0"/>
              <a:cs typeface="Times New Roman" panose="02020603050405020304" charset="0"/>
            </a:endParaRPr>
          </a:p>
          <a:p>
            <a:pPr algn="just">
              <a:lnSpc>
                <a:spcPct val="150000"/>
              </a:lnSpc>
            </a:pPr>
            <a:r>
              <a:rPr lang="en-US" altLang="en-US" sz="2400">
                <a:latin typeface="Times New Roman" panose="02020603050405020304" charset="0"/>
                <a:cs typeface="Times New Roman" panose="02020603050405020304" charset="0"/>
              </a:rPr>
              <a:t> </a:t>
            </a:r>
            <a:r>
              <a:rPr lang="en-US" altLang="en-US" sz="2400" b="1">
                <a:latin typeface="Times New Roman" panose="02020603050405020304" charset="0"/>
                <a:cs typeface="Times New Roman" panose="02020603050405020304" charset="0"/>
              </a:rPr>
              <a:t>SignatureOrSystem:</a:t>
            </a:r>
            <a:r>
              <a:rPr lang="en-US" altLang="en-US" sz="2400">
                <a:latin typeface="Times New Roman" panose="02020603050405020304" charset="0"/>
                <a:cs typeface="Times New Roman" panose="02020603050405020304" charset="0"/>
              </a:rPr>
              <a:t>  granted to apps that are either signed with the same certificate or are system apps.</a:t>
            </a:r>
            <a:endParaRPr lang="en-US" altLang="en-US" sz="2400">
              <a:latin typeface="Times New Roman" panose="02020603050405020304" charset="0"/>
              <a:cs typeface="Times New Roman" panose="02020603050405020304" charset="0"/>
            </a:endParaRPr>
          </a:p>
          <a:p>
            <a:pPr algn="just">
              <a:lnSpc>
                <a:spcPct val="150000"/>
              </a:lnSpc>
            </a:pPr>
            <a:endParaRPr lang="en-US" altLang="en-US" sz="2400">
              <a:latin typeface="Times New Roman" panose="02020603050405020304" charset="0"/>
              <a:cs typeface="Times New Roman" panose="0202060305040502030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659765"/>
          </a:xfrm>
        </p:spPr>
        <p:txBody>
          <a:bodyPr>
            <a:normAutofit fontScale="90000"/>
          </a:bodyPr>
          <a:p>
            <a:r>
              <a:rPr lang="en-US"/>
              <a:t>Mobile Application Threat Model</a:t>
            </a:r>
            <a:endParaRPr lang="en-US"/>
          </a:p>
        </p:txBody>
      </p:sp>
      <p:sp>
        <p:nvSpPr>
          <p:cNvPr id="3" name="Content Placeholder 2"/>
          <p:cNvSpPr>
            <a:spLocks noGrp="1"/>
          </p:cNvSpPr>
          <p:nvPr>
            <p:ph idx="1"/>
          </p:nvPr>
        </p:nvSpPr>
        <p:spPr>
          <a:xfrm>
            <a:off x="838200" y="1025525"/>
            <a:ext cx="10515600" cy="5151755"/>
          </a:xfrm>
        </p:spPr>
        <p:txBody>
          <a:bodyPr/>
          <a:p>
            <a:endParaRPr lang="en-US"/>
          </a:p>
        </p:txBody>
      </p:sp>
      <p:sp>
        <p:nvSpPr>
          <p:cNvPr id="10242" name="object 1"/>
          <p:cNvSpPr/>
          <p:nvPr>
            <p:custDataLst>
              <p:tags r:id="rId1"/>
            </p:custDataLst>
          </p:nvPr>
        </p:nvSpPr>
        <p:spPr>
          <a:xfrm>
            <a:off x="1022350" y="1079500"/>
            <a:ext cx="9968865" cy="4900295"/>
          </a:xfrm>
          <a:prstGeom prst="rect">
            <a:avLst/>
          </a:prstGeom>
          <a:blipFill rotWithShape="0">
            <a:blip r:embed="rId2"/>
            <a:stretch>
              <a:fillRect/>
            </a:stretch>
          </a:blipFill>
          <a:ln w="9525">
            <a:noFill/>
          </a:ln>
        </p:spPr>
        <p:txBody>
          <a:bodyPr lIns="0" tIns="0" rIns="0" bIns="0">
            <a:noAutofit/>
          </a:bodyPr>
          <a:p>
            <a:pPr eaLnBrk="1" hangingPunct="1"/>
            <a:endParaRPr lang="en-US" altLang="en-US" sz="2400" dirty="0">
              <a:latin typeface="Times New Roman" panose="02020603050405020304" charset="0"/>
              <a:cs typeface="Times New Roman" panose="0202060305040502030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794385"/>
          </a:xfrm>
        </p:spPr>
        <p:txBody>
          <a:bodyPr/>
          <a:p>
            <a:pPr algn="ctr"/>
            <a:r>
              <a:rPr lang="en-US"/>
              <a:t>Deeplinks and webviews</a:t>
            </a:r>
            <a:endParaRPr lang="en-US"/>
          </a:p>
        </p:txBody>
      </p:sp>
      <p:sp>
        <p:nvSpPr>
          <p:cNvPr id="3" name="Content Placeholder 2"/>
          <p:cNvSpPr>
            <a:spLocks noGrp="1"/>
          </p:cNvSpPr>
          <p:nvPr>
            <p:ph idx="1"/>
          </p:nvPr>
        </p:nvSpPr>
        <p:spPr>
          <a:xfrm>
            <a:off x="838200" y="1300480"/>
            <a:ext cx="10515600" cy="4876800"/>
          </a:xfrm>
        </p:spPr>
        <p:txBody>
          <a:bodyPr>
            <a:normAutofit/>
          </a:bodyPr>
          <a:p>
            <a:pPr algn="just">
              <a:lnSpc>
                <a:spcPct val="150000"/>
              </a:lnSpc>
            </a:pPr>
            <a:r>
              <a:rPr lang="en-US" altLang="en-US" sz="2400" b="1">
                <a:latin typeface="Times New Roman" panose="02020603050405020304" charset="0"/>
                <a:cs typeface="Times New Roman" panose="02020603050405020304" charset="0"/>
              </a:rPr>
              <a:t>A deep link:</a:t>
            </a:r>
            <a:r>
              <a:rPr lang="en-US" altLang="en-US" sz="2400">
                <a:latin typeface="Times New Roman" panose="02020603050405020304" charset="0"/>
                <a:cs typeface="Times New Roman" panose="02020603050405020304" charset="0"/>
              </a:rPr>
              <a:t> is a type of URL that links directly to specific content or functionality within a mobile app, rather than just launching the app’s home screen.</a:t>
            </a:r>
            <a:endParaRPr lang="en-US" altLang="en-US" sz="2400">
              <a:latin typeface="Times New Roman" panose="02020603050405020304" charset="0"/>
              <a:cs typeface="Times New Roman" panose="02020603050405020304" charset="0"/>
            </a:endParaRPr>
          </a:p>
          <a:p>
            <a:pPr marL="0" indent="0" algn="ctr">
              <a:lnSpc>
                <a:spcPct val="150000"/>
              </a:lnSpc>
              <a:buNone/>
            </a:pPr>
            <a:r>
              <a:rPr lang="en-US" altLang="en-US" sz="2400" b="1">
                <a:latin typeface="Times New Roman" panose="02020603050405020304" charset="0"/>
                <a:cs typeface="Times New Roman" panose="02020603050405020304" charset="0"/>
              </a:rPr>
              <a:t>Common Vulnerabilities in Deep Links</a:t>
            </a:r>
            <a:endParaRPr lang="en-US" altLang="en-US" sz="2400" b="1">
              <a:latin typeface="Times New Roman" panose="02020603050405020304" charset="0"/>
              <a:cs typeface="Times New Roman" panose="02020603050405020304" charset="0"/>
            </a:endParaRPr>
          </a:p>
          <a:p>
            <a:pPr algn="just">
              <a:lnSpc>
                <a:spcPct val="150000"/>
              </a:lnSpc>
            </a:pPr>
            <a:r>
              <a:rPr lang="en-US" altLang="en-US" sz="2400">
                <a:latin typeface="Times New Roman" panose="02020603050405020304" charset="0"/>
                <a:cs typeface="Times New Roman" panose="02020603050405020304" charset="0"/>
              </a:rPr>
              <a:t>Authentication bypass</a:t>
            </a:r>
            <a:endParaRPr lang="en-US" altLang="en-US" sz="2400">
              <a:latin typeface="Times New Roman" panose="02020603050405020304" charset="0"/>
              <a:cs typeface="Times New Roman" panose="02020603050405020304" charset="0"/>
            </a:endParaRPr>
          </a:p>
          <a:p>
            <a:pPr algn="just">
              <a:lnSpc>
                <a:spcPct val="150000"/>
              </a:lnSpc>
            </a:pPr>
            <a:r>
              <a:rPr lang="en-US" altLang="en-US" sz="2400">
                <a:latin typeface="Times New Roman" panose="02020603050405020304" charset="0"/>
                <a:cs typeface="Times New Roman" panose="02020603050405020304" charset="0"/>
              </a:rPr>
              <a:t>Unvalidated input (leading to XSS or data manipulation)</a:t>
            </a:r>
            <a:endParaRPr lang="en-US" altLang="en-US" sz="2400">
              <a:latin typeface="Times New Roman" panose="02020603050405020304" charset="0"/>
              <a:cs typeface="Times New Roman" panose="02020603050405020304" charset="0"/>
            </a:endParaRPr>
          </a:p>
          <a:p>
            <a:pPr algn="just">
              <a:lnSpc>
                <a:spcPct val="150000"/>
              </a:lnSpc>
            </a:pPr>
            <a:r>
              <a:rPr lang="en-US" altLang="en-US" sz="2400">
                <a:latin typeface="Times New Roman" panose="02020603050405020304" charset="0"/>
                <a:cs typeface="Times New Roman" panose="02020603050405020304" charset="0"/>
              </a:rPr>
              <a:t>Sensitive actions performed without user confirmation</a:t>
            </a:r>
            <a:endParaRPr lang="en-US" altLang="en-US" sz="2400">
              <a:latin typeface="Times New Roman" panose="02020603050405020304" charset="0"/>
              <a:cs typeface="Times New Roman" panose="02020603050405020304" charset="0"/>
            </a:endParaRPr>
          </a:p>
          <a:p>
            <a:pPr algn="just">
              <a:lnSpc>
                <a:spcPct val="150000"/>
              </a:lnSpc>
            </a:pPr>
            <a:r>
              <a:rPr lang="en-US" altLang="en-US" sz="2400">
                <a:latin typeface="Times New Roman" panose="02020603050405020304" charset="0"/>
                <a:cs typeface="Times New Roman" panose="02020603050405020304" charset="0"/>
              </a:rPr>
              <a:t> Exposing internal activities via exported components</a:t>
            </a:r>
            <a:endParaRPr lang="en-US" altLang="en-US" sz="2400">
              <a:latin typeface="Times New Roman" panose="02020603050405020304" charset="0"/>
              <a:cs typeface="Times New Roman" panose="0202060305040502030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603885"/>
          </a:xfrm>
        </p:spPr>
        <p:txBody>
          <a:bodyPr>
            <a:normAutofit fontScale="90000"/>
          </a:bodyPr>
          <a:p>
            <a:pPr algn="ctr"/>
            <a:r>
              <a:rPr lang="en-US"/>
              <a:t>webviews</a:t>
            </a:r>
            <a:endParaRPr lang="en-US"/>
          </a:p>
        </p:txBody>
      </p:sp>
      <p:sp>
        <p:nvSpPr>
          <p:cNvPr id="3" name="Content Placeholder 2"/>
          <p:cNvSpPr>
            <a:spLocks noGrp="1"/>
          </p:cNvSpPr>
          <p:nvPr>
            <p:ph idx="1"/>
          </p:nvPr>
        </p:nvSpPr>
        <p:spPr>
          <a:xfrm>
            <a:off x="838200" y="906145"/>
            <a:ext cx="10515600" cy="5271135"/>
          </a:xfrm>
        </p:spPr>
        <p:txBody>
          <a:bodyPr>
            <a:normAutofit fontScale="90000" lnSpcReduction="20000"/>
          </a:bodyPr>
          <a:p>
            <a:pPr marL="0" indent="0">
              <a:buNone/>
            </a:pPr>
            <a:r>
              <a:rPr lang="en-US" altLang="en-US" sz="2400">
                <a:latin typeface="Times New Roman" panose="02020603050405020304" charset="0"/>
                <a:cs typeface="Times New Roman" panose="02020603050405020304" charset="0"/>
              </a:rPr>
              <a:t>A WebView is a component (android.webkit.WebView) used to load and display web pages inside an app.</a:t>
            </a:r>
            <a:endParaRPr lang="en-US" altLang="en-US" sz="2400">
              <a:latin typeface="Times New Roman" panose="02020603050405020304" charset="0"/>
              <a:cs typeface="Times New Roman" panose="02020603050405020304" charset="0"/>
            </a:endParaRPr>
          </a:p>
          <a:p>
            <a:pPr marL="0" indent="0">
              <a:buNone/>
            </a:pPr>
            <a:r>
              <a:rPr lang="en-US" altLang="en-US" sz="2400" b="1">
                <a:latin typeface="Times New Roman" panose="02020603050405020304" charset="0"/>
                <a:cs typeface="Times New Roman" panose="02020603050405020304" charset="0"/>
              </a:rPr>
              <a:t>Key Areas to look in  WebViews</a:t>
            </a:r>
            <a:endParaRPr lang="en-US" altLang="en-US" sz="2400" b="1">
              <a:latin typeface="Times New Roman" panose="02020603050405020304" charset="0"/>
              <a:cs typeface="Times New Roman" panose="02020603050405020304" charset="0"/>
            </a:endParaRPr>
          </a:p>
          <a:p>
            <a:pPr marL="0" indent="0" algn="just">
              <a:buNone/>
            </a:pPr>
            <a:r>
              <a:rPr lang="en-US" altLang="en-US" sz="2665">
                <a:latin typeface="Times New Roman" panose="02020603050405020304" charset="0"/>
                <a:cs typeface="Times New Roman" panose="02020603050405020304" charset="0"/>
              </a:rPr>
              <a:t>webView.getSettings().setJavaScriptEnabled(true)</a:t>
            </a:r>
            <a:endParaRPr lang="en-US" altLang="en-US" sz="2665">
              <a:latin typeface="Times New Roman" panose="02020603050405020304" charset="0"/>
              <a:cs typeface="Times New Roman" panose="02020603050405020304" charset="0"/>
            </a:endParaRPr>
          </a:p>
          <a:p>
            <a:pPr marL="0" indent="0" algn="just">
              <a:buNone/>
            </a:pPr>
            <a:r>
              <a:rPr lang="en-US" altLang="en-US" sz="2665">
                <a:latin typeface="Times New Roman" panose="02020603050405020304" charset="0"/>
                <a:cs typeface="Times New Roman" panose="02020603050405020304" charset="0"/>
              </a:rPr>
              <a:t>webView.addJavascriptInterface(new MyObject(), "Android")</a:t>
            </a:r>
            <a:endParaRPr lang="en-US" altLang="en-US" sz="2665">
              <a:latin typeface="Times New Roman" panose="02020603050405020304" charset="0"/>
              <a:cs typeface="Times New Roman" panose="02020603050405020304" charset="0"/>
            </a:endParaRPr>
          </a:p>
          <a:p>
            <a:pPr marL="0" indent="0" algn="just">
              <a:buNone/>
            </a:pPr>
            <a:r>
              <a:rPr lang="en-US" altLang="en-US" sz="2665">
                <a:latin typeface="Times New Roman" panose="02020603050405020304" charset="0"/>
                <a:cs typeface="Times New Roman" panose="02020603050405020304" charset="0"/>
              </a:rPr>
              <a:t>webView.getSettings().setAllowFileAccess(true)</a:t>
            </a:r>
            <a:endParaRPr lang="en-US" altLang="en-US" sz="2665">
              <a:latin typeface="Times New Roman" panose="02020603050405020304" charset="0"/>
              <a:cs typeface="Times New Roman" panose="02020603050405020304" charset="0"/>
            </a:endParaRPr>
          </a:p>
          <a:p>
            <a:pPr marL="0" indent="0" algn="just">
              <a:buNone/>
            </a:pPr>
            <a:r>
              <a:rPr lang="en-US" altLang="en-US" sz="2665">
                <a:latin typeface="Times New Roman" panose="02020603050405020304" charset="0"/>
                <a:cs typeface="Times New Roman" panose="02020603050405020304" charset="0"/>
              </a:rPr>
              <a:t>webView.getSettings().setAllowContentAccess(true)</a:t>
            </a:r>
            <a:endParaRPr lang="en-US" altLang="en-US" sz="2665">
              <a:latin typeface="Times New Roman" panose="02020603050405020304" charset="0"/>
              <a:cs typeface="Times New Roman" panose="02020603050405020304" charset="0"/>
            </a:endParaRPr>
          </a:p>
          <a:p>
            <a:pPr marL="0" indent="0" algn="just">
              <a:buNone/>
            </a:pPr>
            <a:r>
              <a:rPr lang="en-US" altLang="en-US" sz="2665">
                <a:latin typeface="Times New Roman" panose="02020603050405020304" charset="0"/>
                <a:cs typeface="Times New Roman" panose="02020603050405020304" charset="0"/>
              </a:rPr>
              <a:t>webView.getSettings().setAllowFileAccessFromFileURLs(true)</a:t>
            </a:r>
            <a:endParaRPr lang="en-US" altLang="en-US" sz="2665">
              <a:latin typeface="Times New Roman" panose="02020603050405020304" charset="0"/>
              <a:cs typeface="Times New Roman" panose="02020603050405020304" charset="0"/>
            </a:endParaRPr>
          </a:p>
          <a:p>
            <a:pPr marL="0" indent="0" algn="just">
              <a:buNone/>
            </a:pPr>
            <a:r>
              <a:rPr lang="en-US" altLang="en-US" sz="2665">
                <a:latin typeface="Times New Roman" panose="02020603050405020304" charset="0"/>
                <a:cs typeface="Times New Roman" panose="02020603050405020304" charset="0"/>
              </a:rPr>
              <a:t>webView.getSettings().setAllowUniversalAccessFromFileURLs(true) </a:t>
            </a:r>
            <a:endParaRPr lang="en-US" altLang="en-US" sz="2665">
              <a:latin typeface="Times New Roman" panose="02020603050405020304" charset="0"/>
              <a:cs typeface="Times New Roman" panose="02020603050405020304" charset="0"/>
            </a:endParaRPr>
          </a:p>
          <a:p>
            <a:pPr marL="0" indent="0" algn="just">
              <a:buNone/>
            </a:pPr>
            <a:r>
              <a:rPr lang="en-US" altLang="en-US" sz="2665">
                <a:latin typeface="Times New Roman" panose="02020603050405020304" charset="0"/>
                <a:cs typeface="Times New Roman" panose="02020603050405020304" charset="0"/>
              </a:rPr>
              <a:t>webView.getSettings().setDomStorageEnabled(true)</a:t>
            </a:r>
            <a:endParaRPr lang="en-US" altLang="en-US" sz="2665">
              <a:latin typeface="Times New Roman" panose="02020603050405020304" charset="0"/>
              <a:cs typeface="Times New Roman" panose="02020603050405020304" charset="0"/>
            </a:endParaRPr>
          </a:p>
          <a:p>
            <a:pPr marL="0" indent="0" algn="just">
              <a:buNone/>
            </a:pPr>
            <a:r>
              <a:rPr lang="en-US" altLang="en-US" sz="2665">
                <a:latin typeface="Times New Roman" panose="02020603050405020304" charset="0"/>
                <a:cs typeface="Times New Roman" panose="02020603050405020304" charset="0"/>
              </a:rPr>
              <a:t>webView.getSettings().setDatabaseEnabled(true)</a:t>
            </a:r>
            <a:endParaRPr lang="en-US" altLang="en-US" sz="2665">
              <a:latin typeface="Times New Roman" panose="02020603050405020304" charset="0"/>
              <a:cs typeface="Times New Roman" panose="02020603050405020304" charset="0"/>
            </a:endParaRPr>
          </a:p>
          <a:p>
            <a:pPr marL="0" indent="0" algn="just">
              <a:buNone/>
            </a:pPr>
            <a:r>
              <a:rPr lang="en-US" altLang="en-US" sz="2665">
                <a:latin typeface="Times New Roman" panose="02020603050405020304" charset="0"/>
                <a:cs typeface="Times New Roman" panose="02020603050405020304" charset="0"/>
              </a:rPr>
              <a:t>webView.getSettings().setAppCacheEnabled(true)   </a:t>
            </a:r>
            <a:endParaRPr lang="en-US" altLang="en-US" sz="2665">
              <a:latin typeface="Times New Roman" panose="02020603050405020304" charset="0"/>
              <a:cs typeface="Times New Roman" panose="02020603050405020304" charset="0"/>
            </a:endParaRPr>
          </a:p>
          <a:p>
            <a:pPr marL="0" indent="0" algn="just">
              <a:buNone/>
            </a:pPr>
            <a:r>
              <a:rPr lang="en-US" altLang="en-US" sz="2665">
                <a:latin typeface="Times New Roman" panose="02020603050405020304" charset="0"/>
                <a:cs typeface="Times New Roman" panose="02020603050405020304" charset="0"/>
              </a:rPr>
              <a:t>webView.getSettings().setMixedContentMode(...)        </a:t>
            </a:r>
            <a:endParaRPr lang="en-US" altLang="en-US" sz="2665">
              <a:latin typeface="Times New Roman" panose="02020603050405020304" charset="0"/>
              <a:cs typeface="Times New Roman" panose="02020603050405020304" charset="0"/>
            </a:endParaRPr>
          </a:p>
          <a:p>
            <a:pPr marL="0" indent="0" algn="just">
              <a:buNone/>
            </a:pPr>
            <a:r>
              <a:rPr lang="en-US" altLang="en-US" sz="2665">
                <a:latin typeface="Times New Roman" panose="02020603050405020304" charset="0"/>
                <a:cs typeface="Times New Roman" panose="02020603050405020304" charset="0"/>
              </a:rPr>
              <a:t>WebView.setWebContentsDebuggingEnabled(true)</a:t>
            </a:r>
            <a:endParaRPr lang="en-US" altLang="en-US" sz="2665">
              <a:latin typeface="Times New Roman" panose="02020603050405020304" charset="0"/>
              <a:cs typeface="Times New Roman" panose="0202060305040502030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640080"/>
          </a:xfrm>
        </p:spPr>
        <p:txBody>
          <a:bodyPr>
            <a:normAutofit fontScale="90000"/>
          </a:bodyPr>
          <a:p>
            <a:r>
              <a:rPr lang="en-US" altLang="en-US"/>
              <a:t>owspTop 10 Mobile Risks ( 2024)</a:t>
            </a:r>
            <a:endParaRPr lang="en-US" altLang="en-US"/>
          </a:p>
        </p:txBody>
      </p:sp>
      <p:sp>
        <p:nvSpPr>
          <p:cNvPr id="3" name="Content Placeholder 2"/>
          <p:cNvSpPr>
            <a:spLocks noGrp="1"/>
          </p:cNvSpPr>
          <p:nvPr>
            <p:ph idx="1"/>
          </p:nvPr>
        </p:nvSpPr>
        <p:spPr>
          <a:xfrm>
            <a:off x="838200" y="1005840"/>
            <a:ext cx="10515600" cy="5171440"/>
          </a:xfrm>
        </p:spPr>
        <p:txBody>
          <a:bodyPr/>
          <a:p>
            <a:pPr marL="0" indent="0">
              <a:buNone/>
            </a:pPr>
            <a:r>
              <a:rPr lang="en-US"/>
              <a:t>1. </a:t>
            </a:r>
            <a:r>
              <a:rPr lang="en-US" altLang="en-US"/>
              <a:t>Improper Credential Usage</a:t>
            </a:r>
            <a:endParaRPr lang="en-US" altLang="en-US"/>
          </a:p>
          <a:p>
            <a:pPr marL="0" indent="0">
              <a:buNone/>
            </a:pPr>
            <a:r>
              <a:rPr lang="en-US" altLang="en-US"/>
              <a:t>2. Inadequate Supply Chain Security</a:t>
            </a:r>
            <a:endParaRPr lang="en-US" altLang="en-US"/>
          </a:p>
          <a:p>
            <a:pPr marL="0" indent="0">
              <a:buNone/>
            </a:pPr>
            <a:r>
              <a:rPr lang="en-US" altLang="en-US"/>
              <a:t>3. Insecure Authentication/Authorization</a:t>
            </a:r>
            <a:endParaRPr lang="en-US" altLang="en-US"/>
          </a:p>
          <a:p>
            <a:pPr marL="0" indent="0">
              <a:buNone/>
            </a:pPr>
            <a:r>
              <a:rPr lang="en-US" altLang="en-US"/>
              <a:t>4. Insufficient Input/Output Validation</a:t>
            </a:r>
            <a:endParaRPr lang="en-US" altLang="en-US"/>
          </a:p>
          <a:p>
            <a:pPr marL="0" indent="0">
              <a:buNone/>
            </a:pPr>
            <a:r>
              <a:rPr lang="en-US" altLang="en-US"/>
              <a:t>5. Insecure Communication</a:t>
            </a:r>
            <a:endParaRPr lang="en-US" altLang="en-US"/>
          </a:p>
          <a:p>
            <a:pPr marL="0" indent="0">
              <a:buNone/>
            </a:pPr>
            <a:r>
              <a:rPr lang="en-US" altLang="en-US"/>
              <a:t>6. Inadequate Privacy Controls</a:t>
            </a:r>
            <a:endParaRPr lang="en-US" altLang="en-US"/>
          </a:p>
          <a:p>
            <a:pPr marL="0" indent="0">
              <a:buNone/>
            </a:pPr>
            <a:r>
              <a:rPr lang="en-US" altLang="en-US"/>
              <a:t>7. Insufficient Binary Protections</a:t>
            </a:r>
            <a:endParaRPr lang="en-US" altLang="en-US"/>
          </a:p>
          <a:p>
            <a:pPr marL="0" indent="0">
              <a:buNone/>
            </a:pPr>
            <a:r>
              <a:rPr lang="en-US" altLang="en-US"/>
              <a:t>8. Security Misconfiguration</a:t>
            </a:r>
            <a:endParaRPr lang="en-US" altLang="en-US"/>
          </a:p>
          <a:p>
            <a:pPr marL="0" indent="0">
              <a:buNone/>
            </a:pPr>
            <a:r>
              <a:rPr lang="en-US" altLang="en-US"/>
              <a:t>9. Insecure Data Storage</a:t>
            </a:r>
            <a:endParaRPr lang="en-US" altLang="en-US"/>
          </a:p>
          <a:p>
            <a:pPr marL="0" indent="0">
              <a:buNone/>
            </a:pPr>
            <a:r>
              <a:rPr lang="en-US" altLang="en-US"/>
              <a:t>10. Insufficient Cryptography</a:t>
            </a:r>
            <a:endParaRPr lang="en-US" altLang="en-US"/>
          </a:p>
          <a:p>
            <a:pPr marL="0" indent="0">
              <a:buNone/>
            </a:pPr>
            <a:endParaRPr lang="en-US"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664210"/>
          </a:xfrm>
        </p:spPr>
        <p:txBody>
          <a:bodyPr>
            <a:normAutofit fontScale="90000"/>
          </a:bodyPr>
          <a:p>
            <a:r>
              <a:rPr lang="en-US" altLang="en-US">
                <a:latin typeface="Times New Roman" panose="02020603050405020304" charset="0"/>
                <a:cs typeface="Times New Roman" panose="02020603050405020304" charset="0"/>
                <a:sym typeface="+mn-ea"/>
              </a:rPr>
              <a:t>Mobile App Tampering and Reverse Engineering</a:t>
            </a:r>
            <a:endParaRPr lang="en-US" altLang="en-US"/>
          </a:p>
        </p:txBody>
      </p:sp>
      <p:sp>
        <p:nvSpPr>
          <p:cNvPr id="3" name="Content Placeholder 2"/>
          <p:cNvSpPr>
            <a:spLocks noGrp="1"/>
          </p:cNvSpPr>
          <p:nvPr>
            <p:ph idx="1"/>
          </p:nvPr>
        </p:nvSpPr>
        <p:spPr>
          <a:xfrm>
            <a:off x="838200" y="1029335"/>
            <a:ext cx="10515600" cy="5147945"/>
          </a:xfrm>
        </p:spPr>
        <p:txBody>
          <a:bodyPr>
            <a:normAutofit/>
          </a:bodyPr>
          <a:p>
            <a:r>
              <a:rPr lang="en-US" altLang="en-US" sz="2400" b="1">
                <a:latin typeface="Times New Roman" panose="02020603050405020304" charset="0"/>
                <a:cs typeface="Times New Roman" panose="02020603050405020304" charset="0"/>
              </a:rPr>
              <a:t>Reverse engineering</a:t>
            </a:r>
            <a:r>
              <a:rPr lang="en-US" altLang="en-US" sz="2400">
                <a:latin typeface="Times New Roman" panose="02020603050405020304" charset="0"/>
                <a:cs typeface="Times New Roman" panose="02020603050405020304" charset="0"/>
              </a:rPr>
              <a:t> is the process of analyzing an application to extract information about its design, architecture, code, and behavior without access to its source code. </a:t>
            </a:r>
            <a:endParaRPr lang="en-US" altLang="en-US" sz="2400">
              <a:latin typeface="Times New Roman" panose="02020603050405020304" charset="0"/>
              <a:cs typeface="Times New Roman" panose="02020603050405020304" charset="0"/>
            </a:endParaRPr>
          </a:p>
          <a:p>
            <a:r>
              <a:rPr lang="en-US" altLang="en-US" sz="2400">
                <a:latin typeface="Times New Roman" panose="02020603050405020304" charset="0"/>
                <a:cs typeface="Times New Roman" panose="02020603050405020304" charset="0"/>
              </a:rPr>
              <a:t>Identify hardcoded secrets (API keys, credentials)</a:t>
            </a:r>
            <a:endParaRPr lang="en-US" altLang="en-US" sz="2400">
              <a:latin typeface="Times New Roman" panose="02020603050405020304" charset="0"/>
              <a:cs typeface="Times New Roman" panose="02020603050405020304" charset="0"/>
            </a:endParaRPr>
          </a:p>
          <a:p>
            <a:r>
              <a:rPr lang="en-US" altLang="en-US" sz="2400">
                <a:latin typeface="Times New Roman" panose="02020603050405020304" charset="0"/>
                <a:cs typeface="Times New Roman" panose="02020603050405020304" charset="0"/>
              </a:rPr>
              <a:t>Detect insecure coding practices</a:t>
            </a:r>
            <a:endParaRPr lang="en-US" altLang="en-US" sz="2400">
              <a:latin typeface="Times New Roman" panose="02020603050405020304" charset="0"/>
              <a:cs typeface="Times New Roman" panose="02020603050405020304" charset="0"/>
            </a:endParaRPr>
          </a:p>
          <a:p>
            <a:r>
              <a:rPr lang="en-US" altLang="en-US" sz="2400">
                <a:latin typeface="Times New Roman" panose="02020603050405020304" charset="0"/>
                <a:cs typeface="Times New Roman" panose="02020603050405020304" charset="0"/>
              </a:rPr>
              <a:t>Understand app logic (especially for authentication, encryption, etc.)</a:t>
            </a:r>
            <a:endParaRPr lang="en-US" altLang="en-US" sz="2400">
              <a:latin typeface="Times New Roman" panose="02020603050405020304" charset="0"/>
              <a:cs typeface="Times New Roman" panose="02020603050405020304" charset="0"/>
            </a:endParaRPr>
          </a:p>
          <a:p>
            <a:r>
              <a:rPr lang="en-US" altLang="en-US" sz="2400">
                <a:latin typeface="Times New Roman" panose="02020603050405020304" charset="0"/>
                <a:cs typeface="Times New Roman" panose="02020603050405020304" charset="0"/>
              </a:rPr>
              <a:t>Analyze third-party libraries and SDKs used</a:t>
            </a:r>
            <a:endParaRPr lang="en-US" altLang="en-US" sz="2400">
              <a:latin typeface="Times New Roman" panose="02020603050405020304" charset="0"/>
              <a:cs typeface="Times New Roman" panose="02020603050405020304" charset="0"/>
            </a:endParaRPr>
          </a:p>
          <a:p>
            <a:r>
              <a:rPr lang="en-US" altLang="en-US" sz="2400">
                <a:latin typeface="Times New Roman" panose="02020603050405020304" charset="0"/>
                <a:cs typeface="Times New Roman" panose="02020603050405020304" charset="0"/>
              </a:rPr>
              <a:t>Reveal hidden or undocumented features</a:t>
            </a:r>
            <a:endParaRPr lang="en-US" altLang="en-US" sz="2400">
              <a:latin typeface="Times New Roman" panose="02020603050405020304" charset="0"/>
              <a:cs typeface="Times New Roman" panose="02020603050405020304" charset="0"/>
            </a:endParaRPr>
          </a:p>
          <a:p>
            <a:r>
              <a:rPr lang="en-US" altLang="en-US" sz="2400" b="1">
                <a:latin typeface="Times New Roman" panose="02020603050405020304" charset="0"/>
                <a:cs typeface="Times New Roman" panose="02020603050405020304" charset="0"/>
              </a:rPr>
              <a:t>Tools:</a:t>
            </a:r>
            <a:r>
              <a:rPr lang="en-US" altLang="en-US" sz="2400">
                <a:latin typeface="Times New Roman" panose="02020603050405020304" charset="0"/>
                <a:cs typeface="Times New Roman" panose="02020603050405020304" charset="0"/>
              </a:rPr>
              <a:t> jadx, apktool, hopper, ghidra </a:t>
            </a:r>
            <a:r>
              <a:rPr lang="en-US" altLang="en-US" sz="2400" b="1">
                <a:latin typeface="Times New Roman" panose="02020603050405020304" charset="0"/>
                <a:cs typeface="Times New Roman" panose="02020603050405020304" charset="0"/>
              </a:rPr>
              <a:t>...etc</a:t>
            </a:r>
            <a:endParaRPr lang="en-US" altLang="en-US" sz="2400" b="1">
              <a:latin typeface="Times New Roman" panose="02020603050405020304" charset="0"/>
              <a:cs typeface="Times New Roman" panose="02020603050405020304" charset="0"/>
            </a:endParaRPr>
          </a:p>
          <a:p>
            <a:endParaRPr lang="en-US" altLang="en-US" sz="2400" b="1">
              <a:latin typeface="Times New Roman" panose="02020603050405020304" charset="0"/>
              <a:cs typeface="Times New Roman" panose="0202060305040502030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1010920"/>
          </a:xfrm>
        </p:spPr>
        <p:txBody>
          <a:bodyPr/>
          <a:p>
            <a:pPr algn="ctr"/>
            <a:r>
              <a:rPr lang="en-US" altLang="en-US">
                <a:latin typeface="Times New Roman" panose="02020603050405020304" charset="0"/>
                <a:cs typeface="Times New Roman" panose="02020603050405020304" charset="0"/>
                <a:sym typeface="+mn-ea"/>
              </a:rPr>
              <a:t>Mobile Binary Tampering</a:t>
            </a:r>
            <a:endParaRPr lang="en-US"/>
          </a:p>
        </p:txBody>
      </p:sp>
      <p:sp>
        <p:nvSpPr>
          <p:cNvPr id="3" name="Content Placeholder 2"/>
          <p:cNvSpPr>
            <a:spLocks noGrp="1"/>
          </p:cNvSpPr>
          <p:nvPr>
            <p:ph idx="1"/>
          </p:nvPr>
        </p:nvSpPr>
        <p:spPr>
          <a:xfrm>
            <a:off x="838200" y="1376680"/>
            <a:ext cx="10515600" cy="4800600"/>
          </a:xfrm>
        </p:spPr>
        <p:txBody>
          <a:bodyPr>
            <a:normAutofit lnSpcReduction="20000"/>
          </a:bodyPr>
          <a:p>
            <a:pPr algn="just">
              <a:lnSpc>
                <a:spcPct val="150000"/>
              </a:lnSpc>
            </a:pPr>
            <a:r>
              <a:rPr lang="en-US" altLang="en-US" sz="2400" b="1">
                <a:latin typeface="Times New Roman" panose="02020603050405020304" charset="0"/>
                <a:cs typeface="Times New Roman" panose="02020603050405020304" charset="0"/>
              </a:rPr>
              <a:t>Mobile Binary Tampering</a:t>
            </a:r>
            <a:r>
              <a:rPr lang="en-US" altLang="en-US" sz="2400">
                <a:latin typeface="Times New Roman" panose="02020603050405020304" charset="0"/>
                <a:cs typeface="Times New Roman" panose="02020603050405020304" charset="0"/>
              </a:rPr>
              <a:t> refers to the unauthorized modification of a mobile application's binary (APK/IPA) to change its behavior, bypass protections, or inject malicious code. </a:t>
            </a:r>
            <a:endParaRPr lang="en-US" altLang="en-US" sz="2400">
              <a:latin typeface="Times New Roman" panose="02020603050405020304" charset="0"/>
              <a:cs typeface="Times New Roman" panose="02020603050405020304" charset="0"/>
            </a:endParaRPr>
          </a:p>
          <a:p>
            <a:pPr marL="0" indent="0" algn="just">
              <a:lnSpc>
                <a:spcPct val="150000"/>
              </a:lnSpc>
              <a:buNone/>
            </a:pPr>
            <a:r>
              <a:rPr lang="en-US" altLang="en-US" sz="2400" b="1">
                <a:latin typeface="Times New Roman" panose="02020603050405020304" charset="0"/>
                <a:cs typeface="Times New Roman" panose="02020603050405020304" charset="0"/>
              </a:rPr>
              <a:t>      Common Use Cases of Tampering</a:t>
            </a:r>
            <a:endParaRPr lang="en-US" altLang="en-US" sz="2400" b="1">
              <a:latin typeface="Times New Roman" panose="02020603050405020304" charset="0"/>
              <a:cs typeface="Times New Roman" panose="02020603050405020304" charset="0"/>
            </a:endParaRPr>
          </a:p>
          <a:p>
            <a:pPr algn="just">
              <a:lnSpc>
                <a:spcPct val="150000"/>
              </a:lnSpc>
            </a:pPr>
            <a:r>
              <a:rPr lang="en-US" altLang="en-US" sz="2400">
                <a:latin typeface="Times New Roman" panose="02020603050405020304" charset="0"/>
                <a:cs typeface="Times New Roman" panose="02020603050405020304" charset="0"/>
              </a:rPr>
              <a:t>Bypassing login/PIN/root/jailbreak checks</a:t>
            </a:r>
            <a:endParaRPr lang="en-US" altLang="en-US" sz="2400">
              <a:latin typeface="Times New Roman" panose="02020603050405020304" charset="0"/>
              <a:cs typeface="Times New Roman" panose="02020603050405020304" charset="0"/>
            </a:endParaRPr>
          </a:p>
          <a:p>
            <a:pPr algn="just">
              <a:lnSpc>
                <a:spcPct val="150000"/>
              </a:lnSpc>
            </a:pPr>
            <a:r>
              <a:rPr lang="en-US" altLang="en-US" sz="2400">
                <a:latin typeface="Times New Roman" panose="02020603050405020304" charset="0"/>
                <a:cs typeface="Times New Roman" panose="02020603050405020304" charset="0"/>
              </a:rPr>
              <a:t>Disabling SSL pinning</a:t>
            </a:r>
            <a:endParaRPr lang="en-US" altLang="en-US" sz="2400">
              <a:latin typeface="Times New Roman" panose="02020603050405020304" charset="0"/>
              <a:cs typeface="Times New Roman" panose="02020603050405020304" charset="0"/>
            </a:endParaRPr>
          </a:p>
          <a:p>
            <a:pPr algn="just">
              <a:lnSpc>
                <a:spcPct val="150000"/>
              </a:lnSpc>
            </a:pPr>
            <a:r>
              <a:rPr lang="en-US" altLang="en-US" sz="2400">
                <a:latin typeface="Times New Roman" panose="02020603050405020304" charset="0"/>
                <a:cs typeface="Times New Roman" panose="02020603050405020304" charset="0"/>
              </a:rPr>
              <a:t>Unlocking paid features</a:t>
            </a:r>
            <a:endParaRPr lang="en-US" altLang="en-US" sz="2400">
              <a:latin typeface="Times New Roman" panose="02020603050405020304" charset="0"/>
              <a:cs typeface="Times New Roman" panose="02020603050405020304" charset="0"/>
            </a:endParaRPr>
          </a:p>
          <a:p>
            <a:pPr algn="just">
              <a:lnSpc>
                <a:spcPct val="150000"/>
              </a:lnSpc>
            </a:pPr>
            <a:r>
              <a:rPr lang="en-US" altLang="en-US" sz="2400">
                <a:latin typeface="Times New Roman" panose="02020603050405020304" charset="0"/>
                <a:cs typeface="Times New Roman" panose="02020603050405020304" charset="0"/>
              </a:rPr>
              <a:t>Injecting malicious code or payloads</a:t>
            </a:r>
            <a:endParaRPr lang="en-US" altLang="en-US" sz="2400">
              <a:latin typeface="Times New Roman" panose="02020603050405020304" charset="0"/>
              <a:cs typeface="Times New Roman" panose="02020603050405020304" charset="0"/>
            </a:endParaRPr>
          </a:p>
          <a:p>
            <a:pPr algn="just">
              <a:lnSpc>
                <a:spcPct val="150000"/>
              </a:lnSpc>
            </a:pPr>
            <a:endParaRPr lang="en-US" altLang="en-US" sz="2400">
              <a:latin typeface="Times New Roman" panose="02020603050405020304" charset="0"/>
              <a:cs typeface="Times New Roman" panose="0202060305040502030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856615"/>
          </a:xfrm>
        </p:spPr>
        <p:txBody>
          <a:bodyPr/>
          <a:p>
            <a:r>
              <a:rPr lang="en-US"/>
              <a:t>How to tamper an apk file</a:t>
            </a:r>
            <a:endParaRPr lang="en-US"/>
          </a:p>
        </p:txBody>
      </p:sp>
      <p:sp>
        <p:nvSpPr>
          <p:cNvPr id="3" name="Content Placeholder 2"/>
          <p:cNvSpPr>
            <a:spLocks noGrp="1"/>
          </p:cNvSpPr>
          <p:nvPr>
            <p:ph idx="1"/>
          </p:nvPr>
        </p:nvSpPr>
        <p:spPr>
          <a:xfrm>
            <a:off x="838200" y="1268730"/>
            <a:ext cx="10515600" cy="4908550"/>
          </a:xfrm>
        </p:spPr>
        <p:txBody>
          <a:bodyPr/>
          <a:p>
            <a:r>
              <a:rPr lang="en-US" altLang="en-US"/>
              <a:t>Decompile APK using JADX or apktool</a:t>
            </a:r>
            <a:endParaRPr lang="en-US" altLang="en-US"/>
          </a:p>
          <a:p>
            <a:r>
              <a:rPr lang="en-US" altLang="en-US"/>
              <a:t>Locate sensitive logic: e.g., if (isRooted()) { exitApp(); }</a:t>
            </a:r>
            <a:endParaRPr lang="en-US" altLang="en-US"/>
          </a:p>
          <a:p>
            <a:r>
              <a:rPr lang="en-US" altLang="en-US"/>
              <a:t>Modify smali or Java code (depending on decompile method)</a:t>
            </a:r>
            <a:endParaRPr lang="en-US" altLang="en-US"/>
          </a:p>
          <a:p>
            <a:r>
              <a:rPr lang="en-US" altLang="en-US"/>
              <a:t>Rebuild APK with apktool</a:t>
            </a:r>
            <a:endParaRPr lang="en-US" altLang="en-US"/>
          </a:p>
          <a:p>
            <a:r>
              <a:rPr lang="en-US" altLang="en-US"/>
              <a:t>Re-sign APK using  jarsigner or apksigner</a:t>
            </a:r>
            <a:endParaRPr lang="en-US"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1029335"/>
          </a:xfrm>
        </p:spPr>
        <p:txBody>
          <a:bodyPr/>
          <a:p>
            <a:r>
              <a:rPr lang="en-US" altLang="en-US"/>
              <a:t>Mobile Application Security Testing</a:t>
            </a:r>
            <a:endParaRPr lang="en-US" altLang="en-US"/>
          </a:p>
        </p:txBody>
      </p:sp>
      <p:sp>
        <p:nvSpPr>
          <p:cNvPr id="3" name="Content Placeholder 2"/>
          <p:cNvSpPr>
            <a:spLocks noGrp="1"/>
          </p:cNvSpPr>
          <p:nvPr>
            <p:ph idx="1"/>
          </p:nvPr>
        </p:nvSpPr>
        <p:spPr>
          <a:xfrm>
            <a:off x="838200" y="1510030"/>
            <a:ext cx="10515600" cy="4667250"/>
          </a:xfrm>
        </p:spPr>
        <p:txBody>
          <a:bodyPr>
            <a:normAutofit lnSpcReduction="20000"/>
          </a:bodyPr>
          <a:p>
            <a:pPr marL="0" indent="0" algn="just">
              <a:buNone/>
            </a:pPr>
            <a:r>
              <a:rPr lang="en-US" altLang="en-US" sz="2400" b="1">
                <a:latin typeface="Times New Roman" panose="02020603050405020304" charset="0"/>
                <a:cs typeface="Times New Roman" panose="02020603050405020304" charset="0"/>
              </a:rPr>
              <a:t>                                     Principles of Testing:</a:t>
            </a:r>
            <a:endParaRPr lang="en-US" altLang="en-US" sz="2400" b="1">
              <a:latin typeface="Times New Roman" panose="02020603050405020304" charset="0"/>
              <a:cs typeface="Times New Roman" panose="02020603050405020304" charset="0"/>
            </a:endParaRPr>
          </a:p>
          <a:p>
            <a:pPr algn="just">
              <a:lnSpc>
                <a:spcPct val="150000"/>
              </a:lnSpc>
            </a:pPr>
            <a:r>
              <a:rPr lang="en-US" altLang="en-US" sz="2400" b="1">
                <a:latin typeface="Times New Roman" panose="02020603050405020304" charset="0"/>
                <a:cs typeface="Times New Roman" panose="02020603050405020304" charset="0"/>
              </a:rPr>
              <a:t>Black-box testing:  </a:t>
            </a:r>
            <a:r>
              <a:rPr lang="en-US" altLang="en-US" sz="2400">
                <a:latin typeface="Times New Roman" panose="02020603050405020304" charset="0"/>
                <a:cs typeface="Times New Roman" panose="02020603050405020304" charset="0"/>
              </a:rPr>
              <a:t>is conducted without the tester’s having any information about the app being tested.</a:t>
            </a:r>
            <a:endParaRPr lang="en-US" altLang="en-US" sz="2400">
              <a:latin typeface="Times New Roman" panose="02020603050405020304" charset="0"/>
              <a:cs typeface="Times New Roman" panose="02020603050405020304" charset="0"/>
            </a:endParaRPr>
          </a:p>
          <a:p>
            <a:pPr algn="just">
              <a:lnSpc>
                <a:spcPct val="150000"/>
              </a:lnSpc>
            </a:pPr>
            <a:r>
              <a:rPr lang="en-US" altLang="en-US" sz="2400" b="1">
                <a:latin typeface="Times New Roman" panose="02020603050405020304" charset="0"/>
                <a:cs typeface="Times New Roman" panose="02020603050405020304" charset="0"/>
              </a:rPr>
              <a:t>White-box testing:</a:t>
            </a:r>
            <a:r>
              <a:rPr lang="en-US" altLang="en-US" sz="2400">
                <a:latin typeface="Times New Roman" panose="02020603050405020304" charset="0"/>
                <a:cs typeface="Times New Roman" panose="02020603050405020304" charset="0"/>
              </a:rPr>
              <a:t> (sometimes called “full knowledge testing”) is the total opposite of black-box testing in the sense that the tester has full knowledge of the app.</a:t>
            </a:r>
            <a:endParaRPr lang="en-US" altLang="en-US" sz="2400">
              <a:latin typeface="Times New Roman" panose="02020603050405020304" charset="0"/>
              <a:cs typeface="Times New Roman" panose="02020603050405020304" charset="0"/>
            </a:endParaRPr>
          </a:p>
          <a:p>
            <a:pPr algn="just">
              <a:lnSpc>
                <a:spcPct val="150000"/>
              </a:lnSpc>
            </a:pPr>
            <a:r>
              <a:rPr lang="en-US" altLang="en-US" sz="2400" b="1">
                <a:latin typeface="Times New Roman" panose="02020603050405020304" charset="0"/>
                <a:cs typeface="Times New Roman" panose="02020603050405020304" charset="0"/>
              </a:rPr>
              <a:t>Gray-box testing:</a:t>
            </a:r>
            <a:r>
              <a:rPr lang="en-US" altLang="en-US" sz="2400">
                <a:latin typeface="Times New Roman" panose="02020603050405020304" charset="0"/>
                <a:cs typeface="Times New Roman" panose="02020603050405020304" charset="0"/>
              </a:rPr>
              <a:t> is all testing that falls in between the two aforementioned testing types: some information is provided to the tester (usually credentials only), and other information is intended to be discovered</a:t>
            </a:r>
            <a:endParaRPr lang="en-US" altLang="en-US" sz="2400">
              <a:latin typeface="Times New Roman" panose="02020603050405020304" charset="0"/>
              <a:cs typeface="Times New Roman" panose="0202060305040502030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979805"/>
          </a:xfrm>
        </p:spPr>
        <p:txBody>
          <a:bodyPr>
            <a:normAutofit fontScale="90000"/>
          </a:bodyPr>
          <a:p>
            <a:r>
              <a:rPr lang="en-US" altLang="en-US"/>
              <a:t>Mobile Application Security Testing Methodology</a:t>
            </a:r>
            <a:endParaRPr lang="en-US" altLang="en-US"/>
          </a:p>
        </p:txBody>
      </p:sp>
      <p:sp>
        <p:nvSpPr>
          <p:cNvPr id="3" name="Content Placeholder 2"/>
          <p:cNvSpPr>
            <a:spLocks noGrp="1"/>
          </p:cNvSpPr>
          <p:nvPr>
            <p:ph idx="1"/>
          </p:nvPr>
        </p:nvSpPr>
        <p:spPr>
          <a:xfrm>
            <a:off x="838200" y="1399540"/>
            <a:ext cx="10515600" cy="4777740"/>
          </a:xfrm>
        </p:spPr>
        <p:txBody>
          <a:bodyPr/>
          <a:p>
            <a:pPr algn="just">
              <a:lnSpc>
                <a:spcPct val="150000"/>
              </a:lnSpc>
            </a:pPr>
            <a:r>
              <a:rPr lang="en-US" altLang="en-US" sz="2400" b="1">
                <a:latin typeface="Times New Roman" panose="02020603050405020304" charset="0"/>
                <a:cs typeface="Times New Roman" panose="02020603050405020304" charset="0"/>
              </a:rPr>
              <a:t>Information Gathering:</a:t>
            </a:r>
            <a:r>
              <a:rPr lang="en-US" altLang="en-US" sz="2400">
                <a:latin typeface="Times New Roman" panose="02020603050405020304" charset="0"/>
                <a:cs typeface="Times New Roman" panose="02020603050405020304" charset="0"/>
              </a:rPr>
              <a:t> Gather basic details about the mobile app to understand its functionality and identify potential security risks.</a:t>
            </a:r>
            <a:endParaRPr lang="en-US" altLang="en-US" sz="2400">
              <a:latin typeface="Times New Roman" panose="02020603050405020304" charset="0"/>
              <a:cs typeface="Times New Roman" panose="02020603050405020304" charset="0"/>
            </a:endParaRPr>
          </a:p>
          <a:p>
            <a:pPr algn="just">
              <a:lnSpc>
                <a:spcPct val="150000"/>
              </a:lnSpc>
            </a:pPr>
            <a:r>
              <a:rPr lang="en-US" altLang="en-US" sz="2400" b="1">
                <a:latin typeface="Times New Roman" panose="02020603050405020304" charset="0"/>
                <a:cs typeface="Times New Roman" panose="02020603050405020304" charset="0"/>
              </a:rPr>
              <a:t>Static Analysis (Code Review):</a:t>
            </a:r>
            <a:r>
              <a:rPr lang="en-US" altLang="en-US" sz="2400">
                <a:latin typeface="Times New Roman" panose="02020603050405020304" charset="0"/>
                <a:cs typeface="Times New Roman" panose="02020603050405020304" charset="0"/>
              </a:rPr>
              <a:t> Analyze the app’s source code (or decompiled code) to identify vulnerabilities.</a:t>
            </a:r>
            <a:endParaRPr lang="en-US" altLang="en-US" sz="2400">
              <a:latin typeface="Times New Roman" panose="02020603050405020304" charset="0"/>
              <a:cs typeface="Times New Roman" panose="02020603050405020304" charset="0"/>
            </a:endParaRPr>
          </a:p>
          <a:p>
            <a:pPr algn="just">
              <a:lnSpc>
                <a:spcPct val="150000"/>
              </a:lnSpc>
            </a:pPr>
            <a:r>
              <a:rPr lang="en-US" altLang="en-US" sz="2400" b="1">
                <a:latin typeface="Times New Roman" panose="02020603050405020304" charset="0"/>
                <a:cs typeface="Times New Roman" panose="02020603050405020304" charset="0"/>
              </a:rPr>
              <a:t>Dynamic Analysis: </a:t>
            </a:r>
            <a:r>
              <a:rPr lang="en-US" altLang="en-US" sz="2400">
                <a:latin typeface="Times New Roman" panose="02020603050405020304" charset="0"/>
                <a:cs typeface="Times New Roman" panose="02020603050405020304" charset="0"/>
              </a:rPr>
              <a:t>Monitor how the app behaves during execution to detect runtime vulnerabilities and interaction with external resources.</a:t>
            </a:r>
            <a:endParaRPr lang="en-US" altLang="en-US" sz="2400">
              <a:latin typeface="Times New Roman" panose="02020603050405020304" charset="0"/>
              <a:cs typeface="Times New Roman" panose="0202060305040502030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720090"/>
          </a:xfrm>
        </p:spPr>
        <p:txBody>
          <a:bodyPr>
            <a:normAutofit fontScale="90000"/>
          </a:bodyPr>
          <a:p>
            <a:r>
              <a:rPr lang="en-US"/>
              <a:t>Static analysis of mobile application</a:t>
            </a:r>
            <a:endParaRPr lang="en-US"/>
          </a:p>
        </p:txBody>
      </p:sp>
      <p:sp>
        <p:nvSpPr>
          <p:cNvPr id="3" name="Content Placeholder 2"/>
          <p:cNvSpPr>
            <a:spLocks noGrp="1"/>
          </p:cNvSpPr>
          <p:nvPr>
            <p:ph idx="1"/>
          </p:nvPr>
        </p:nvSpPr>
        <p:spPr>
          <a:xfrm>
            <a:off x="838200" y="1085215"/>
            <a:ext cx="10515600" cy="5092065"/>
          </a:xfrm>
        </p:spPr>
        <p:txBody>
          <a:bodyPr>
            <a:normAutofit lnSpcReduction="20000"/>
          </a:bodyPr>
          <a:p>
            <a:pPr algn="just"/>
            <a:r>
              <a:rPr lang="en-US" altLang="en-US" sz="2400">
                <a:latin typeface="Times New Roman" panose="02020603050405020304" charset="0"/>
                <a:cs typeface="Times New Roman" panose="02020603050405020304" charset="0"/>
              </a:rPr>
              <a:t>A method of analyzing mobile applications without executing them.</a:t>
            </a:r>
            <a:endParaRPr lang="en-US" altLang="en-US" sz="2400">
              <a:latin typeface="Times New Roman" panose="02020603050405020304" charset="0"/>
              <a:cs typeface="Times New Roman" panose="02020603050405020304" charset="0"/>
            </a:endParaRPr>
          </a:p>
          <a:p>
            <a:pPr algn="just"/>
            <a:r>
              <a:rPr lang="en-US" altLang="en-US" sz="2400">
                <a:latin typeface="Times New Roman" panose="02020603050405020304" charset="0"/>
                <a:cs typeface="Times New Roman" panose="02020603050405020304" charset="0"/>
              </a:rPr>
              <a:t> Examines the app’s source code, binaries, and configurations for potential vulnerabilities.</a:t>
            </a:r>
            <a:endParaRPr lang="en-US" altLang="en-US" sz="2400">
              <a:latin typeface="Times New Roman" panose="02020603050405020304" charset="0"/>
              <a:cs typeface="Times New Roman" panose="02020603050405020304" charset="0"/>
            </a:endParaRPr>
          </a:p>
          <a:p>
            <a:pPr algn="just"/>
            <a:r>
              <a:rPr lang="en-US" altLang="en-US" sz="2400">
                <a:latin typeface="Times New Roman" panose="02020603050405020304" charset="0"/>
                <a:cs typeface="Times New Roman" panose="02020603050405020304" charset="0"/>
              </a:rPr>
              <a:t>Helps identify security flaws early in the development process.</a:t>
            </a:r>
            <a:endParaRPr lang="en-US" altLang="en-US" sz="2400">
              <a:latin typeface="Times New Roman" panose="02020603050405020304" charset="0"/>
              <a:cs typeface="Times New Roman" panose="02020603050405020304" charset="0"/>
            </a:endParaRPr>
          </a:p>
          <a:p>
            <a:pPr algn="just"/>
            <a:r>
              <a:rPr lang="en-US" altLang="en-US" sz="2400">
                <a:latin typeface="Times New Roman" panose="02020603050405020304" charset="0"/>
                <a:cs typeface="Times New Roman" panose="02020603050405020304" charset="0"/>
              </a:rPr>
              <a:t>Reduces risk by preventing known vulnerabilities in the app.</a:t>
            </a:r>
            <a:endParaRPr lang="en-US" altLang="en-US" sz="2400">
              <a:latin typeface="Times New Roman" panose="02020603050405020304" charset="0"/>
              <a:cs typeface="Times New Roman" panose="02020603050405020304" charset="0"/>
            </a:endParaRPr>
          </a:p>
          <a:p>
            <a:pPr marL="0" indent="0" algn="just">
              <a:buNone/>
            </a:pPr>
            <a:r>
              <a:rPr lang="en-US" altLang="en-US" sz="2400">
                <a:latin typeface="Times New Roman" panose="02020603050405020304" charset="0"/>
                <a:cs typeface="Times New Roman" panose="02020603050405020304" charset="0"/>
              </a:rPr>
              <a:t>  </a:t>
            </a:r>
            <a:r>
              <a:rPr lang="en-US" altLang="en-US" sz="2400" b="1">
                <a:latin typeface="Times New Roman" panose="02020603050405020304" charset="0"/>
                <a:cs typeface="Times New Roman" panose="02020603050405020304" charset="0"/>
              </a:rPr>
              <a:t>Tools for static analysis  </a:t>
            </a:r>
            <a:endParaRPr lang="en-US" altLang="en-US" sz="2400" b="1">
              <a:latin typeface="Times New Roman" panose="02020603050405020304" charset="0"/>
              <a:cs typeface="Times New Roman" panose="02020603050405020304" charset="0"/>
            </a:endParaRPr>
          </a:p>
          <a:p>
            <a:pPr marL="0" indent="0" algn="just"/>
            <a:r>
              <a:rPr lang="en-US" altLang="en-US" sz="2400" b="1">
                <a:latin typeface="Times New Roman" panose="02020603050405020304" charset="0"/>
                <a:cs typeface="Times New Roman" panose="02020603050405020304" charset="0"/>
              </a:rPr>
              <a:t> </a:t>
            </a:r>
            <a:r>
              <a:rPr lang="en-US" altLang="en-US" sz="2400">
                <a:latin typeface="Times New Roman" panose="02020603050405020304" charset="0"/>
                <a:cs typeface="Times New Roman" panose="02020603050405020304" charset="0"/>
              </a:rPr>
              <a:t>APKTool, JADX, Mobsf, busybox, QARK , AndroBugs </a:t>
            </a:r>
            <a:r>
              <a:rPr lang="en-US" altLang="en-US" sz="2400" b="1">
                <a:latin typeface="Times New Roman" panose="02020603050405020304" charset="0"/>
                <a:cs typeface="Times New Roman" panose="02020603050405020304" charset="0"/>
              </a:rPr>
              <a:t>...etc</a:t>
            </a:r>
            <a:endParaRPr lang="en-US" altLang="en-US" sz="2400" b="1">
              <a:latin typeface="Times New Roman" panose="02020603050405020304" charset="0"/>
              <a:cs typeface="Times New Roman" panose="02020603050405020304" charset="0"/>
            </a:endParaRPr>
          </a:p>
          <a:p>
            <a:pPr marL="0" indent="0" algn="just">
              <a:buNone/>
            </a:pPr>
            <a:endParaRPr lang="en-US" altLang="en-US" sz="2400">
              <a:latin typeface="Times New Roman" panose="02020603050405020304" charset="0"/>
              <a:cs typeface="Times New Roman" panose="02020603050405020304" charset="0"/>
            </a:endParaRPr>
          </a:p>
          <a:p>
            <a:pPr marL="0" indent="0" algn="just">
              <a:buNone/>
            </a:pPr>
            <a:r>
              <a:rPr lang="en-US" altLang="en-US" sz="2400">
                <a:latin typeface="Times New Roman" panose="02020603050405020304" charset="0"/>
                <a:cs typeface="Times New Roman" panose="02020603050405020304" charset="0"/>
              </a:rPr>
              <a:t> </a:t>
            </a:r>
            <a:r>
              <a:rPr lang="en-US" altLang="en-US" sz="2400" b="1">
                <a:latin typeface="Times New Roman" panose="02020603050405020304" charset="0"/>
                <a:cs typeface="Times New Roman" panose="02020603050405020304" charset="0"/>
              </a:rPr>
              <a:t>Process of Static Analysis</a:t>
            </a:r>
            <a:endParaRPr lang="en-US" altLang="en-US" sz="2400" b="1">
              <a:latin typeface="Times New Roman" panose="02020603050405020304" charset="0"/>
              <a:cs typeface="Times New Roman" panose="02020603050405020304" charset="0"/>
            </a:endParaRPr>
          </a:p>
          <a:p>
            <a:pPr marL="0" indent="0" algn="just">
              <a:buNone/>
            </a:pPr>
            <a:endParaRPr lang="en-US" altLang="en-US" sz="2400" b="1">
              <a:latin typeface="Times New Roman" panose="02020603050405020304" charset="0"/>
              <a:cs typeface="Times New Roman" panose="02020603050405020304" charset="0"/>
            </a:endParaRPr>
          </a:p>
          <a:p>
            <a:pPr marL="0" indent="0" algn="just"/>
            <a:r>
              <a:rPr lang="en-US" altLang="en-US" sz="2400">
                <a:latin typeface="Times New Roman" panose="02020603050405020304" charset="0"/>
                <a:cs typeface="Times New Roman" panose="02020603050405020304" charset="0"/>
              </a:rPr>
              <a:t>Obtain the </a:t>
            </a:r>
            <a:r>
              <a:rPr lang="en-US" altLang="en-US" sz="2400" b="1">
                <a:latin typeface="Times New Roman" panose="02020603050405020304" charset="0"/>
                <a:cs typeface="Times New Roman" panose="02020603050405020304" charset="0"/>
              </a:rPr>
              <a:t>APK/IPA</a:t>
            </a:r>
            <a:r>
              <a:rPr lang="en-US" altLang="en-US" sz="2400">
                <a:latin typeface="Times New Roman" panose="02020603050405020304" charset="0"/>
                <a:cs typeface="Times New Roman" panose="02020603050405020304" charset="0"/>
              </a:rPr>
              <a:t> file or source code.</a:t>
            </a:r>
            <a:endParaRPr lang="en-US" altLang="en-US" sz="2400">
              <a:latin typeface="Times New Roman" panose="02020603050405020304" charset="0"/>
              <a:cs typeface="Times New Roman" panose="02020603050405020304" charset="0"/>
            </a:endParaRPr>
          </a:p>
          <a:p>
            <a:pPr marL="0" indent="0" algn="just"/>
            <a:r>
              <a:rPr lang="en-US" altLang="en-US" sz="2400">
                <a:latin typeface="Times New Roman" panose="02020603050405020304" charset="0"/>
                <a:cs typeface="Times New Roman" panose="02020603050405020304" charset="0"/>
              </a:rPr>
              <a:t> Decompile or disassemble the app.</a:t>
            </a:r>
            <a:endParaRPr lang="en-US" altLang="en-US" sz="2400">
              <a:latin typeface="Times New Roman" panose="02020603050405020304" charset="0"/>
              <a:cs typeface="Times New Roman" panose="02020603050405020304" charset="0"/>
            </a:endParaRPr>
          </a:p>
          <a:p>
            <a:pPr marL="0" indent="0" algn="just"/>
            <a:r>
              <a:rPr lang="en-US" altLang="en-US" sz="2400">
                <a:latin typeface="Times New Roman" panose="02020603050405020304" charset="0"/>
                <a:cs typeface="Times New Roman" panose="02020603050405020304" charset="0"/>
              </a:rPr>
              <a:t> Analyze the app’s codebase, configuration files, and dependencies etc.</a:t>
            </a:r>
            <a:endParaRPr lang="en-US" altLang="en-US" sz="2400">
              <a:latin typeface="Times New Roman" panose="02020603050405020304" charset="0"/>
              <a:cs typeface="Times New Roman" panose="0202060305040502030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614680"/>
          </a:xfrm>
        </p:spPr>
        <p:txBody>
          <a:bodyPr>
            <a:normAutofit fontScale="90000"/>
          </a:bodyPr>
          <a:p>
            <a:r>
              <a:rPr lang="en-US"/>
              <a:t>Things to look in static analysis</a:t>
            </a:r>
            <a:endParaRPr lang="en-US"/>
          </a:p>
        </p:txBody>
      </p:sp>
      <p:sp>
        <p:nvSpPr>
          <p:cNvPr id="3" name="Content Placeholder 2"/>
          <p:cNvSpPr>
            <a:spLocks noGrp="1"/>
          </p:cNvSpPr>
          <p:nvPr>
            <p:ph idx="1"/>
          </p:nvPr>
        </p:nvSpPr>
        <p:spPr>
          <a:xfrm>
            <a:off x="838200" y="980440"/>
            <a:ext cx="10515600" cy="5196840"/>
          </a:xfrm>
        </p:spPr>
        <p:txBody>
          <a:bodyPr>
            <a:normAutofit lnSpcReduction="10000"/>
          </a:bodyPr>
          <a:p>
            <a:pPr algn="just"/>
            <a:r>
              <a:rPr lang="en-US" altLang="en-US" sz="2400">
                <a:latin typeface="Times New Roman" panose="02020603050405020304" charset="0"/>
                <a:cs typeface="Times New Roman" panose="02020603050405020304" charset="0"/>
              </a:rPr>
              <a:t>Misconfigured AndroidManifest.xml (Exported components, insecure permissions, deeplinks, intents, backups, debugable,cleartext trafic,  )</a:t>
            </a:r>
            <a:endParaRPr lang="en-US" altLang="en-US" sz="2400">
              <a:latin typeface="Times New Roman" panose="02020603050405020304" charset="0"/>
              <a:cs typeface="Times New Roman" panose="02020603050405020304" charset="0"/>
            </a:endParaRPr>
          </a:p>
          <a:p>
            <a:pPr algn="just"/>
            <a:r>
              <a:rPr lang="en-US" altLang="en-US" sz="2400">
                <a:latin typeface="Times New Roman" panose="02020603050405020304" charset="0"/>
                <a:cs typeface="Times New Roman" panose="02020603050405020304" charset="0"/>
              </a:rPr>
              <a:t> Improper use of Intent (Implicit intents leading to data leaks)</a:t>
            </a:r>
            <a:endParaRPr lang="en-US" altLang="en-US" sz="2400">
              <a:latin typeface="Times New Roman" panose="02020603050405020304" charset="0"/>
              <a:cs typeface="Times New Roman" panose="02020603050405020304" charset="0"/>
            </a:endParaRPr>
          </a:p>
          <a:p>
            <a:pPr algn="just"/>
            <a:r>
              <a:rPr lang="en-US" altLang="en-US" sz="2400">
                <a:latin typeface="Times New Roman" panose="02020603050405020304" charset="0"/>
                <a:cs typeface="Times New Roman" panose="02020603050405020304" charset="0"/>
              </a:rPr>
              <a:t>Insecure file permissions (MODE_WORLD_READABLE or WRITABLE)</a:t>
            </a:r>
            <a:endParaRPr lang="en-US" altLang="en-US" sz="2400">
              <a:latin typeface="Times New Roman" panose="02020603050405020304" charset="0"/>
              <a:cs typeface="Times New Roman" panose="02020603050405020304" charset="0"/>
            </a:endParaRPr>
          </a:p>
          <a:p>
            <a:pPr algn="just"/>
            <a:r>
              <a:rPr lang="en-US" altLang="en-US" sz="2400">
                <a:latin typeface="Times New Roman" panose="02020603050405020304" charset="0"/>
                <a:cs typeface="Times New Roman" panose="02020603050405020304" charset="0"/>
              </a:rPr>
              <a:t>Use of deprecated algorithms (MD5, SHA1, ECB,DES,Random,CBC etc...)</a:t>
            </a:r>
            <a:endParaRPr lang="en-US" altLang="en-US" sz="2400">
              <a:latin typeface="Times New Roman" panose="02020603050405020304" charset="0"/>
              <a:cs typeface="Times New Roman" panose="02020603050405020304" charset="0"/>
            </a:endParaRPr>
          </a:p>
          <a:p>
            <a:pPr algn="just"/>
            <a:r>
              <a:rPr lang="en-US" altLang="en-US" sz="2400">
                <a:latin typeface="Times New Roman" panose="02020603050405020304" charset="0"/>
                <a:cs typeface="Times New Roman" panose="02020603050405020304" charset="0"/>
              </a:rPr>
              <a:t>Weak key generation or hardcoded encryption keys</a:t>
            </a:r>
            <a:endParaRPr lang="en-US" altLang="en-US" sz="2400">
              <a:latin typeface="Times New Roman" panose="02020603050405020304" charset="0"/>
              <a:cs typeface="Times New Roman" panose="02020603050405020304" charset="0"/>
            </a:endParaRPr>
          </a:p>
          <a:p>
            <a:pPr algn="just"/>
            <a:r>
              <a:rPr lang="en-US" altLang="en-US" sz="2400">
                <a:latin typeface="Times New Roman" panose="02020603050405020304" charset="0"/>
                <a:cs typeface="Times New Roman" panose="02020603050405020304" charset="0"/>
              </a:rPr>
              <a:t>Insecure Logging, Backdors left in the code</a:t>
            </a:r>
            <a:endParaRPr lang="en-US" altLang="en-US" sz="2400">
              <a:latin typeface="Times New Roman" panose="02020603050405020304" charset="0"/>
              <a:cs typeface="Times New Roman" panose="02020603050405020304" charset="0"/>
            </a:endParaRPr>
          </a:p>
          <a:p>
            <a:pPr algn="just"/>
            <a:r>
              <a:rPr lang="en-US" altLang="en-US" sz="2400">
                <a:latin typeface="Times New Roman" panose="02020603050405020304" charset="0"/>
                <a:cs typeface="Times New Roman" panose="02020603050405020304" charset="0"/>
              </a:rPr>
              <a:t>Hardcoded secrets (API keys, passwords, tokens)</a:t>
            </a:r>
            <a:endParaRPr lang="en-US" altLang="en-US" sz="2400">
              <a:latin typeface="Times New Roman" panose="02020603050405020304" charset="0"/>
              <a:cs typeface="Times New Roman" panose="02020603050405020304" charset="0"/>
            </a:endParaRPr>
          </a:p>
          <a:p>
            <a:pPr algn="just"/>
            <a:r>
              <a:rPr lang="en-US" altLang="en-US" sz="2400">
                <a:latin typeface="Times New Roman" panose="02020603050405020304" charset="0"/>
                <a:cs typeface="Times New Roman" panose="02020603050405020304" charset="0"/>
              </a:rPr>
              <a:t> Sensitive data stored in plaintext (SharedPreferences, SQLite, )</a:t>
            </a:r>
            <a:endParaRPr lang="en-US" altLang="en-US" sz="2400">
              <a:latin typeface="Times New Roman" panose="02020603050405020304" charset="0"/>
              <a:cs typeface="Times New Roman" panose="02020603050405020304" charset="0"/>
            </a:endParaRPr>
          </a:p>
          <a:p>
            <a:pPr algn="just"/>
            <a:r>
              <a:rPr lang="en-US" altLang="en-US" sz="2400">
                <a:latin typeface="Times New Roman" panose="02020603050405020304" charset="0"/>
                <a:cs typeface="Times New Roman" panose="02020603050405020304" charset="0"/>
              </a:rPr>
              <a:t>Insecure SDKs</a:t>
            </a:r>
            <a:endParaRPr lang="en-US" altLang="en-US" sz="2400">
              <a:latin typeface="Times New Roman" panose="02020603050405020304" charset="0"/>
              <a:cs typeface="Times New Roman" panose="02020603050405020304" charset="0"/>
            </a:endParaRPr>
          </a:p>
          <a:p>
            <a:pPr algn="just"/>
            <a:r>
              <a:rPr lang="en-US" altLang="en-US" sz="2400">
                <a:latin typeface="Times New Roman" panose="02020603050405020304" charset="0"/>
                <a:cs typeface="Times New Roman" panose="02020603050405020304" charset="0"/>
              </a:rPr>
              <a:t> Lack of Code Obfuscation (Easy decompilation via JADX, Ghidra)...and many more...</a:t>
            </a:r>
            <a:endParaRPr lang="en-US" altLang="en-US" sz="2400">
              <a:latin typeface="Times New Roman" panose="02020603050405020304" charset="0"/>
              <a:cs typeface="Times New Roman" panose="02020603050405020304" charset="0"/>
            </a:endParaRPr>
          </a:p>
          <a:p>
            <a:endParaRPr lang="en-US" altLang="en-US" sz="2400">
              <a:latin typeface="Times New Roman" panose="02020603050405020304" charset="0"/>
              <a:cs typeface="Times New Roman" panose="0202060305040502030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678180"/>
          </a:xfrm>
        </p:spPr>
        <p:txBody>
          <a:bodyPr>
            <a:normAutofit fontScale="90000"/>
          </a:bodyPr>
          <a:p>
            <a:r>
              <a:rPr lang="en-US"/>
              <a:t>Dynamic analysis of mobile application</a:t>
            </a:r>
            <a:endParaRPr lang="en-US"/>
          </a:p>
        </p:txBody>
      </p:sp>
      <p:sp>
        <p:nvSpPr>
          <p:cNvPr id="3" name="Content Placeholder 2"/>
          <p:cNvSpPr>
            <a:spLocks noGrp="1"/>
          </p:cNvSpPr>
          <p:nvPr>
            <p:ph idx="1"/>
          </p:nvPr>
        </p:nvSpPr>
        <p:spPr>
          <a:xfrm>
            <a:off x="838200" y="1043305"/>
            <a:ext cx="10515600" cy="5133975"/>
          </a:xfrm>
        </p:spPr>
        <p:txBody>
          <a:bodyPr>
            <a:normAutofit lnSpcReduction="20000"/>
          </a:bodyPr>
          <a:p>
            <a:pPr>
              <a:lnSpc>
                <a:spcPct val="150000"/>
              </a:lnSpc>
            </a:pPr>
            <a:r>
              <a:rPr lang="en-US" altLang="en-US" sz="2400">
                <a:latin typeface="Times New Roman" panose="02020603050405020304" charset="0"/>
                <a:cs typeface="Times New Roman" panose="02020603050405020304" charset="0"/>
              </a:rPr>
              <a:t> Dynamic analysis refers to the process of analyzing a mobile application while it is running, often in a real or simulated environment</a:t>
            </a:r>
            <a:endParaRPr lang="en-US" altLang="en-US" sz="2400">
              <a:latin typeface="Times New Roman" panose="02020603050405020304" charset="0"/>
              <a:cs typeface="Times New Roman" panose="02020603050405020304" charset="0"/>
            </a:endParaRPr>
          </a:p>
          <a:p>
            <a:pPr>
              <a:lnSpc>
                <a:spcPct val="150000"/>
              </a:lnSpc>
            </a:pPr>
            <a:r>
              <a:rPr lang="en-US" altLang="en-US" sz="2400">
                <a:latin typeface="Times New Roman" panose="02020603050405020304" charset="0"/>
                <a:cs typeface="Times New Roman" panose="02020603050405020304" charset="0"/>
              </a:rPr>
              <a:t>  Identify runtime vulnerabilities and avoiding false positives</a:t>
            </a:r>
            <a:endParaRPr lang="en-US" altLang="en-US" sz="2400">
              <a:latin typeface="Times New Roman" panose="02020603050405020304" charset="0"/>
              <a:cs typeface="Times New Roman" panose="02020603050405020304" charset="0"/>
            </a:endParaRPr>
          </a:p>
          <a:p>
            <a:pPr>
              <a:lnSpc>
                <a:spcPct val="150000"/>
              </a:lnSpc>
            </a:pPr>
            <a:r>
              <a:rPr lang="en-US" altLang="en-US" sz="2400">
                <a:latin typeface="Times New Roman" panose="02020603050405020304" charset="0"/>
                <a:cs typeface="Times New Roman" panose="02020603050405020304" charset="0"/>
              </a:rPr>
              <a:t>Detect vulnerabilities that static analysis may not reveal.</a:t>
            </a:r>
            <a:endParaRPr lang="en-US" altLang="en-US" sz="2400">
              <a:latin typeface="Times New Roman" panose="02020603050405020304" charset="0"/>
              <a:cs typeface="Times New Roman" panose="02020603050405020304" charset="0"/>
            </a:endParaRPr>
          </a:p>
          <a:p>
            <a:pPr>
              <a:lnSpc>
                <a:spcPct val="150000"/>
              </a:lnSpc>
            </a:pPr>
            <a:r>
              <a:rPr lang="en-US" altLang="en-US" sz="2400">
                <a:latin typeface="Times New Roman" panose="02020603050405020304" charset="0"/>
                <a:cs typeface="Times New Roman" panose="02020603050405020304" charset="0"/>
              </a:rPr>
              <a:t>Assess how an app behaves in a real-world scenario.</a:t>
            </a:r>
            <a:endParaRPr lang="en-US" altLang="en-US" sz="2400">
              <a:latin typeface="Times New Roman" panose="02020603050405020304" charset="0"/>
              <a:cs typeface="Times New Roman" panose="02020603050405020304" charset="0"/>
            </a:endParaRPr>
          </a:p>
          <a:p>
            <a:pPr>
              <a:lnSpc>
                <a:spcPct val="150000"/>
              </a:lnSpc>
            </a:pPr>
            <a:r>
              <a:rPr lang="en-US" altLang="en-US" sz="2400">
                <a:latin typeface="Times New Roman" panose="02020603050405020304" charset="0"/>
                <a:cs typeface="Times New Roman" panose="02020603050405020304" charset="0"/>
              </a:rPr>
              <a:t>Identify Exploitable Vulnerabilities: Discover vulnerabilities such as memory corruption, improper authentication, insecure data storage, and API issues.</a:t>
            </a:r>
            <a:endParaRPr lang="en-US" altLang="en-US" sz="2400">
              <a:latin typeface="Times New Roman" panose="02020603050405020304" charset="0"/>
              <a:cs typeface="Times New Roman" panose="02020603050405020304" charset="0"/>
            </a:endParaRPr>
          </a:p>
          <a:p>
            <a:pPr>
              <a:lnSpc>
                <a:spcPct val="150000"/>
              </a:lnSpc>
            </a:pPr>
            <a:r>
              <a:rPr lang="en-US" altLang="en-US" sz="2400">
                <a:latin typeface="Times New Roman" panose="02020603050405020304" charset="0"/>
                <a:cs typeface="Times New Roman" panose="02020603050405020304" charset="0"/>
              </a:rPr>
              <a:t>Focuses on the app's behavior while it's running (runtime analysis, API communication, and real-world interaction.</a:t>
            </a:r>
            <a:endParaRPr lang="en-US" altLang="en-US" sz="2400">
              <a:latin typeface="Times New Roman" panose="02020603050405020304" charset="0"/>
              <a:cs typeface="Times New Roman" panose="0202060305040502030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621665"/>
          </a:xfrm>
        </p:spPr>
        <p:txBody>
          <a:bodyPr>
            <a:normAutofit fontScale="90000"/>
          </a:bodyPr>
          <a:p>
            <a:r>
              <a:rPr lang="en-US" altLang="en-US"/>
              <a:t> Tools for Dynamic Analysis</a:t>
            </a:r>
            <a:endParaRPr lang="en-US" altLang="en-US"/>
          </a:p>
        </p:txBody>
      </p:sp>
      <p:sp>
        <p:nvSpPr>
          <p:cNvPr id="3" name="Content Placeholder 2"/>
          <p:cNvSpPr>
            <a:spLocks noGrp="1"/>
          </p:cNvSpPr>
          <p:nvPr>
            <p:ph idx="1"/>
          </p:nvPr>
        </p:nvSpPr>
        <p:spPr>
          <a:xfrm>
            <a:off x="838200" y="986790"/>
            <a:ext cx="10515600" cy="5190490"/>
          </a:xfrm>
        </p:spPr>
        <p:txBody>
          <a:bodyPr>
            <a:normAutofit fontScale="90000"/>
          </a:bodyPr>
          <a:p>
            <a:pPr algn="just">
              <a:lnSpc>
                <a:spcPct val="150000"/>
              </a:lnSpc>
            </a:pPr>
            <a:r>
              <a:rPr lang="en-US" altLang="en-US" sz="2400">
                <a:latin typeface="Times New Roman" panose="02020603050405020304" charset="0"/>
                <a:cs typeface="Times New Roman" panose="02020603050405020304" charset="0"/>
              </a:rPr>
              <a:t>Frida</a:t>
            </a:r>
            <a:endParaRPr lang="en-US" altLang="en-US" sz="2400">
              <a:latin typeface="Times New Roman" panose="02020603050405020304" charset="0"/>
              <a:cs typeface="Times New Roman" panose="02020603050405020304" charset="0"/>
            </a:endParaRPr>
          </a:p>
          <a:p>
            <a:pPr algn="just">
              <a:lnSpc>
                <a:spcPct val="150000"/>
              </a:lnSpc>
            </a:pPr>
            <a:r>
              <a:rPr lang="en-US" altLang="en-US" sz="2400">
                <a:latin typeface="Times New Roman" panose="02020603050405020304" charset="0"/>
                <a:cs typeface="Times New Roman" panose="02020603050405020304" charset="0"/>
              </a:rPr>
              <a:t>Genymotion</a:t>
            </a:r>
            <a:endParaRPr lang="en-US" altLang="en-US" sz="2400">
              <a:latin typeface="Times New Roman" panose="02020603050405020304" charset="0"/>
              <a:cs typeface="Times New Roman" panose="02020603050405020304" charset="0"/>
            </a:endParaRPr>
          </a:p>
          <a:p>
            <a:pPr algn="just">
              <a:lnSpc>
                <a:spcPct val="150000"/>
              </a:lnSpc>
            </a:pPr>
            <a:r>
              <a:rPr lang="en-US" altLang="en-US" sz="2400">
                <a:latin typeface="Times New Roman" panose="02020603050405020304" charset="0"/>
                <a:cs typeface="Times New Roman" panose="02020603050405020304" charset="0"/>
              </a:rPr>
              <a:t>Burp Suite and owasp zap</a:t>
            </a:r>
            <a:endParaRPr lang="en-US" altLang="en-US" sz="2400">
              <a:latin typeface="Times New Roman" panose="02020603050405020304" charset="0"/>
              <a:cs typeface="Times New Roman" panose="02020603050405020304" charset="0"/>
            </a:endParaRPr>
          </a:p>
          <a:p>
            <a:pPr algn="just">
              <a:lnSpc>
                <a:spcPct val="150000"/>
              </a:lnSpc>
            </a:pPr>
            <a:r>
              <a:rPr lang="en-US" altLang="en-US" sz="2400">
                <a:latin typeface="Times New Roman" panose="02020603050405020304" charset="0"/>
                <a:cs typeface="Times New Roman" panose="02020603050405020304" charset="0"/>
              </a:rPr>
              <a:t>Objection</a:t>
            </a:r>
            <a:endParaRPr lang="en-US" altLang="en-US" sz="2400">
              <a:latin typeface="Times New Roman" panose="02020603050405020304" charset="0"/>
              <a:cs typeface="Times New Roman" panose="02020603050405020304" charset="0"/>
            </a:endParaRPr>
          </a:p>
          <a:p>
            <a:pPr algn="just">
              <a:lnSpc>
                <a:spcPct val="150000"/>
              </a:lnSpc>
            </a:pPr>
            <a:r>
              <a:rPr lang="en-US" altLang="en-US" sz="2400">
                <a:latin typeface="Times New Roman" panose="02020603050405020304" charset="0"/>
                <a:cs typeface="Times New Roman" panose="02020603050405020304" charset="0"/>
              </a:rPr>
              <a:t>Drozer</a:t>
            </a:r>
            <a:endParaRPr lang="en-US" altLang="en-US" sz="2400">
              <a:latin typeface="Times New Roman" panose="02020603050405020304" charset="0"/>
              <a:cs typeface="Times New Roman" panose="02020603050405020304" charset="0"/>
            </a:endParaRPr>
          </a:p>
          <a:p>
            <a:pPr algn="just">
              <a:lnSpc>
                <a:spcPct val="150000"/>
              </a:lnSpc>
            </a:pPr>
            <a:r>
              <a:rPr lang="en-US" altLang="en-US" sz="2400">
                <a:latin typeface="Times New Roman" panose="02020603050405020304" charset="0"/>
                <a:cs typeface="Times New Roman" panose="02020603050405020304" charset="0"/>
              </a:rPr>
              <a:t>MobSF(Mobile Security Framework)</a:t>
            </a:r>
            <a:endParaRPr lang="en-US" altLang="en-US" sz="2400">
              <a:latin typeface="Times New Roman" panose="02020603050405020304" charset="0"/>
              <a:cs typeface="Times New Roman" panose="02020603050405020304" charset="0"/>
            </a:endParaRPr>
          </a:p>
          <a:p>
            <a:pPr algn="just">
              <a:lnSpc>
                <a:spcPct val="150000"/>
              </a:lnSpc>
            </a:pPr>
            <a:r>
              <a:rPr lang="en-US" altLang="en-US" sz="2400">
                <a:latin typeface="Times New Roman" panose="02020603050405020304" charset="0"/>
                <a:cs typeface="Times New Roman" panose="02020603050405020304" charset="0"/>
              </a:rPr>
              <a:t>Wireshark</a:t>
            </a:r>
            <a:endParaRPr lang="en-US" altLang="en-US" sz="2400">
              <a:latin typeface="Times New Roman" panose="02020603050405020304" charset="0"/>
              <a:cs typeface="Times New Roman" panose="02020603050405020304" charset="0"/>
            </a:endParaRPr>
          </a:p>
          <a:p>
            <a:pPr algn="just">
              <a:lnSpc>
                <a:spcPct val="150000"/>
              </a:lnSpc>
            </a:pPr>
            <a:r>
              <a:rPr lang="en-US" altLang="en-US" sz="2400">
                <a:latin typeface="Times New Roman" panose="02020603050405020304" charset="0"/>
                <a:cs typeface="Times New Roman" panose="02020603050405020304" charset="0"/>
              </a:rPr>
              <a:t>ADB          and many more ........</a:t>
            </a:r>
            <a:endParaRPr lang="en-US" altLang="en-US" sz="2400">
              <a:latin typeface="Times New Roman" panose="02020603050405020304" charset="0"/>
              <a:cs typeface="Times New Roman" panose="0202060305040502030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633730"/>
          </a:xfrm>
        </p:spPr>
        <p:txBody>
          <a:bodyPr>
            <a:normAutofit fontScale="90000"/>
          </a:bodyPr>
          <a:p>
            <a:r>
              <a:rPr lang="en-US" altLang="en-US"/>
              <a:t>Methodology</a:t>
            </a:r>
            <a:endParaRPr lang="en-US" altLang="en-US"/>
          </a:p>
        </p:txBody>
      </p:sp>
      <p:sp>
        <p:nvSpPr>
          <p:cNvPr id="3" name="Content Placeholder 2"/>
          <p:cNvSpPr>
            <a:spLocks noGrp="1"/>
          </p:cNvSpPr>
          <p:nvPr>
            <p:ph idx="1"/>
          </p:nvPr>
        </p:nvSpPr>
        <p:spPr>
          <a:xfrm>
            <a:off x="685800" y="998855"/>
            <a:ext cx="10515600" cy="4888230"/>
          </a:xfrm>
        </p:spPr>
        <p:txBody>
          <a:bodyPr>
            <a:normAutofit lnSpcReduction="10000"/>
          </a:bodyPr>
          <a:p>
            <a:pPr algn="just"/>
            <a:r>
              <a:rPr lang="en-US" altLang="en-US" sz="2400" b="1">
                <a:latin typeface="Times New Roman" panose="02020603050405020304" charset="0"/>
                <a:cs typeface="Times New Roman" panose="02020603050405020304" charset="0"/>
              </a:rPr>
              <a:t>Set up a testing environment </a:t>
            </a:r>
            <a:r>
              <a:rPr lang="en-US" altLang="en-US" sz="2400">
                <a:latin typeface="Times New Roman" panose="02020603050405020304" charset="0"/>
                <a:cs typeface="Times New Roman" panose="02020603050405020304" charset="0"/>
              </a:rPr>
              <a:t>(emulator or physical device).</a:t>
            </a:r>
            <a:endParaRPr lang="en-US" altLang="en-US" sz="2400">
              <a:latin typeface="Times New Roman" panose="02020603050405020304" charset="0"/>
              <a:cs typeface="Times New Roman" panose="02020603050405020304" charset="0"/>
            </a:endParaRPr>
          </a:p>
          <a:p>
            <a:pPr algn="just"/>
            <a:r>
              <a:rPr lang="en-US" altLang="en-US" sz="2400">
                <a:latin typeface="Times New Roman" panose="02020603050405020304" charset="0"/>
                <a:cs typeface="Times New Roman" panose="02020603050405020304" charset="0"/>
              </a:rPr>
              <a:t>Install and configure analysis tools (e.g., Burp Suite, Frida).</a:t>
            </a:r>
            <a:endParaRPr lang="en-US" altLang="en-US" sz="2400">
              <a:latin typeface="Times New Roman" panose="02020603050405020304" charset="0"/>
              <a:cs typeface="Times New Roman" panose="02020603050405020304" charset="0"/>
            </a:endParaRPr>
          </a:p>
          <a:p>
            <a:pPr algn="just"/>
            <a:r>
              <a:rPr lang="en-US" altLang="en-US" sz="2400">
                <a:latin typeface="Times New Roman" panose="02020603050405020304" charset="0"/>
                <a:cs typeface="Times New Roman" panose="02020603050405020304" charset="0"/>
              </a:rPr>
              <a:t>Intercept network traffic and analyze API interactions.</a:t>
            </a:r>
            <a:endParaRPr lang="en-US" altLang="en-US" sz="2400">
              <a:latin typeface="Times New Roman" panose="02020603050405020304" charset="0"/>
              <a:cs typeface="Times New Roman" panose="02020603050405020304" charset="0"/>
            </a:endParaRPr>
          </a:p>
          <a:p>
            <a:pPr algn="just"/>
            <a:r>
              <a:rPr lang="en-US" altLang="en-US" sz="2400">
                <a:latin typeface="Times New Roman" panose="02020603050405020304" charset="0"/>
                <a:cs typeface="Times New Roman" panose="02020603050405020304" charset="0"/>
              </a:rPr>
              <a:t> Monitor the app’s behavior (e.g., authentication, data handling).</a:t>
            </a:r>
            <a:endParaRPr lang="en-US" altLang="en-US" sz="2400">
              <a:latin typeface="Times New Roman" panose="02020603050405020304" charset="0"/>
              <a:cs typeface="Times New Roman" panose="02020603050405020304" charset="0"/>
            </a:endParaRPr>
          </a:p>
          <a:p>
            <a:pPr algn="just"/>
            <a:r>
              <a:rPr lang="en-US" altLang="en-US" sz="2400">
                <a:latin typeface="Times New Roman" panose="02020603050405020304" charset="0"/>
                <a:cs typeface="Times New Roman" panose="02020603050405020304" charset="0"/>
              </a:rPr>
              <a:t>Manipulate app runtime behavior (e.g., bypassing SSL pinning or root detection).</a:t>
            </a:r>
            <a:endParaRPr lang="en-US" altLang="en-US" sz="2400">
              <a:latin typeface="Times New Roman" panose="02020603050405020304" charset="0"/>
              <a:cs typeface="Times New Roman" panose="02020603050405020304" charset="0"/>
            </a:endParaRPr>
          </a:p>
          <a:p>
            <a:pPr algn="just"/>
            <a:r>
              <a:rPr lang="en-US" altLang="en-US" sz="2400">
                <a:latin typeface="Times New Roman" panose="02020603050405020304" charset="0"/>
                <a:cs typeface="Times New Roman" panose="02020603050405020304" charset="0"/>
              </a:rPr>
              <a:t>Sensitive information like credit card details or user data being stored or transmitted in plaintext.</a:t>
            </a:r>
            <a:endParaRPr lang="en-US" altLang="en-US" sz="2400">
              <a:latin typeface="Times New Roman" panose="02020603050405020304" charset="0"/>
              <a:cs typeface="Times New Roman" panose="02020603050405020304" charset="0"/>
            </a:endParaRPr>
          </a:p>
          <a:p>
            <a:pPr algn="just"/>
            <a:r>
              <a:rPr lang="en-US" altLang="en-US" sz="2400">
                <a:latin typeface="Times New Roman" panose="02020603050405020304" charset="0"/>
                <a:cs typeface="Times New Roman" panose="02020603050405020304" charset="0"/>
              </a:rPr>
              <a:t>Weak or no encryption during API calls or external communication.</a:t>
            </a:r>
            <a:endParaRPr lang="en-US" altLang="en-US" sz="2400">
              <a:latin typeface="Times New Roman" panose="02020603050405020304" charset="0"/>
              <a:cs typeface="Times New Roman" panose="02020603050405020304" charset="0"/>
            </a:endParaRPr>
          </a:p>
          <a:p>
            <a:pPr algn="just"/>
            <a:r>
              <a:rPr lang="en-US" altLang="en-US" sz="2400">
                <a:latin typeface="Times New Roman" panose="02020603050405020304" charset="0"/>
                <a:cs typeface="Times New Roman" panose="02020603050405020304" charset="0"/>
              </a:rPr>
              <a:t>Authentication &amp; Session Management</a:t>
            </a:r>
            <a:endParaRPr lang="en-US" altLang="en-US" sz="2400">
              <a:latin typeface="Times New Roman" panose="02020603050405020304" charset="0"/>
              <a:cs typeface="Times New Roman" panose="02020603050405020304" charset="0"/>
            </a:endParaRPr>
          </a:p>
          <a:p>
            <a:pPr algn="just"/>
            <a:r>
              <a:rPr lang="en-US" altLang="en-US" sz="2400">
                <a:latin typeface="Times New Roman" panose="02020603050405020304" charset="0"/>
                <a:cs typeface="Times New Roman" panose="02020603050405020304" charset="0"/>
              </a:rPr>
              <a:t>Unprotected deep links or exported components and  etc.......</a:t>
            </a:r>
            <a:endParaRPr lang="en-US" altLang="en-US" sz="2400">
              <a:latin typeface="Times New Roman" panose="02020603050405020304" charset="0"/>
              <a:cs typeface="Times New Roman" panose="02020603050405020304" charset="0"/>
            </a:endParaRPr>
          </a:p>
          <a:p>
            <a:pPr algn="just"/>
            <a:endParaRPr lang="en-US" altLang="en-US" sz="2400">
              <a:latin typeface="Times New Roman" panose="02020603050405020304" charset="0"/>
              <a:cs typeface="Times New Roman" panose="0202060305040502030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806450"/>
          </a:xfrm>
        </p:spPr>
        <p:txBody>
          <a:bodyPr/>
          <a:p>
            <a:r>
              <a:rPr lang="en-US" altLang="en-US"/>
              <a:t> Intercepting Android Traffic via burp suite</a:t>
            </a:r>
            <a:endParaRPr lang="en-US" altLang="en-US"/>
          </a:p>
        </p:txBody>
      </p:sp>
      <p:sp>
        <p:nvSpPr>
          <p:cNvPr id="3" name="Content Placeholder 2"/>
          <p:cNvSpPr>
            <a:spLocks noGrp="1"/>
          </p:cNvSpPr>
          <p:nvPr>
            <p:ph idx="1"/>
          </p:nvPr>
        </p:nvSpPr>
        <p:spPr>
          <a:xfrm>
            <a:off x="838200" y="1294765"/>
            <a:ext cx="10515600" cy="4882515"/>
          </a:xfrm>
        </p:spPr>
        <p:txBody>
          <a:bodyPr/>
          <a:p>
            <a:pPr algn="just">
              <a:lnSpc>
                <a:spcPct val="150000"/>
              </a:lnSpc>
            </a:pPr>
            <a:r>
              <a:rPr lang="en-US" altLang="en-US" sz="2400">
                <a:latin typeface="Times New Roman" panose="02020603050405020304" charset="0"/>
                <a:cs typeface="Times New Roman" panose="02020603050405020304" charset="0"/>
              </a:rPr>
              <a:t>Intercepting Android traffic refers to the process of capturing and analyzing the data exchanged between an Android mobile application and remote servers. This is a critical step in mobile application security testing, allowing security professionals to uncover.</a:t>
            </a:r>
            <a:endParaRPr lang="en-US" altLang="en-US" sz="2400">
              <a:latin typeface="Times New Roman" panose="02020603050405020304" charset="0"/>
              <a:cs typeface="Times New Roman" panose="02020603050405020304" charset="0"/>
            </a:endParaRPr>
          </a:p>
          <a:p>
            <a:pPr algn="just">
              <a:lnSpc>
                <a:spcPct val="150000"/>
              </a:lnSpc>
            </a:pPr>
            <a:r>
              <a:rPr lang="en-US" altLang="en-US" sz="2400" b="1">
                <a:latin typeface="Times New Roman" panose="02020603050405020304" charset="0"/>
                <a:cs typeface="Times New Roman" panose="02020603050405020304" charset="0"/>
              </a:rPr>
              <a:t>A Man-in-the-Middle (MITM) </a:t>
            </a:r>
            <a:r>
              <a:rPr lang="en-US" altLang="en-US" sz="2400">
                <a:latin typeface="Times New Roman" panose="02020603050405020304" charset="0"/>
                <a:cs typeface="Times New Roman" panose="02020603050405020304" charset="0"/>
              </a:rPr>
              <a:t>attack is a technique where an attacker secretly intercepts, alters, or relays communication between two endpoints—in this case, the mobile app and the server.</a:t>
            </a:r>
            <a:endParaRPr lang="en-US" altLang="en-US" sz="2400">
              <a:latin typeface="Times New Roman" panose="02020603050405020304" charset="0"/>
              <a:cs typeface="Times New Roman" panose="02020603050405020304" charset="0"/>
            </a:endParaRPr>
          </a:p>
          <a:p>
            <a:pPr algn="just">
              <a:lnSpc>
                <a:spcPct val="150000"/>
              </a:lnSpc>
            </a:pPr>
            <a:endParaRPr lang="en-US" altLang="en-US" sz="2400">
              <a:latin typeface="Times New Roman" panose="02020603050405020304" charset="0"/>
              <a:cs typeface="Times New Roman" panose="0202060305040502030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812165"/>
          </a:xfrm>
        </p:spPr>
        <p:txBody>
          <a:bodyPr>
            <a:normAutofit fontScale="90000"/>
          </a:bodyPr>
          <a:p>
            <a:r>
              <a:rPr lang="en-US" altLang="en-US"/>
              <a:t>Configuring an Android device to work with Burp Suite</a:t>
            </a:r>
            <a:endParaRPr lang="en-US" altLang="en-US"/>
          </a:p>
        </p:txBody>
      </p:sp>
      <p:sp>
        <p:nvSpPr>
          <p:cNvPr id="3" name="Content Placeholder 2"/>
          <p:cNvSpPr>
            <a:spLocks noGrp="1"/>
          </p:cNvSpPr>
          <p:nvPr>
            <p:ph idx="1"/>
          </p:nvPr>
        </p:nvSpPr>
        <p:spPr>
          <a:xfrm>
            <a:off x="838200" y="1251585"/>
            <a:ext cx="10515600" cy="4925695"/>
          </a:xfrm>
        </p:spPr>
        <p:txBody>
          <a:bodyPr/>
          <a:p>
            <a:pPr marL="0" indent="0">
              <a:buNone/>
            </a:pPr>
            <a:r>
              <a:rPr lang="en-US" altLang="en-US" b="1"/>
              <a:t>Step 1: Configure a dedicated proxy listener in Burp</a:t>
            </a:r>
            <a:endParaRPr lang="en-US" altLang="en-US" b="1"/>
          </a:p>
          <a:p>
            <a:r>
              <a:rPr lang="en-US" altLang="en-US"/>
              <a:t>In Burp, open the Settings dialog.</a:t>
            </a:r>
            <a:endParaRPr lang="en-US" altLang="en-US"/>
          </a:p>
          <a:p>
            <a:r>
              <a:rPr lang="en-US" altLang="en-US"/>
              <a:t>    Go to Tools &gt; Proxy.</a:t>
            </a:r>
            <a:endParaRPr lang="en-US" altLang="en-US"/>
          </a:p>
          <a:p>
            <a:r>
              <a:rPr lang="en-US" altLang="en-US"/>
              <a:t>    Under Proxy Listeners, click Add.</a:t>
            </a:r>
            <a:endParaRPr lang="en-US" altLang="en-US"/>
          </a:p>
          <a:p>
            <a:r>
              <a:rPr lang="en-US" altLang="en-US"/>
              <a:t>    On the Binding tab, set Bind to port to any available port.</a:t>
            </a:r>
            <a:endParaRPr lang="en-US" altLang="en-US"/>
          </a:p>
          <a:p>
            <a:r>
              <a:rPr lang="en-US" altLang="en-US"/>
              <a:t>    Set Bind to address to All interfaces.</a:t>
            </a:r>
            <a:endParaRPr lang="en-US" altLang="en-US"/>
          </a:p>
          <a:p>
            <a:r>
              <a:rPr lang="en-US" altLang="en-US"/>
              <a:t>    Click OK and confirm your entries when prompted.</a:t>
            </a:r>
            <a:endParaRPr lang="en-US" altLang="en-US"/>
          </a:p>
          <a:p>
            <a:endParaRPr lang="en-US"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763905"/>
          </a:xfrm>
        </p:spPr>
        <p:txBody>
          <a:bodyPr>
            <a:normAutofit fontScale="90000"/>
          </a:bodyPr>
          <a:p>
            <a:r>
              <a:rPr lang="en-US" altLang="en-US"/>
              <a:t>Step 2: Configure your device to proxy traffic through Burp</a:t>
            </a:r>
            <a:endParaRPr lang="en-US" altLang="en-US"/>
          </a:p>
        </p:txBody>
      </p:sp>
      <p:sp>
        <p:nvSpPr>
          <p:cNvPr id="3" name="Content Placeholder 2"/>
          <p:cNvSpPr>
            <a:spLocks noGrp="1"/>
          </p:cNvSpPr>
          <p:nvPr>
            <p:ph idx="1"/>
          </p:nvPr>
        </p:nvSpPr>
        <p:spPr>
          <a:xfrm>
            <a:off x="838200" y="1282065"/>
            <a:ext cx="10515600" cy="4895215"/>
          </a:xfrm>
        </p:spPr>
        <p:txBody>
          <a:bodyPr>
            <a:normAutofit lnSpcReduction="10000"/>
          </a:bodyPr>
          <a:p>
            <a:pPr algn="just"/>
            <a:r>
              <a:rPr lang="en-US" altLang="en-US" sz="2665">
                <a:latin typeface="Times New Roman" panose="02020603050405020304" charset="0"/>
                <a:cs typeface="Times New Roman" panose="02020603050405020304" charset="0"/>
              </a:rPr>
              <a:t>On your Android device, go to the network and internet settings.</a:t>
            </a:r>
            <a:endParaRPr lang="en-US" altLang="en-US" sz="2665">
              <a:latin typeface="Times New Roman" panose="02020603050405020304" charset="0"/>
              <a:cs typeface="Times New Roman" panose="02020603050405020304" charset="0"/>
            </a:endParaRPr>
          </a:p>
          <a:p>
            <a:pPr algn="just"/>
            <a:r>
              <a:rPr lang="en-US" altLang="en-US" sz="2665">
                <a:latin typeface="Times New Roman" panose="02020603050405020304" charset="0"/>
                <a:cs typeface="Times New Roman" panose="02020603050405020304" charset="0"/>
              </a:rPr>
              <a:t>Open the network details for the Wi-Fi network that you want to use for testing.</a:t>
            </a:r>
            <a:endParaRPr lang="en-US" altLang="en-US" sz="2665">
              <a:latin typeface="Times New Roman" panose="02020603050405020304" charset="0"/>
              <a:cs typeface="Times New Roman" panose="02020603050405020304" charset="0"/>
            </a:endParaRPr>
          </a:p>
          <a:p>
            <a:pPr algn="just"/>
            <a:r>
              <a:rPr lang="en-US" altLang="en-US" sz="2665">
                <a:latin typeface="Times New Roman" panose="02020603050405020304" charset="0"/>
                <a:cs typeface="Times New Roman" panose="02020603050405020304" charset="0"/>
              </a:rPr>
              <a:t>Enter edit mode.</a:t>
            </a:r>
            <a:endParaRPr lang="en-US" altLang="en-US" sz="2665">
              <a:latin typeface="Times New Roman" panose="02020603050405020304" charset="0"/>
              <a:cs typeface="Times New Roman" panose="02020603050405020304" charset="0"/>
            </a:endParaRPr>
          </a:p>
          <a:p>
            <a:pPr algn="just"/>
            <a:r>
              <a:rPr lang="en-US" altLang="en-US" sz="2665">
                <a:latin typeface="Times New Roman" panose="02020603050405020304" charset="0"/>
                <a:cs typeface="Times New Roman" panose="02020603050405020304" charset="0"/>
              </a:rPr>
              <a:t>In the advanced settings, choose the option to configure a proxy manually.</a:t>
            </a:r>
            <a:endParaRPr lang="en-US" altLang="en-US" sz="2665">
              <a:latin typeface="Times New Roman" panose="02020603050405020304" charset="0"/>
              <a:cs typeface="Times New Roman" panose="02020603050405020304" charset="0"/>
            </a:endParaRPr>
          </a:p>
          <a:p>
            <a:pPr algn="just"/>
            <a:r>
              <a:rPr lang="en-US" altLang="en-US" sz="2665">
                <a:latin typeface="Times New Roman" panose="02020603050405020304" charset="0"/>
                <a:cs typeface="Times New Roman" panose="02020603050405020304" charset="0"/>
              </a:rPr>
              <a:t>Set the Proxy hostname to the IP address of the machine you're using to run Burp.</a:t>
            </a:r>
            <a:endParaRPr lang="en-US" altLang="en-US" sz="2665">
              <a:latin typeface="Times New Roman" panose="02020603050405020304" charset="0"/>
              <a:cs typeface="Times New Roman" panose="02020603050405020304" charset="0"/>
            </a:endParaRPr>
          </a:p>
          <a:p>
            <a:pPr algn="just"/>
            <a:r>
              <a:rPr lang="en-US" altLang="en-US" sz="2665">
                <a:latin typeface="Times New Roman" panose="02020603050405020304" charset="0"/>
                <a:cs typeface="Times New Roman" panose="02020603050405020304" charset="0"/>
              </a:rPr>
              <a:t>Set the Proxy port to the port you assigned to the new proxy listener you configured in Burp. For more information, see Configure a dedicated proxy listener in Burp</a:t>
            </a:r>
            <a:endParaRPr lang="en-US" altLang="en-US" sz="2665">
              <a:latin typeface="Times New Roman" panose="02020603050405020304" charset="0"/>
              <a:cs typeface="Times New Roman" panose="02020603050405020304" charset="0"/>
            </a:endParaRPr>
          </a:p>
          <a:p>
            <a:pPr algn="just"/>
            <a:r>
              <a:rPr lang="en-US" altLang="en-US" sz="2665">
                <a:latin typeface="Times New Roman" panose="02020603050405020304" charset="0"/>
                <a:cs typeface="Times New Roman" panose="02020603050405020304" charset="0"/>
              </a:rPr>
              <a:t>Save your changes and then connect to the Wi-Fi network. Your device's web traffic is now proxied through Burp.</a:t>
            </a:r>
            <a:endParaRPr lang="en-US" altLang="en-US" sz="2665">
              <a:latin typeface="Times New Roman" panose="02020603050405020304" charset="0"/>
              <a:cs typeface="Times New Roman" panose="02020603050405020304" charset="0"/>
            </a:endParaRPr>
          </a:p>
          <a:p>
            <a:pPr algn="just"/>
            <a:endParaRPr lang="en-US" altLang="en-US" sz="2665">
              <a:latin typeface="Times New Roman" panose="02020603050405020304" charset="0"/>
              <a:cs typeface="Times New Roman" panose="0202060305040502030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868045"/>
          </a:xfrm>
        </p:spPr>
        <p:txBody>
          <a:bodyPr>
            <a:normAutofit fontScale="90000"/>
          </a:bodyPr>
          <a:p>
            <a:r>
              <a:rPr lang="en-US" altLang="en-US"/>
              <a:t>Step 3: Add Burp's CA certificate to your device's trust store</a:t>
            </a:r>
            <a:endParaRPr lang="en-US" altLang="en-US"/>
          </a:p>
        </p:txBody>
      </p:sp>
      <p:sp>
        <p:nvSpPr>
          <p:cNvPr id="3" name="Content Placeholder 2"/>
          <p:cNvSpPr>
            <a:spLocks noGrp="1"/>
          </p:cNvSpPr>
          <p:nvPr>
            <p:ph idx="1"/>
          </p:nvPr>
        </p:nvSpPr>
        <p:spPr>
          <a:xfrm>
            <a:off x="714375" y="1374140"/>
            <a:ext cx="10515600" cy="4351338"/>
          </a:xfrm>
        </p:spPr>
        <p:txBody>
          <a:bodyPr>
            <a:normAutofit/>
          </a:bodyPr>
          <a:p>
            <a:r>
              <a:rPr lang="en-US" altLang="en-US" sz="2400">
                <a:latin typeface="Times New Roman" panose="02020603050405020304" charset="0"/>
                <a:cs typeface="Times New Roman" panose="02020603050405020304" charset="0"/>
              </a:rPr>
              <a:t>In Burp, open the Settings dialog.</a:t>
            </a:r>
            <a:endParaRPr lang="en-US" altLang="en-US" sz="2400">
              <a:latin typeface="Times New Roman" panose="02020603050405020304" charset="0"/>
              <a:cs typeface="Times New Roman" panose="02020603050405020304" charset="0"/>
            </a:endParaRPr>
          </a:p>
          <a:p>
            <a:r>
              <a:rPr lang="en-US" altLang="en-US" sz="2400">
                <a:latin typeface="Times New Roman" panose="02020603050405020304" charset="0"/>
                <a:cs typeface="Times New Roman" panose="02020603050405020304" charset="0"/>
              </a:rPr>
              <a:t>Go to Tools &gt; Proxy.</a:t>
            </a:r>
            <a:endParaRPr lang="en-US" altLang="en-US" sz="2400">
              <a:latin typeface="Times New Roman" panose="02020603050405020304" charset="0"/>
              <a:cs typeface="Times New Roman" panose="02020603050405020304" charset="0"/>
            </a:endParaRPr>
          </a:p>
          <a:p>
            <a:r>
              <a:rPr lang="en-US" altLang="en-US" sz="2400">
                <a:latin typeface="Times New Roman" panose="02020603050405020304" charset="0"/>
                <a:cs typeface="Times New Roman" panose="02020603050405020304" charset="0"/>
              </a:rPr>
              <a:t>Under Proxy Listeners, click Import / export CA certificate.</a:t>
            </a:r>
            <a:endParaRPr lang="en-US" altLang="en-US" sz="2400">
              <a:latin typeface="Times New Roman" panose="02020603050405020304" charset="0"/>
              <a:cs typeface="Times New Roman" panose="02020603050405020304" charset="0"/>
            </a:endParaRPr>
          </a:p>
          <a:p>
            <a:r>
              <a:rPr lang="en-US" altLang="en-US" sz="2400">
                <a:latin typeface="Times New Roman" panose="02020603050405020304" charset="0"/>
                <a:cs typeface="Times New Roman" panose="02020603050405020304" charset="0"/>
              </a:rPr>
              <a:t>In CA Certificate dialog, select Export &gt; Certificate in DER format and click Next.</a:t>
            </a:r>
            <a:endParaRPr lang="en-US" altLang="en-US" sz="2400">
              <a:latin typeface="Times New Roman" panose="02020603050405020304" charset="0"/>
              <a:cs typeface="Times New Roman" panose="02020603050405020304" charset="0"/>
            </a:endParaRPr>
          </a:p>
          <a:p>
            <a:r>
              <a:rPr lang="en-US" altLang="en-US" sz="2400">
                <a:latin typeface="Times New Roman" panose="02020603050405020304" charset="0"/>
                <a:cs typeface="Times New Roman" panose="02020603050405020304" charset="0"/>
              </a:rPr>
              <a:t>Enter a filename and location for the certificate. Note that you need to explicitly include the .der file extension.</a:t>
            </a:r>
            <a:endParaRPr lang="en-US" altLang="en-US" sz="2400">
              <a:latin typeface="Times New Roman" panose="02020603050405020304" charset="0"/>
              <a:cs typeface="Times New Roman" panose="02020603050405020304" charset="0"/>
            </a:endParaRPr>
          </a:p>
          <a:p>
            <a:r>
              <a:rPr lang="en-US" altLang="en-US" sz="2400">
                <a:latin typeface="Times New Roman" panose="02020603050405020304" charset="0"/>
                <a:cs typeface="Times New Roman" panose="02020603050405020304" charset="0"/>
              </a:rPr>
              <a:t>Click Next. The dialog indicates that the certificate was successfully exported.</a:t>
            </a:r>
            <a:endParaRPr lang="en-US" altLang="en-US" sz="2400">
              <a:latin typeface="Times New Roman" panose="02020603050405020304" charset="0"/>
              <a:cs typeface="Times New Roman" panose="02020603050405020304" charset="0"/>
            </a:endParaRPr>
          </a:p>
          <a:p>
            <a:r>
              <a:rPr lang="en-US" altLang="en-US" sz="2400">
                <a:latin typeface="Times New Roman" panose="02020603050405020304" charset="0"/>
                <a:cs typeface="Times New Roman" panose="02020603050405020304" charset="0"/>
              </a:rPr>
              <a:t>Add the certificate to your device's trust store</a:t>
            </a:r>
            <a:endParaRPr lang="en-US" altLang="en-US" sz="2400">
              <a:latin typeface="Times New Roman" panose="02020603050405020304" charset="0"/>
              <a:cs typeface="Times New Roman" panose="0202060305040502030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836930"/>
          </a:xfrm>
        </p:spPr>
        <p:txBody>
          <a:bodyPr/>
          <a:p>
            <a:r>
              <a:rPr lang="en-US" altLang="en-US"/>
              <a:t>Step 4: Test the configuration</a:t>
            </a:r>
            <a:endParaRPr lang="en-US" altLang="en-US"/>
          </a:p>
        </p:txBody>
      </p:sp>
      <p:sp>
        <p:nvSpPr>
          <p:cNvPr id="3" name="Content Placeholder 2"/>
          <p:cNvSpPr>
            <a:spLocks noGrp="1"/>
          </p:cNvSpPr>
          <p:nvPr>
            <p:ph idx="1"/>
          </p:nvPr>
        </p:nvSpPr>
        <p:spPr>
          <a:xfrm>
            <a:off x="838200" y="1202055"/>
            <a:ext cx="10515600" cy="4975225"/>
          </a:xfrm>
        </p:spPr>
        <p:txBody>
          <a:bodyPr>
            <a:normAutofit lnSpcReduction="10000"/>
          </a:bodyPr>
          <a:p>
            <a:pPr marL="0" indent="0" algn="just">
              <a:lnSpc>
                <a:spcPct val="150000"/>
              </a:lnSpc>
              <a:buNone/>
            </a:pPr>
            <a:r>
              <a:rPr lang="en-US" altLang="en-US"/>
              <a:t>T</a:t>
            </a:r>
            <a:r>
              <a:rPr lang="en-US" altLang="en-US" sz="2400">
                <a:latin typeface="Times New Roman" panose="02020603050405020304" charset="0"/>
                <a:cs typeface="Times New Roman" panose="02020603050405020304" charset="0"/>
              </a:rPr>
              <a:t>o make sure that you've completed the configuration successfully and are ready to start testing:</a:t>
            </a:r>
            <a:endParaRPr lang="en-US" altLang="en-US" sz="2400">
              <a:latin typeface="Times New Roman" panose="02020603050405020304" charset="0"/>
              <a:cs typeface="Times New Roman" panose="02020603050405020304" charset="0"/>
            </a:endParaRPr>
          </a:p>
          <a:p>
            <a:pPr algn="just">
              <a:lnSpc>
                <a:spcPct val="150000"/>
              </a:lnSpc>
            </a:pPr>
            <a:r>
              <a:rPr lang="en-US" altLang="en-US" sz="2400">
                <a:latin typeface="Times New Roman" panose="02020603050405020304" charset="0"/>
                <a:cs typeface="Times New Roman" panose="02020603050405020304" charset="0"/>
              </a:rPr>
              <a:t> In Burp, go to the Proxy &gt; Intercept tab.</a:t>
            </a:r>
            <a:endParaRPr lang="en-US" altLang="en-US" sz="2400">
              <a:latin typeface="Times New Roman" panose="02020603050405020304" charset="0"/>
              <a:cs typeface="Times New Roman" panose="02020603050405020304" charset="0"/>
            </a:endParaRPr>
          </a:p>
          <a:p>
            <a:pPr algn="just">
              <a:lnSpc>
                <a:spcPct val="150000"/>
              </a:lnSpc>
            </a:pPr>
            <a:r>
              <a:rPr lang="en-US" altLang="en-US" sz="2400">
                <a:latin typeface="Times New Roman" panose="02020603050405020304" charset="0"/>
                <a:cs typeface="Times New Roman" panose="02020603050405020304" charset="0"/>
              </a:rPr>
              <a:t>    Use the button to turn the Intercept feature on.</a:t>
            </a:r>
            <a:endParaRPr lang="en-US" altLang="en-US" sz="2400">
              <a:latin typeface="Times New Roman" panose="02020603050405020304" charset="0"/>
              <a:cs typeface="Times New Roman" panose="02020603050405020304" charset="0"/>
            </a:endParaRPr>
          </a:p>
          <a:p>
            <a:pPr algn="just">
              <a:lnSpc>
                <a:spcPct val="150000"/>
              </a:lnSpc>
            </a:pPr>
            <a:r>
              <a:rPr lang="en-US" altLang="en-US" sz="2400">
                <a:latin typeface="Times New Roman" panose="02020603050405020304" charset="0"/>
                <a:cs typeface="Times New Roman" panose="02020603050405020304" charset="0"/>
              </a:rPr>
              <a:t>    On your Android device, open the browser.</a:t>
            </a:r>
            <a:endParaRPr lang="en-US" altLang="en-US" sz="2400">
              <a:latin typeface="Times New Roman" panose="02020603050405020304" charset="0"/>
              <a:cs typeface="Times New Roman" panose="02020603050405020304" charset="0"/>
            </a:endParaRPr>
          </a:p>
          <a:p>
            <a:pPr algn="just">
              <a:lnSpc>
                <a:spcPct val="150000"/>
              </a:lnSpc>
            </a:pPr>
            <a:r>
              <a:rPr lang="en-US" altLang="en-US" sz="2400">
                <a:latin typeface="Times New Roman" panose="02020603050405020304" charset="0"/>
                <a:cs typeface="Times New Roman" panose="02020603050405020304" charset="0"/>
              </a:rPr>
              <a:t>    Browse to any site using HTTPS. If you've completed the configuration successfully, the page should load without any security warnings and you should see your traffic in Burp on the Proxy &gt; HTTP history tab.</a:t>
            </a:r>
            <a:endParaRPr lang="en-US" altLang="en-US" sz="2400">
              <a:latin typeface="Times New Roman" panose="02020603050405020304" charset="0"/>
              <a:cs typeface="Times New Roman" panose="02020603050405020304" charset="0"/>
            </a:endParaRPr>
          </a:p>
          <a:p>
            <a:pPr algn="just">
              <a:lnSpc>
                <a:spcPct val="150000"/>
              </a:lnSpc>
            </a:pPr>
            <a:endParaRPr lang="en-US" altLang="en-US" sz="2400">
              <a:latin typeface="Times New Roman" panose="02020603050405020304" charset="0"/>
              <a:cs typeface="Times New Roman" panose="02020603050405020304" charset="0"/>
            </a:endParaRPr>
          </a:p>
        </p:txBody>
      </p:sp>
    </p:spTree>
  </p:cSld>
  <p:clrMapOvr>
    <a:masterClrMapping/>
  </p:clrMapOvr>
</p:sld>
</file>

<file path=ppt/tags/tag1.xml><?xml version="1.0" encoding="utf-8"?>
<p:tagLst xmlns:p="http://schemas.openxmlformats.org/presentationml/2006/main">
  <p:tag name="AS_UNIQUEID" val="29"/>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15201</Words>
  <Application>WPS Slides</Application>
  <PresentationFormat>Widescreen</PresentationFormat>
  <Paragraphs>316</Paragraphs>
  <Slides>35</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35</vt:i4>
      </vt:variant>
    </vt:vector>
  </HeadingPairs>
  <TitlesOfParts>
    <vt:vector size="45" baseType="lpstr">
      <vt:lpstr>Arial</vt:lpstr>
      <vt:lpstr>SimSun</vt:lpstr>
      <vt:lpstr>Wingdings</vt:lpstr>
      <vt:lpstr>Times New Roman</vt:lpstr>
      <vt:lpstr>Calibri Light</vt:lpstr>
      <vt:lpstr>Calibri</vt:lpstr>
      <vt:lpstr>Microsoft YaHei</vt:lpstr>
      <vt:lpstr>Arial Unicode MS</vt:lpstr>
      <vt:lpstr>Wingdings</vt:lpstr>
      <vt:lpstr>Office Theme</vt:lpstr>
      <vt:lpstr>Contents</vt:lpstr>
      <vt:lpstr>Contents contd... </vt:lpstr>
      <vt:lpstr>Introduction</vt:lpstr>
      <vt:lpstr>Introduction contd...</vt:lpstr>
      <vt:lpstr>Introduction contd...</vt:lpstr>
      <vt:lpstr>types of mobile apps</vt:lpstr>
      <vt:lpstr>Mobile Application Platforms</vt:lpstr>
      <vt:lpstr>Android Platform Overview</vt:lpstr>
      <vt:lpstr>Android architecture contd...</vt:lpstr>
      <vt:lpstr>Android architecture contd...</vt:lpstr>
      <vt:lpstr>Mobile application components</vt:lpstr>
      <vt:lpstr>APK Structure</vt:lpstr>
      <vt:lpstr>APK signing schemes</vt:lpstr>
      <vt:lpstr>Sandboxing and permissions</vt:lpstr>
      <vt:lpstr>Permissions</vt:lpstr>
      <vt:lpstr>Permission Protection Levels</vt:lpstr>
      <vt:lpstr>Mobile Application Threat Model</vt:lpstr>
      <vt:lpstr>Deeplinks and webviews</vt:lpstr>
      <vt:lpstr>webviews</vt:lpstr>
      <vt:lpstr>owspTop 10 Mobile Risks ( 2024)</vt:lpstr>
      <vt:lpstr>Mobile App Tampering and Reverse Engineering</vt:lpstr>
      <vt:lpstr>Mobile Binary Tampering</vt:lpstr>
      <vt:lpstr>How to tamper an apk file</vt:lpstr>
      <vt:lpstr>Mobile Application Security Testing</vt:lpstr>
      <vt:lpstr>Mobile Application Security Testing Methodology</vt:lpstr>
      <vt:lpstr>Static analysis of mobile application</vt:lpstr>
      <vt:lpstr>Things to look in static analysis</vt:lpstr>
      <vt:lpstr>Dynamic analysis of mobile application</vt:lpstr>
      <vt:lpstr> Tools for Dynamic Analysis</vt:lpstr>
      <vt:lpstr>Methodology</vt:lpstr>
      <vt:lpstr> Intercepting Android Traffic via burp suite</vt:lpstr>
      <vt:lpstr>Configuring an Android device to work with Burp Suite</vt:lpstr>
      <vt:lpstr>Step 2: Configure your device to proxy traffic through Burp</vt:lpstr>
      <vt:lpstr>Step 3: Add Burp's CA certificate to your device's trust store</vt:lpstr>
      <vt:lpstr>Step 4: Test the configuration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
  <cp:lastModifiedBy>Asaminew Derso</cp:lastModifiedBy>
  <cp:revision>45</cp:revision>
  <dcterms:created xsi:type="dcterms:W3CDTF">2025-04-03T07:27:00Z</dcterms:created>
  <dcterms:modified xsi:type="dcterms:W3CDTF">2025-05-11T07:39:30Z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253BFEFDEF8347D9B90562657D33EA76_11</vt:lpwstr>
  </property>
  <property fmtid="{D5CDD505-2E9C-101B-9397-08002B2CF9AE}" pid="3" name="KSOProductBuildVer">
    <vt:lpwstr>1033-12.2.0.20795</vt:lpwstr>
  </property>
</Properties>
</file>