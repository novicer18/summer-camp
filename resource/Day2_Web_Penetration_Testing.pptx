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0" r:id="rId2"/>
  </p:sldMasterIdLst>
  <p:notesMasterIdLst>
    <p:notesMasterId r:id="rId35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7" r:id="rId33"/>
    <p:sldId id="288" r:id="rId3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 /><Relationship Id="rId13" Type="http://schemas.openxmlformats.org/officeDocument/2006/relationships/slide" Target="slides/slide11.xml" /><Relationship Id="rId18" Type="http://schemas.openxmlformats.org/officeDocument/2006/relationships/slide" Target="slides/slide16.xml" /><Relationship Id="rId26" Type="http://schemas.openxmlformats.org/officeDocument/2006/relationships/slide" Target="slides/slide24.xml" /><Relationship Id="rId39" Type="http://schemas.openxmlformats.org/officeDocument/2006/relationships/tableStyles" Target="tableStyles.xml" /><Relationship Id="rId3" Type="http://schemas.openxmlformats.org/officeDocument/2006/relationships/slide" Target="slides/slide1.xml" /><Relationship Id="rId21" Type="http://schemas.openxmlformats.org/officeDocument/2006/relationships/slide" Target="slides/slide19.xml" /><Relationship Id="rId34" Type="http://schemas.openxmlformats.org/officeDocument/2006/relationships/slide" Target="slides/slide32.xml" /><Relationship Id="rId7" Type="http://schemas.openxmlformats.org/officeDocument/2006/relationships/slide" Target="slides/slide5.xml" /><Relationship Id="rId12" Type="http://schemas.openxmlformats.org/officeDocument/2006/relationships/slide" Target="slides/slide10.xml" /><Relationship Id="rId17" Type="http://schemas.openxmlformats.org/officeDocument/2006/relationships/slide" Target="slides/slide15.xml" /><Relationship Id="rId25" Type="http://schemas.openxmlformats.org/officeDocument/2006/relationships/slide" Target="slides/slide23.xml" /><Relationship Id="rId33" Type="http://schemas.openxmlformats.org/officeDocument/2006/relationships/slide" Target="slides/slide31.xml" /><Relationship Id="rId38" Type="http://schemas.openxmlformats.org/officeDocument/2006/relationships/theme" Target="theme/theme1.xml" /><Relationship Id="rId2" Type="http://schemas.openxmlformats.org/officeDocument/2006/relationships/slideMaster" Target="slideMasters/slideMaster2.xml" /><Relationship Id="rId16" Type="http://schemas.openxmlformats.org/officeDocument/2006/relationships/slide" Target="slides/slide14.xml" /><Relationship Id="rId20" Type="http://schemas.openxmlformats.org/officeDocument/2006/relationships/slide" Target="slides/slide18.xml" /><Relationship Id="rId29" Type="http://schemas.openxmlformats.org/officeDocument/2006/relationships/slide" Target="slides/slide27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4.xml" /><Relationship Id="rId11" Type="http://schemas.openxmlformats.org/officeDocument/2006/relationships/slide" Target="slides/slide9.xml" /><Relationship Id="rId24" Type="http://schemas.openxmlformats.org/officeDocument/2006/relationships/slide" Target="slides/slide22.xml" /><Relationship Id="rId32" Type="http://schemas.openxmlformats.org/officeDocument/2006/relationships/slide" Target="slides/slide30.xml" /><Relationship Id="rId37" Type="http://schemas.openxmlformats.org/officeDocument/2006/relationships/viewProps" Target="viewProps.xml" /><Relationship Id="rId5" Type="http://schemas.openxmlformats.org/officeDocument/2006/relationships/slide" Target="slides/slide3.xml" /><Relationship Id="rId15" Type="http://schemas.openxmlformats.org/officeDocument/2006/relationships/slide" Target="slides/slide13.xml" /><Relationship Id="rId23" Type="http://schemas.openxmlformats.org/officeDocument/2006/relationships/slide" Target="slides/slide21.xml" /><Relationship Id="rId28" Type="http://schemas.openxmlformats.org/officeDocument/2006/relationships/slide" Target="slides/slide26.xml" /><Relationship Id="rId36" Type="http://schemas.openxmlformats.org/officeDocument/2006/relationships/presProps" Target="presProps.xml" /><Relationship Id="rId10" Type="http://schemas.openxmlformats.org/officeDocument/2006/relationships/slide" Target="slides/slide8.xml" /><Relationship Id="rId19" Type="http://schemas.openxmlformats.org/officeDocument/2006/relationships/slide" Target="slides/slide17.xml" /><Relationship Id="rId31" Type="http://schemas.openxmlformats.org/officeDocument/2006/relationships/slide" Target="slides/slide29.xml" /><Relationship Id="rId4" Type="http://schemas.openxmlformats.org/officeDocument/2006/relationships/slide" Target="slides/slide2.xml" /><Relationship Id="rId9" Type="http://schemas.openxmlformats.org/officeDocument/2006/relationships/slide" Target="slides/slide7.xml" /><Relationship Id="rId14" Type="http://schemas.openxmlformats.org/officeDocument/2006/relationships/slide" Target="slides/slide12.xml" /><Relationship Id="rId22" Type="http://schemas.openxmlformats.org/officeDocument/2006/relationships/slide" Target="slides/slide20.xml" /><Relationship Id="rId27" Type="http://schemas.openxmlformats.org/officeDocument/2006/relationships/slide" Target="slides/slide25.xml" /><Relationship Id="rId30" Type="http://schemas.openxmlformats.org/officeDocument/2006/relationships/slide" Target="slides/slide28.xml" /><Relationship Id="rId35" Type="http://schemas.openxmlformats.org/officeDocument/2006/relationships/notesMaster" Target="notesMasters/notesMaster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8/5/2026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 /><Relationship Id="rId1" Type="http://schemas.openxmlformats.org/officeDocument/2006/relationships/notesMaster" Target="../notesMasters/notesMaster1.xml" 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 /><Relationship Id="rId1" Type="http://schemas.openxmlformats.org/officeDocument/2006/relationships/notesMaster" Target="../notesMasters/notesMaster1.xml" 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 /><Relationship Id="rId1" Type="http://schemas.openxmlformats.org/officeDocument/2006/relationships/notesMaster" Target="../notesMasters/notesMaster1.xml" 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 /><Relationship Id="rId1" Type="http://schemas.openxmlformats.org/officeDocument/2006/relationships/notesMaster" Target="../notesMasters/notesMaster1.xml" 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 /><Relationship Id="rId1" Type="http://schemas.openxmlformats.org/officeDocument/2006/relationships/notesMaster" Target="../notesMasters/notesMaster1.xml" 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 /><Relationship Id="rId1" Type="http://schemas.openxmlformats.org/officeDocument/2006/relationships/notesMaster" Target="../notesMasters/notesMaster1.xml" 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 /><Relationship Id="rId1" Type="http://schemas.openxmlformats.org/officeDocument/2006/relationships/notesMaster" Target="../notesMasters/notesMaster1.xml" 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 /><Relationship Id="rId1" Type="http://schemas.openxmlformats.org/officeDocument/2006/relationships/notesMaster" Target="../notesMasters/notesMaster1.xml" 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 /><Relationship Id="rId1" Type="http://schemas.openxmlformats.org/officeDocument/2006/relationships/notesMaster" Target="../notesMasters/notesMaster1.xml" 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 /><Relationship Id="rId1" Type="http://schemas.openxmlformats.org/officeDocument/2006/relationships/notesMaster" Target="../notesMasters/notesMaster1.xml" 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 /><Relationship Id="rId1" Type="http://schemas.openxmlformats.org/officeDocument/2006/relationships/notesMaster" Target="../notesMasters/notesMaster1.xml" 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 /><Relationship Id="rId1" Type="http://schemas.openxmlformats.org/officeDocument/2006/relationships/notesMaster" Target="../notesMasters/notesMaster1.xml" 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 /><Relationship Id="rId1" Type="http://schemas.openxmlformats.org/officeDocument/2006/relationships/notesMaster" Target="../notesMasters/notesMaster1.xml" 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 /><Relationship Id="rId1" Type="http://schemas.openxmlformats.org/officeDocument/2006/relationships/notesMaster" Target="../notesMasters/notesMaster1.xml" 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 /><Relationship Id="rId1" Type="http://schemas.openxmlformats.org/officeDocument/2006/relationships/slideLayout" Target="../slideLayouts/slideLayout1.xml" 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 /><Relationship Id="rId1" Type="http://schemas.openxmlformats.org/officeDocument/2006/relationships/slideLayout" Target="../slideLayouts/slideLayout2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8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8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1.xml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1.xml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1.xml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1.xml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1.xml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1.xml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1.xml" 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1.xml" 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10.xml" /><Relationship Id="rId1" Type="http://schemas.openxmlformats.org/officeDocument/2006/relationships/slideLayout" Target="../slideLayouts/slideLayout1.xml" 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11.xml" /><Relationship Id="rId1" Type="http://schemas.openxmlformats.org/officeDocument/2006/relationships/slideLayout" Target="../slideLayouts/slideLayout1.xml" 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12.xml" /><Relationship Id="rId1" Type="http://schemas.openxmlformats.org/officeDocument/2006/relationships/slideLayout" Target="../slideLayouts/slideLayout1.xml" 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13.xml" /><Relationship Id="rId1" Type="http://schemas.openxmlformats.org/officeDocument/2006/relationships/slideLayout" Target="../slideLayouts/slideLayout1.xml" 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14.xml" /><Relationship Id="rId1" Type="http://schemas.openxmlformats.org/officeDocument/2006/relationships/slideLayout" Target="../slideLayouts/slideLayout1.xml" 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15.xml" /><Relationship Id="rId1" Type="http://schemas.openxmlformats.org/officeDocument/2006/relationships/slideLayout" Target="../slideLayouts/slideLayout1.xml" 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16.xml" /><Relationship Id="rId1" Type="http://schemas.openxmlformats.org/officeDocument/2006/relationships/slideLayout" Target="../slideLayouts/slideLayout1.xml" 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17.xml" /><Relationship Id="rId1" Type="http://schemas.openxmlformats.org/officeDocument/2006/relationships/slideLayout" Target="../slideLayouts/slideLayout1.xml" 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18.xml" /><Relationship Id="rId1" Type="http://schemas.openxmlformats.org/officeDocument/2006/relationships/slideLayout" Target="../slideLayouts/slideLayout1.xml" 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19.xml" /><Relationship Id="rId1" Type="http://schemas.openxmlformats.org/officeDocument/2006/relationships/slideLayout" Target="../slideLayouts/slideLayout1.xml" 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20.xml" /><Relationship Id="rId1" Type="http://schemas.openxmlformats.org/officeDocument/2006/relationships/slideLayout" Target="../slideLayouts/slideLayout1.xml" 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21.xml" /><Relationship Id="rId1" Type="http://schemas.openxmlformats.org/officeDocument/2006/relationships/slideLayout" Target="../slideLayouts/slideLayout1.xml" 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22.xml" /><Relationship Id="rId1" Type="http://schemas.openxmlformats.org/officeDocument/2006/relationships/slideLayout" Target="../slideLayouts/slideLayout1.xml" 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23.xml" /><Relationship Id="rId1" Type="http://schemas.openxmlformats.org/officeDocument/2006/relationships/slideLayout" Target="../slideLayouts/slideLayout1.xml" 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24.xml" /><Relationship Id="rId1" Type="http://schemas.openxmlformats.org/officeDocument/2006/relationships/slideLayout" Target="../slideLayouts/slideLayout1.xml" 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25.xml" /><Relationship Id="rId1" Type="http://schemas.openxmlformats.org/officeDocument/2006/relationships/slideLayout" Target="../slideLayouts/slideLayout1.xml" 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26.xml" /><Relationship Id="rId1" Type="http://schemas.openxmlformats.org/officeDocument/2006/relationships/slideLayout" Target="../slideLayouts/slideLayout1.xml" 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27.xml" /><Relationship Id="rId1" Type="http://schemas.openxmlformats.org/officeDocument/2006/relationships/slideLayout" Target="../slideLayouts/slideLayout1.xml" 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28.xml" /><Relationship Id="rId1" Type="http://schemas.openxmlformats.org/officeDocument/2006/relationships/slideLayout" Target="../slideLayouts/slideLayout1.xml" 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29.xml" /><Relationship Id="rId1" Type="http://schemas.openxmlformats.org/officeDocument/2006/relationships/slideLayout" Target="../slideLayouts/slideLayout1.xml" 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30.xml" /><Relationship Id="rId1" Type="http://schemas.openxmlformats.org/officeDocument/2006/relationships/slideLayout" Target="../slideLayouts/slideLayout1.xml" 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 /><Relationship Id="rId1" Type="http://schemas.openxmlformats.org/officeDocument/2006/relationships/slideLayout" Target="../slideLayouts/slideLayout2.xml" 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 /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orkdir/artifacts/insa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0" y="365760"/>
            <a:ext cx="2286000" cy="2286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74320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457200" y="310896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Penetration Testing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457200" y="374904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Network Security Administration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orkdir/artifacts/insa_logo.png"/>
          <p:cNvPicPr>
            <a:picLocks noChangeAspect="1"/>
          </p:cNvPicPr>
          <p:nvPr/>
        </p:nvPicPr>
        <p:blipFill>
          <a:blip r:embed="rId3">
            <a:alphaModFix amt="12000"/>
          </a:blip>
          <a:stretch>
            <a:fillRect/>
          </a:stretch>
        </p:blipFill>
        <p:spPr>
          <a:xfrm>
            <a:off x="7589520" y="3794760"/>
            <a:ext cx="1371600" cy="1371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4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will cover today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365760" y="4828032"/>
            <a:ext cx="6400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INSA  |  Web Penetration Testing  |  Day 2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8412480" y="4828032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57200" y="1280160"/>
            <a:ext cx="4023360" cy="960120"/>
          </a:xfrm>
          <a:prstGeom prst="roundRect">
            <a:avLst>
              <a:gd name="adj" fmla="val 9524"/>
            </a:avLst>
          </a:prstGeom>
          <a:solidFill>
            <a:srgbClr val="162236"/>
          </a:solidFill>
        </p:spPr>
      </p:sp>
      <p:sp>
        <p:nvSpPr>
          <p:cNvPr id="9" name="Text 6"/>
          <p:cNvSpPr/>
          <p:nvPr/>
        </p:nvSpPr>
        <p:spPr>
          <a:xfrm>
            <a:off x="640080" y="1463040"/>
            <a:ext cx="6400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1371600" y="1463040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Vulnerabilities Arise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371600" y="178308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causes &amp; the OWASP mindset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754880" y="1280160"/>
            <a:ext cx="4023360" cy="960120"/>
          </a:xfrm>
          <a:prstGeom prst="roundRect">
            <a:avLst>
              <a:gd name="adj" fmla="val 9524"/>
            </a:avLst>
          </a:prstGeom>
          <a:solidFill>
            <a:srgbClr val="162236"/>
          </a:solidFill>
        </p:spPr>
      </p:sp>
      <p:sp>
        <p:nvSpPr>
          <p:cNvPr id="13" name="Text 10"/>
          <p:cNvSpPr/>
          <p:nvPr/>
        </p:nvSpPr>
        <p:spPr>
          <a:xfrm>
            <a:off x="4937760" y="1463040"/>
            <a:ext cx="6400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5669280" y="1463040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Disclosure &amp; Traversal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5669280" y="178308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traversal, file upload flaws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57200" y="2377440"/>
            <a:ext cx="4023360" cy="960120"/>
          </a:xfrm>
          <a:prstGeom prst="roundRect">
            <a:avLst>
              <a:gd name="adj" fmla="val 9524"/>
            </a:avLst>
          </a:prstGeom>
          <a:solidFill>
            <a:srgbClr val="162236"/>
          </a:solidFill>
        </p:spPr>
      </p:sp>
      <p:sp>
        <p:nvSpPr>
          <p:cNvPr id="17" name="Text 14"/>
          <p:cNvSpPr/>
          <p:nvPr/>
        </p:nvSpPr>
        <p:spPr>
          <a:xfrm>
            <a:off x="640080" y="2560320"/>
            <a:ext cx="6400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1371600" y="2560320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Injection Class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1371600" y="288036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SQLi, NoSQL, Command, XXE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54880" y="2377440"/>
            <a:ext cx="4023360" cy="960120"/>
          </a:xfrm>
          <a:prstGeom prst="roundRect">
            <a:avLst>
              <a:gd name="adj" fmla="val 9524"/>
            </a:avLst>
          </a:prstGeom>
          <a:solidFill>
            <a:srgbClr val="162236"/>
          </a:solidFill>
        </p:spPr>
      </p:sp>
      <p:sp>
        <p:nvSpPr>
          <p:cNvPr id="21" name="Text 18"/>
          <p:cNvSpPr/>
          <p:nvPr/>
        </p:nvSpPr>
        <p:spPr>
          <a:xfrm>
            <a:off x="4937760" y="2560320"/>
            <a:ext cx="6400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2" name="Text 19"/>
          <p:cNvSpPr/>
          <p:nvPr/>
        </p:nvSpPr>
        <p:spPr>
          <a:xfrm>
            <a:off x="5669280" y="2560320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&amp; Access Control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5669280" y="288036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IDOR, broken access, logic flaws, SSRF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457200" y="3474720"/>
            <a:ext cx="4023360" cy="960120"/>
          </a:xfrm>
          <a:prstGeom prst="roundRect">
            <a:avLst>
              <a:gd name="adj" fmla="val 9524"/>
            </a:avLst>
          </a:prstGeom>
          <a:solidFill>
            <a:srgbClr val="162236"/>
          </a:solidFill>
        </p:spPr>
      </p:sp>
      <p:sp>
        <p:nvSpPr>
          <p:cNvPr id="25" name="Text 22"/>
          <p:cNvSpPr/>
          <p:nvPr/>
        </p:nvSpPr>
        <p:spPr>
          <a:xfrm>
            <a:off x="640080" y="3657600"/>
            <a:ext cx="6400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26" name="Text 23"/>
          <p:cNvSpPr/>
          <p:nvPr/>
        </p:nvSpPr>
        <p:spPr>
          <a:xfrm>
            <a:off x="1371600" y="3657600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 &amp; API Attacks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1371600" y="397764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XSS, CSRF, CORS, JWT, OAuth, GraphQL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4754880" y="3474720"/>
            <a:ext cx="4023360" cy="960120"/>
          </a:xfrm>
          <a:prstGeom prst="roundRect">
            <a:avLst>
              <a:gd name="adj" fmla="val 9524"/>
            </a:avLst>
          </a:prstGeom>
          <a:solidFill>
            <a:srgbClr val="162236"/>
          </a:solidFill>
        </p:spPr>
      </p:sp>
      <p:sp>
        <p:nvSpPr>
          <p:cNvPr id="29" name="Text 26"/>
          <p:cNvSpPr/>
          <p:nvPr/>
        </p:nvSpPr>
        <p:spPr>
          <a:xfrm>
            <a:off x="4937760" y="3657600"/>
            <a:ext cx="6400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200" dirty="0"/>
          </a:p>
        </p:txBody>
      </p:sp>
      <p:sp>
        <p:nvSpPr>
          <p:cNvPr id="30" name="Text 27"/>
          <p:cNvSpPr/>
          <p:nvPr/>
        </p:nvSpPr>
        <p:spPr>
          <a:xfrm>
            <a:off x="5669280" y="3657600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Labs &amp; Exploitation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5669280" y="397764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PortSwigger + Burp Suite multi-step chains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orkdir/artifacts/insa_logo.png"/>
          <p:cNvPicPr>
            <a:picLocks noChangeAspect="1"/>
          </p:cNvPicPr>
          <p:nvPr/>
        </p:nvPicPr>
        <p:blipFill>
          <a:blip r:embed="rId3">
            <a:alphaModFix amt="12000"/>
          </a:blip>
          <a:stretch>
            <a:fillRect/>
          </a:stretch>
        </p:blipFill>
        <p:spPr>
          <a:xfrm>
            <a:off x="7589520" y="3794760"/>
            <a:ext cx="1371600" cy="1371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4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Web Vulnerabilities Arise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boundaries and unsafe assumptions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365760" y="4828032"/>
            <a:ext cx="6400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INSA  |  Web Penetration Testing  |  Day 2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8412480" y="4828032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57200" y="128016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162236"/>
          </a:solidFill>
        </p:spPr>
      </p:sp>
      <p:sp>
        <p:nvSpPr>
          <p:cNvPr id="9" name="Shape 6"/>
          <p:cNvSpPr/>
          <p:nvPr/>
        </p:nvSpPr>
        <p:spPr>
          <a:xfrm>
            <a:off x="457200" y="1280160"/>
            <a:ext cx="91440" cy="777240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10" name="Text 7"/>
          <p:cNvSpPr/>
          <p:nvPr/>
        </p:nvSpPr>
        <p:spPr>
          <a:xfrm>
            <a:off x="777240" y="1389888"/>
            <a:ext cx="7680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Untrusted Input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77240" y="1691640"/>
            <a:ext cx="7680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data treated as safe without validation or sanitization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57200" y="214884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162236"/>
          </a:solidFill>
        </p:spPr>
      </p:sp>
      <p:sp>
        <p:nvSpPr>
          <p:cNvPr id="13" name="Shape 10"/>
          <p:cNvSpPr/>
          <p:nvPr/>
        </p:nvSpPr>
        <p:spPr>
          <a:xfrm>
            <a:off x="457200" y="2148840"/>
            <a:ext cx="91440" cy="777240"/>
          </a:xfrm>
          <a:prstGeom prst="rect">
            <a:avLst/>
          </a:prstGeom>
          <a:solidFill>
            <a:srgbClr val="8B5CF6"/>
          </a:solidFill>
        </p:spPr>
      </p:sp>
      <p:sp>
        <p:nvSpPr>
          <p:cNvPr id="14" name="Text 11"/>
          <p:cNvSpPr/>
          <p:nvPr/>
        </p:nvSpPr>
        <p:spPr>
          <a:xfrm>
            <a:off x="777240" y="2258568"/>
            <a:ext cx="7680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Broken Trust Boundaries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777240" y="2560320"/>
            <a:ext cx="7680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trusts client-side checks, cookies, or hidden fields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57200" y="301752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162236"/>
          </a:solidFill>
        </p:spPr>
      </p:sp>
      <p:sp>
        <p:nvSpPr>
          <p:cNvPr id="17" name="Shape 14"/>
          <p:cNvSpPr/>
          <p:nvPr/>
        </p:nvSpPr>
        <p:spPr>
          <a:xfrm>
            <a:off x="457200" y="3017520"/>
            <a:ext cx="91440" cy="777240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18" name="Text 15"/>
          <p:cNvSpPr/>
          <p:nvPr/>
        </p:nvSpPr>
        <p:spPr>
          <a:xfrm>
            <a:off x="777240" y="3127248"/>
            <a:ext cx="7680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Insufficient Context Escape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777240" y="3429000"/>
            <a:ext cx="7680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inserted into SQL, HTML, OS, XML without proper encoding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457200" y="388620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162236"/>
          </a:solidFill>
        </p:spPr>
      </p:sp>
      <p:sp>
        <p:nvSpPr>
          <p:cNvPr id="21" name="Shape 18"/>
          <p:cNvSpPr/>
          <p:nvPr/>
        </p:nvSpPr>
        <p:spPr>
          <a:xfrm>
            <a:off x="457200" y="3886200"/>
            <a:ext cx="91440" cy="777240"/>
          </a:xfrm>
          <a:prstGeom prst="rect">
            <a:avLst/>
          </a:prstGeom>
          <a:solidFill>
            <a:srgbClr val="8B5CF6"/>
          </a:solidFill>
        </p:spPr>
      </p:sp>
      <p:sp>
        <p:nvSpPr>
          <p:cNvPr id="22" name="Text 19"/>
          <p:cNvSpPr/>
          <p:nvPr/>
        </p:nvSpPr>
        <p:spPr>
          <a:xfrm>
            <a:off x="777240" y="3995928"/>
            <a:ext cx="7680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Misconfigured Defaults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777240" y="4297680"/>
            <a:ext cx="7680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Verbose errors, directory listing, debug endpoints left open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orkdir/artifacts/insa_logo.png"/>
          <p:cNvPicPr>
            <a:picLocks noChangeAspect="1"/>
          </p:cNvPicPr>
          <p:nvPr/>
        </p:nvPicPr>
        <p:blipFill>
          <a:blip r:embed="rId3">
            <a:alphaModFix amt="12000"/>
          </a:blip>
          <a:stretch>
            <a:fillRect/>
          </a:stretch>
        </p:blipFill>
        <p:spPr>
          <a:xfrm>
            <a:off x="7589520" y="3794760"/>
            <a:ext cx="1371600" cy="1371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4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OWASP Mindset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like an attacker, test like a defender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365760" y="4828032"/>
            <a:ext cx="6400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INSA  |  Web Penetration Testing  |  Day 2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8412480" y="4828032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65760" y="1325880"/>
            <a:ext cx="2743200" cy="1371600"/>
          </a:xfrm>
          <a:prstGeom prst="roundRect">
            <a:avLst>
              <a:gd name="adj" fmla="val 6667"/>
            </a:avLst>
          </a:prstGeom>
          <a:solidFill>
            <a:srgbClr val="162236"/>
          </a:solidFill>
        </p:spPr>
      </p:sp>
      <p:sp>
        <p:nvSpPr>
          <p:cNvPr id="9" name="Text 6"/>
          <p:cNvSpPr/>
          <p:nvPr/>
        </p:nvSpPr>
        <p:spPr>
          <a:xfrm>
            <a:off x="548640" y="1508760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548640" y="1828800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Trust Input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48640" y="219456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external data is hostile until proven otherwise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246120" y="1325880"/>
            <a:ext cx="2743200" cy="1371600"/>
          </a:xfrm>
          <a:prstGeom prst="roundRect">
            <a:avLst>
              <a:gd name="adj" fmla="val 6667"/>
            </a:avLst>
          </a:prstGeom>
          <a:solidFill>
            <a:srgbClr val="162236"/>
          </a:solidFill>
        </p:spPr>
      </p:sp>
      <p:sp>
        <p:nvSpPr>
          <p:cNvPr id="13" name="Text 10"/>
          <p:cNvSpPr/>
          <p:nvPr/>
        </p:nvSpPr>
        <p:spPr>
          <a:xfrm>
            <a:off x="3429000" y="1508760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3429000" y="1828800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 in Depth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3429000" y="219456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layers: validation, encoding, least privilege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126480" y="1325880"/>
            <a:ext cx="2743200" cy="1371600"/>
          </a:xfrm>
          <a:prstGeom prst="roundRect">
            <a:avLst>
              <a:gd name="adj" fmla="val 6667"/>
            </a:avLst>
          </a:prstGeom>
          <a:solidFill>
            <a:srgbClr val="162236"/>
          </a:solidFill>
        </p:spPr>
      </p:sp>
      <p:sp>
        <p:nvSpPr>
          <p:cNvPr id="17" name="Text 14"/>
          <p:cNvSpPr/>
          <p:nvPr/>
        </p:nvSpPr>
        <p:spPr>
          <a:xfrm>
            <a:off x="6309360" y="1508760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6309360" y="1828800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 Securely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6309360" y="219456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should not leak data or open new paths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365760" y="2880360"/>
            <a:ext cx="2743200" cy="1371600"/>
          </a:xfrm>
          <a:prstGeom prst="roundRect">
            <a:avLst>
              <a:gd name="adj" fmla="val 6667"/>
            </a:avLst>
          </a:prstGeom>
          <a:solidFill>
            <a:srgbClr val="162236"/>
          </a:solidFill>
        </p:spPr>
      </p:sp>
      <p:sp>
        <p:nvSpPr>
          <p:cNvPr id="21" name="Text 18"/>
          <p:cNvSpPr/>
          <p:nvPr/>
        </p:nvSpPr>
        <p:spPr>
          <a:xfrm>
            <a:off x="548640" y="3063240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548640" y="3383280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 Privilege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548640" y="374904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 and processes run with minimal rights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3246120" y="2880360"/>
            <a:ext cx="2743200" cy="1371600"/>
          </a:xfrm>
          <a:prstGeom prst="roundRect">
            <a:avLst>
              <a:gd name="adj" fmla="val 6667"/>
            </a:avLst>
          </a:prstGeom>
          <a:solidFill>
            <a:srgbClr val="162236"/>
          </a:solidFill>
        </p:spPr>
      </p:sp>
      <p:sp>
        <p:nvSpPr>
          <p:cNvPr id="25" name="Text 22"/>
          <p:cNvSpPr/>
          <p:nvPr/>
        </p:nvSpPr>
        <p:spPr>
          <a:xfrm>
            <a:off x="3429000" y="3063240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3429000" y="3383280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Before Attack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3429000" y="374904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Recon, enumerate endpoints, understand the app flow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6126480" y="2880360"/>
            <a:ext cx="2743200" cy="1371600"/>
          </a:xfrm>
          <a:prstGeom prst="roundRect">
            <a:avLst>
              <a:gd name="adj" fmla="val 6667"/>
            </a:avLst>
          </a:prstGeom>
          <a:solidFill>
            <a:srgbClr val="162236"/>
          </a:solidFill>
        </p:spPr>
      </p:sp>
      <p:sp>
        <p:nvSpPr>
          <p:cNvPr id="29" name="Text 26"/>
          <p:cNvSpPr/>
          <p:nvPr/>
        </p:nvSpPr>
        <p:spPr>
          <a:xfrm>
            <a:off x="6309360" y="3063240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30" name="Text 27"/>
          <p:cNvSpPr/>
          <p:nvPr/>
        </p:nvSpPr>
        <p:spPr>
          <a:xfrm>
            <a:off x="6309360" y="3383280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Findings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6309360" y="374904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Low-severity bugs often combine into critical impact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orkdir/artifacts/insa_logo.png"/>
          <p:cNvPicPr>
            <a:picLocks noChangeAspect="1"/>
          </p:cNvPicPr>
          <p:nvPr/>
        </p:nvPicPr>
        <p:blipFill>
          <a:blip r:embed="rId3">
            <a:alphaModFix amt="12000"/>
          </a:blip>
          <a:stretch>
            <a:fillRect/>
          </a:stretch>
        </p:blipFill>
        <p:spPr>
          <a:xfrm>
            <a:off x="7589520" y="3794760"/>
            <a:ext cx="1371600" cy="1371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4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Disclosure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Leaking the map to the attacker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365760" y="4828032"/>
            <a:ext cx="6400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INSA  |  Web Penetration Testing  |  Day 2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8412480" y="4828032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65760" y="1280160"/>
            <a:ext cx="4160520" cy="960120"/>
          </a:xfrm>
          <a:prstGeom prst="roundRect">
            <a:avLst>
              <a:gd name="adj" fmla="val 7619"/>
            </a:avLst>
          </a:prstGeom>
          <a:solidFill>
            <a:srgbClr val="162236"/>
          </a:solidFill>
        </p:spPr>
      </p:sp>
      <p:sp>
        <p:nvSpPr>
          <p:cNvPr id="9" name="Text 6"/>
          <p:cNvSpPr/>
          <p:nvPr/>
        </p:nvSpPr>
        <p:spPr>
          <a:xfrm>
            <a:off x="594360" y="1444752"/>
            <a:ext cx="3749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Verbose Errors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94360" y="1755648"/>
            <a:ext cx="37490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traces, SQL errors, path names reveal structure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754880" y="1280160"/>
            <a:ext cx="4160520" cy="960120"/>
          </a:xfrm>
          <a:prstGeom prst="roundRect">
            <a:avLst>
              <a:gd name="adj" fmla="val 7619"/>
            </a:avLst>
          </a:prstGeom>
          <a:solidFill>
            <a:srgbClr val="162236"/>
          </a:solidFill>
        </p:spPr>
      </p:sp>
      <p:sp>
        <p:nvSpPr>
          <p:cNvPr id="12" name="Text 9"/>
          <p:cNvSpPr/>
          <p:nvPr/>
        </p:nvSpPr>
        <p:spPr>
          <a:xfrm>
            <a:off x="4983480" y="1444752"/>
            <a:ext cx="3749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&amp; Comments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4983480" y="1755648"/>
            <a:ext cx="37490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HTML/JS comments, backup files (.bak, .old, .swp)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365760" y="2377440"/>
            <a:ext cx="4160520" cy="960120"/>
          </a:xfrm>
          <a:prstGeom prst="roundRect">
            <a:avLst>
              <a:gd name="adj" fmla="val 7619"/>
            </a:avLst>
          </a:prstGeom>
          <a:solidFill>
            <a:srgbClr val="162236"/>
          </a:solidFill>
        </p:spPr>
      </p:sp>
      <p:sp>
        <p:nvSpPr>
          <p:cNvPr id="15" name="Text 12"/>
          <p:cNvSpPr/>
          <p:nvPr/>
        </p:nvSpPr>
        <p:spPr>
          <a:xfrm>
            <a:off x="594360" y="2542032"/>
            <a:ext cx="3749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Directory Listing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594360" y="2852928"/>
            <a:ext cx="37490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directories expose files and naming patterns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4754880" y="2377440"/>
            <a:ext cx="4160520" cy="960120"/>
          </a:xfrm>
          <a:prstGeom prst="roundRect">
            <a:avLst>
              <a:gd name="adj" fmla="val 7619"/>
            </a:avLst>
          </a:prstGeom>
          <a:solidFill>
            <a:srgbClr val="162236"/>
          </a:solidFill>
        </p:spPr>
      </p:sp>
      <p:sp>
        <p:nvSpPr>
          <p:cNvPr id="18" name="Text 15"/>
          <p:cNvSpPr/>
          <p:nvPr/>
        </p:nvSpPr>
        <p:spPr>
          <a:xfrm>
            <a:off x="4983480" y="2542032"/>
            <a:ext cx="3749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&amp; Headers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4983480" y="2852928"/>
            <a:ext cx="37490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banners, X-Powered-By, robots.txt, sitemaps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365760" y="3474720"/>
            <a:ext cx="4160520" cy="960120"/>
          </a:xfrm>
          <a:prstGeom prst="roundRect">
            <a:avLst>
              <a:gd name="adj" fmla="val 7619"/>
            </a:avLst>
          </a:prstGeom>
          <a:solidFill>
            <a:srgbClr val="162236"/>
          </a:solidFill>
        </p:spPr>
      </p:sp>
      <p:sp>
        <p:nvSpPr>
          <p:cNvPr id="21" name="Text 18"/>
          <p:cNvSpPr/>
          <p:nvPr/>
        </p:nvSpPr>
        <p:spPr>
          <a:xfrm>
            <a:off x="594360" y="3639312"/>
            <a:ext cx="3749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 Endpoints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594360" y="3950208"/>
            <a:ext cx="37490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/debug, /trace, GraphQL introspection left enabled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4754880" y="3474720"/>
            <a:ext cx="4160520" cy="960120"/>
          </a:xfrm>
          <a:prstGeom prst="roundRect">
            <a:avLst>
              <a:gd name="adj" fmla="val 7619"/>
            </a:avLst>
          </a:prstGeom>
          <a:solidFill>
            <a:srgbClr val="162236"/>
          </a:solidFill>
        </p:spPr>
      </p:sp>
      <p:sp>
        <p:nvSpPr>
          <p:cNvPr id="24" name="Text 21"/>
          <p:cNvSpPr/>
          <p:nvPr/>
        </p:nvSpPr>
        <p:spPr>
          <a:xfrm>
            <a:off x="4983480" y="3639312"/>
            <a:ext cx="3749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Data in Responses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4983480" y="3950208"/>
            <a:ext cx="37490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IPs, tokens, PII in JSON or HTML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orkdir/artifacts/insa_logo.png"/>
          <p:cNvPicPr>
            <a:picLocks noChangeAspect="1"/>
          </p:cNvPicPr>
          <p:nvPr/>
        </p:nvPicPr>
        <p:blipFill>
          <a:blip r:embed="rId3">
            <a:alphaModFix amt="12000"/>
          </a:blip>
          <a:stretch>
            <a:fillRect/>
          </a:stretch>
        </p:blipFill>
        <p:spPr>
          <a:xfrm>
            <a:off x="7589520" y="3794760"/>
            <a:ext cx="1371600" cy="1371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4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&amp; Directory Traversal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files outside the intended directory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365760" y="4828032"/>
            <a:ext cx="6400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INSA  |  Web Penetration Testing  |  Day 2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8412480" y="4828032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65760" y="1234440"/>
            <a:ext cx="8412480" cy="1371600"/>
          </a:xfrm>
          <a:prstGeom prst="roundRect">
            <a:avLst>
              <a:gd name="adj" fmla="val 6667"/>
            </a:avLst>
          </a:prstGeom>
          <a:solidFill>
            <a:srgbClr val="162236"/>
          </a:solidFill>
        </p:spPr>
      </p:sp>
      <p:sp>
        <p:nvSpPr>
          <p:cNvPr id="9" name="Text 6"/>
          <p:cNvSpPr/>
          <p:nvPr/>
        </p:nvSpPr>
        <p:spPr>
          <a:xfrm>
            <a:off x="594360" y="1371600"/>
            <a:ext cx="7955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Idea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94360" y="1737360"/>
            <a:ext cx="79552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uses user-controlled input to build a file path without proper sanitization. Classic payload: ../../../../etc/passwd  (or encoded variants).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365760" y="2834640"/>
            <a:ext cx="4114800" cy="777240"/>
          </a:xfrm>
          <a:prstGeom prst="roundRect">
            <a:avLst>
              <a:gd name="adj" fmla="val 9412"/>
            </a:avLst>
          </a:prstGeom>
          <a:solidFill>
            <a:srgbClr val="162236"/>
          </a:solidFill>
        </p:spPr>
      </p:sp>
      <p:sp>
        <p:nvSpPr>
          <p:cNvPr id="12" name="Text 9"/>
          <p:cNvSpPr/>
          <p:nvPr/>
        </p:nvSpPr>
        <p:spPr>
          <a:xfrm>
            <a:off x="548640" y="2944368"/>
            <a:ext cx="3749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Absolute vs Relative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48640" y="3218688"/>
            <a:ext cx="3749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/etc/passwd and ../../../etc/passwd can work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663440" y="2834640"/>
            <a:ext cx="4114800" cy="777240"/>
          </a:xfrm>
          <a:prstGeom prst="roundRect">
            <a:avLst>
              <a:gd name="adj" fmla="val 9412"/>
            </a:avLst>
          </a:prstGeom>
          <a:solidFill>
            <a:srgbClr val="162236"/>
          </a:solidFill>
        </p:spPr>
      </p:sp>
      <p:sp>
        <p:nvSpPr>
          <p:cNvPr id="15" name="Text 12"/>
          <p:cNvSpPr/>
          <p:nvPr/>
        </p:nvSpPr>
        <p:spPr>
          <a:xfrm>
            <a:off x="4846320" y="2944368"/>
            <a:ext cx="3749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 Bypass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846320" y="3218688"/>
            <a:ext cx="3749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%2e%2e%2f, double encoding, null bytes (older systems)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365760" y="3703320"/>
            <a:ext cx="4114800" cy="777240"/>
          </a:xfrm>
          <a:prstGeom prst="roundRect">
            <a:avLst>
              <a:gd name="adj" fmla="val 9412"/>
            </a:avLst>
          </a:prstGeom>
          <a:solidFill>
            <a:srgbClr val="162236"/>
          </a:solidFill>
        </p:spPr>
      </p:sp>
      <p:sp>
        <p:nvSpPr>
          <p:cNvPr id="18" name="Text 15"/>
          <p:cNvSpPr/>
          <p:nvPr/>
        </p:nvSpPr>
        <p:spPr>
          <a:xfrm>
            <a:off x="548640" y="3813048"/>
            <a:ext cx="3749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Paths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548640" y="4087368"/>
            <a:ext cx="3749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..\..\windows\win.ini  or mixed separators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663440" y="3703320"/>
            <a:ext cx="4114800" cy="777240"/>
          </a:xfrm>
          <a:prstGeom prst="roundRect">
            <a:avLst>
              <a:gd name="adj" fmla="val 9412"/>
            </a:avLst>
          </a:prstGeom>
          <a:solidFill>
            <a:srgbClr val="162236"/>
          </a:solidFill>
        </p:spPr>
      </p:sp>
      <p:sp>
        <p:nvSpPr>
          <p:cNvPr id="21" name="Text 18"/>
          <p:cNvSpPr/>
          <p:nvPr/>
        </p:nvSpPr>
        <p:spPr>
          <a:xfrm>
            <a:off x="4846320" y="3813048"/>
            <a:ext cx="3749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4846320" y="4087368"/>
            <a:ext cx="3749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code, configs, credentials, SSH keys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orkdir/artifacts/insa_logo.png"/>
          <p:cNvPicPr>
            <a:picLocks noChangeAspect="1"/>
          </p:cNvPicPr>
          <p:nvPr/>
        </p:nvPicPr>
        <p:blipFill>
          <a:blip r:embed="rId3">
            <a:alphaModFix amt="12000"/>
          </a:blip>
          <a:stretch>
            <a:fillRect/>
          </a:stretch>
        </p:blipFill>
        <p:spPr>
          <a:xfrm>
            <a:off x="7589520" y="3794760"/>
            <a:ext cx="1371600" cy="1371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4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Upload Vulnerabilities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upload into remote code execution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365760" y="4828032"/>
            <a:ext cx="6400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INSA  |  Web Penetration Testing  |  Day 2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8412480" y="4828032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20040" y="1280160"/>
            <a:ext cx="2788920" cy="1463040"/>
          </a:xfrm>
          <a:prstGeom prst="roundRect">
            <a:avLst>
              <a:gd name="adj" fmla="val 6250"/>
            </a:avLst>
          </a:prstGeom>
          <a:solidFill>
            <a:srgbClr val="162236"/>
          </a:solidFill>
        </p:spPr>
      </p:sp>
      <p:sp>
        <p:nvSpPr>
          <p:cNvPr id="9" name="Text 6"/>
          <p:cNvSpPr/>
          <p:nvPr/>
        </p:nvSpPr>
        <p:spPr>
          <a:xfrm>
            <a:off x="457200" y="1508760"/>
            <a:ext cx="2514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Unrestricted Type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57200" y="1965960"/>
            <a:ext cx="2514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check on extension or MIME → upload .php, .jsp, .aspx webshell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246120" y="1280160"/>
            <a:ext cx="2788920" cy="1463040"/>
          </a:xfrm>
          <a:prstGeom prst="roundRect">
            <a:avLst>
              <a:gd name="adj" fmla="val 6250"/>
            </a:avLst>
          </a:prstGeom>
          <a:solidFill>
            <a:srgbClr val="162236"/>
          </a:solidFill>
        </p:spPr>
      </p:sp>
      <p:sp>
        <p:nvSpPr>
          <p:cNvPr id="12" name="Text 9"/>
          <p:cNvSpPr/>
          <p:nvPr/>
        </p:nvSpPr>
        <p:spPr>
          <a:xfrm>
            <a:off x="3383280" y="1508760"/>
            <a:ext cx="2514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Validation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3383280" y="1965960"/>
            <a:ext cx="2514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 only, or blacklist (bypass with .phtml, .php5, double ext)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172200" y="1280160"/>
            <a:ext cx="2788920" cy="1463040"/>
          </a:xfrm>
          <a:prstGeom prst="roundRect">
            <a:avLst>
              <a:gd name="adj" fmla="val 6250"/>
            </a:avLst>
          </a:prstGeom>
          <a:solidFill>
            <a:srgbClr val="162236"/>
          </a:solidFill>
        </p:spPr>
      </p:sp>
      <p:sp>
        <p:nvSpPr>
          <p:cNvPr id="15" name="Text 12"/>
          <p:cNvSpPr/>
          <p:nvPr/>
        </p:nvSpPr>
        <p:spPr>
          <a:xfrm>
            <a:off x="6309360" y="1508760"/>
            <a:ext cx="2514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Content-Type Bypass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309360" y="1965960"/>
            <a:ext cx="2514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Content-Type header while keeping malicious content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320040" y="2926080"/>
            <a:ext cx="2788920" cy="1463040"/>
          </a:xfrm>
          <a:prstGeom prst="roundRect">
            <a:avLst>
              <a:gd name="adj" fmla="val 6250"/>
            </a:avLst>
          </a:prstGeom>
          <a:solidFill>
            <a:srgbClr val="162236"/>
          </a:solidFill>
        </p:spPr>
      </p:sp>
      <p:sp>
        <p:nvSpPr>
          <p:cNvPr id="18" name="Text 15"/>
          <p:cNvSpPr/>
          <p:nvPr/>
        </p:nvSpPr>
        <p:spPr>
          <a:xfrm>
            <a:off x="457200" y="3154680"/>
            <a:ext cx="2514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Traversal in Name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457200" y="3611880"/>
            <a:ext cx="2514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Filename contains ../ to write outside upload folder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3246120" y="2926080"/>
            <a:ext cx="2788920" cy="1463040"/>
          </a:xfrm>
          <a:prstGeom prst="roundRect">
            <a:avLst>
              <a:gd name="adj" fmla="val 6250"/>
            </a:avLst>
          </a:prstGeom>
          <a:solidFill>
            <a:srgbClr val="162236"/>
          </a:solidFill>
        </p:spPr>
      </p:sp>
      <p:sp>
        <p:nvSpPr>
          <p:cNvPr id="21" name="Text 18"/>
          <p:cNvSpPr/>
          <p:nvPr/>
        </p:nvSpPr>
        <p:spPr>
          <a:xfrm>
            <a:off x="3383280" y="3154680"/>
            <a:ext cx="2514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Overwrite Critical Files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3383280" y="3611880"/>
            <a:ext cx="2514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with same name as existing scripts or configs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6172200" y="2926080"/>
            <a:ext cx="2788920" cy="1463040"/>
          </a:xfrm>
          <a:prstGeom prst="roundRect">
            <a:avLst>
              <a:gd name="adj" fmla="val 6250"/>
            </a:avLst>
          </a:prstGeom>
          <a:solidFill>
            <a:srgbClr val="162236"/>
          </a:solidFill>
        </p:spPr>
      </p:sp>
      <p:sp>
        <p:nvSpPr>
          <p:cNvPr id="24" name="Text 21"/>
          <p:cNvSpPr/>
          <p:nvPr/>
        </p:nvSpPr>
        <p:spPr>
          <a:xfrm>
            <a:off x="6309360" y="3154680"/>
            <a:ext cx="2514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XXE / SSRF via Parser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6309360" y="3611880"/>
            <a:ext cx="2514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SVG, XML, or Office files processed server-side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orkdir/artifacts/insa_logo.png"/>
          <p:cNvPicPr>
            <a:picLocks noChangeAspect="1"/>
          </p:cNvPicPr>
          <p:nvPr/>
        </p:nvPicPr>
        <p:blipFill>
          <a:blip r:embed="rId3">
            <a:alphaModFix amt="12000"/>
          </a:blip>
          <a:stretch>
            <a:fillRect/>
          </a:stretch>
        </p:blipFill>
        <p:spPr>
          <a:xfrm>
            <a:off x="7589520" y="3794760"/>
            <a:ext cx="1371600" cy="1371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4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Injection Class Overview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Untrusted data crosses a language boundary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365760" y="4828032"/>
            <a:ext cx="6400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INSA  |  Web Penetration Testing  |  Day 2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8412480" y="4828032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57200" y="128016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162236"/>
          </a:solidFill>
        </p:spPr>
      </p:sp>
      <p:sp>
        <p:nvSpPr>
          <p:cNvPr id="9" name="Shape 6"/>
          <p:cNvSpPr/>
          <p:nvPr/>
        </p:nvSpPr>
        <p:spPr>
          <a:xfrm>
            <a:off x="457200" y="1280160"/>
            <a:ext cx="109728" cy="777240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10" name="Text 7"/>
          <p:cNvSpPr/>
          <p:nvPr/>
        </p:nvSpPr>
        <p:spPr>
          <a:xfrm>
            <a:off x="822960" y="1417320"/>
            <a:ext cx="3657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4572000" y="1417320"/>
            <a:ext cx="3931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theft, auth bypass, RCE (sometimes)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57200" y="214884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162236"/>
          </a:solidFill>
        </p:spPr>
      </p:sp>
      <p:sp>
        <p:nvSpPr>
          <p:cNvPr id="13" name="Shape 10"/>
          <p:cNvSpPr/>
          <p:nvPr/>
        </p:nvSpPr>
        <p:spPr>
          <a:xfrm>
            <a:off x="457200" y="2148840"/>
            <a:ext cx="109728" cy="777240"/>
          </a:xfrm>
          <a:prstGeom prst="rect">
            <a:avLst/>
          </a:prstGeom>
          <a:solidFill>
            <a:srgbClr val="8B5CF6"/>
          </a:solidFill>
        </p:spPr>
      </p:sp>
      <p:sp>
        <p:nvSpPr>
          <p:cNvPr id="14" name="Text 11"/>
          <p:cNvSpPr/>
          <p:nvPr/>
        </p:nvSpPr>
        <p:spPr>
          <a:xfrm>
            <a:off x="822960" y="2286000"/>
            <a:ext cx="3657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NoSQL Injection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4572000" y="2286000"/>
            <a:ext cx="3931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bypass, data extraction on MongoDB etc.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457200" y="301752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162236"/>
          </a:solidFill>
        </p:spPr>
      </p:sp>
      <p:sp>
        <p:nvSpPr>
          <p:cNvPr id="17" name="Shape 14"/>
          <p:cNvSpPr/>
          <p:nvPr/>
        </p:nvSpPr>
        <p:spPr>
          <a:xfrm>
            <a:off x="457200" y="3017520"/>
            <a:ext cx="109728" cy="777240"/>
          </a:xfrm>
          <a:prstGeom prst="rect">
            <a:avLst/>
          </a:prstGeom>
          <a:solidFill>
            <a:srgbClr val="EF4444"/>
          </a:solidFill>
        </p:spPr>
      </p:sp>
      <p:sp>
        <p:nvSpPr>
          <p:cNvPr id="18" name="Text 15"/>
          <p:cNvSpPr/>
          <p:nvPr/>
        </p:nvSpPr>
        <p:spPr>
          <a:xfrm>
            <a:off x="822960" y="3154680"/>
            <a:ext cx="3657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Command Injection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4572000" y="3154680"/>
            <a:ext cx="3931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system compromise, reverse shells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457200" y="388620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162236"/>
          </a:solidFill>
        </p:spPr>
      </p:sp>
      <p:sp>
        <p:nvSpPr>
          <p:cNvPr id="21" name="Shape 18"/>
          <p:cNvSpPr/>
          <p:nvPr/>
        </p:nvSpPr>
        <p:spPr>
          <a:xfrm>
            <a:off x="457200" y="3886200"/>
            <a:ext cx="109728" cy="777240"/>
          </a:xfrm>
          <a:prstGeom prst="rect">
            <a:avLst/>
          </a:prstGeom>
          <a:solidFill>
            <a:srgbClr val="22D3EE"/>
          </a:solidFill>
        </p:spPr>
      </p:sp>
      <p:sp>
        <p:nvSpPr>
          <p:cNvPr id="22" name="Text 19"/>
          <p:cNvSpPr/>
          <p:nvPr/>
        </p:nvSpPr>
        <p:spPr>
          <a:xfrm>
            <a:off x="822960" y="4023360"/>
            <a:ext cx="3657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XXE Injection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4572000" y="4023360"/>
            <a:ext cx="3931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read, SSRF, DoS, sometimes RCE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orkdir/artifacts/insa_logo.png"/>
          <p:cNvPicPr>
            <a:picLocks noChangeAspect="1"/>
          </p:cNvPicPr>
          <p:nvPr/>
        </p:nvPicPr>
        <p:blipFill>
          <a:blip r:embed="rId3">
            <a:alphaModFix amt="12000"/>
          </a:blip>
          <a:stretch>
            <a:fillRect/>
          </a:stretch>
        </p:blipFill>
        <p:spPr>
          <a:xfrm>
            <a:off x="7589520" y="3794760"/>
            <a:ext cx="1371600" cy="1371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4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classic and still critical injection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365760" y="4828032"/>
            <a:ext cx="6400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INSA  |  Web Penetration Testing  |  Day 2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8412480" y="4828032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input is concatenated into SQL queries without parameterization.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65760" y="1691640"/>
            <a:ext cx="2788920" cy="2743200"/>
          </a:xfrm>
          <a:prstGeom prst="roundRect">
            <a:avLst>
              <a:gd name="adj" fmla="val 3333"/>
            </a:avLst>
          </a:prstGeom>
          <a:solidFill>
            <a:srgbClr val="162236"/>
          </a:solidFill>
        </p:spPr>
      </p:sp>
      <p:sp>
        <p:nvSpPr>
          <p:cNvPr id="10" name="Text 7"/>
          <p:cNvSpPr/>
          <p:nvPr/>
        </p:nvSpPr>
        <p:spPr>
          <a:xfrm>
            <a:off x="548640" y="1874520"/>
            <a:ext cx="2423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In-Band (Classic)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48640" y="2377440"/>
            <a:ext cx="2423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Error-based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48640" y="2834640"/>
            <a:ext cx="2423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Union-based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48640" y="3291840"/>
            <a:ext cx="2423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Direct results in response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3291840" y="1691640"/>
            <a:ext cx="2788920" cy="2743200"/>
          </a:xfrm>
          <a:prstGeom prst="roundRect">
            <a:avLst>
              <a:gd name="adj" fmla="val 3333"/>
            </a:avLst>
          </a:prstGeom>
          <a:solidFill>
            <a:srgbClr val="162236"/>
          </a:solidFill>
        </p:spPr>
      </p:sp>
      <p:sp>
        <p:nvSpPr>
          <p:cNvPr id="15" name="Text 12"/>
          <p:cNvSpPr/>
          <p:nvPr/>
        </p:nvSpPr>
        <p:spPr>
          <a:xfrm>
            <a:off x="3474720" y="1874520"/>
            <a:ext cx="2423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3474720" y="2377440"/>
            <a:ext cx="2423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Boolean-based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3474720" y="2834640"/>
            <a:ext cx="2423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Time-based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3474720" y="3291840"/>
            <a:ext cx="2423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No direct output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6217920" y="1691640"/>
            <a:ext cx="2788920" cy="2743200"/>
          </a:xfrm>
          <a:prstGeom prst="roundRect">
            <a:avLst>
              <a:gd name="adj" fmla="val 3333"/>
            </a:avLst>
          </a:prstGeom>
          <a:solidFill>
            <a:srgbClr val="162236"/>
          </a:solidFill>
        </p:spPr>
      </p:sp>
      <p:sp>
        <p:nvSpPr>
          <p:cNvPr id="20" name="Text 17"/>
          <p:cNvSpPr/>
          <p:nvPr/>
        </p:nvSpPr>
        <p:spPr>
          <a:xfrm>
            <a:off x="6400800" y="1874520"/>
            <a:ext cx="2423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Out-of-Band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6400800" y="2377440"/>
            <a:ext cx="2423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DNS / HTTP callbacks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6400800" y="2834640"/>
            <a:ext cx="2423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When blind is hard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6400800" y="3291840"/>
            <a:ext cx="2423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Requires external interaction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orkdir/artifacts/insa_logo.png"/>
          <p:cNvPicPr>
            <a:picLocks noChangeAspect="1"/>
          </p:cNvPicPr>
          <p:nvPr/>
        </p:nvPicPr>
        <p:blipFill>
          <a:blip r:embed="rId3">
            <a:alphaModFix amt="12000"/>
          </a:blip>
          <a:stretch>
            <a:fillRect/>
          </a:stretch>
        </p:blipFill>
        <p:spPr>
          <a:xfrm>
            <a:off x="7589520" y="3794760"/>
            <a:ext cx="1371600" cy="1371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4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 – Key Techniques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attack surface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365760" y="4828032"/>
            <a:ext cx="6400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INSA  |  Web Penetration Testing  |  Day 2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8412480" y="4828032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65760" y="1234440"/>
            <a:ext cx="4160520" cy="960120"/>
          </a:xfrm>
          <a:prstGeom prst="roundRect">
            <a:avLst>
              <a:gd name="adj" fmla="val 7619"/>
            </a:avLst>
          </a:prstGeom>
          <a:solidFill>
            <a:srgbClr val="162236"/>
          </a:solidFill>
        </p:spPr>
      </p:sp>
      <p:sp>
        <p:nvSpPr>
          <p:cNvPr id="9" name="Text 6"/>
          <p:cNvSpPr/>
          <p:nvPr/>
        </p:nvSpPr>
        <p:spPr>
          <a:xfrm>
            <a:off x="548640" y="1371600"/>
            <a:ext cx="3794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Bypass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48640" y="1709928"/>
            <a:ext cx="37947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 OR '1'='1' --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754880" y="1234440"/>
            <a:ext cx="4160520" cy="960120"/>
          </a:xfrm>
          <a:prstGeom prst="roundRect">
            <a:avLst>
              <a:gd name="adj" fmla="val 7619"/>
            </a:avLst>
          </a:prstGeom>
          <a:solidFill>
            <a:srgbClr val="162236"/>
          </a:solidFill>
        </p:spPr>
      </p:sp>
      <p:sp>
        <p:nvSpPr>
          <p:cNvPr id="12" name="Text 9"/>
          <p:cNvSpPr/>
          <p:nvPr/>
        </p:nvSpPr>
        <p:spPr>
          <a:xfrm>
            <a:off x="4937760" y="1371600"/>
            <a:ext cx="3794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Union Column Discovery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937760" y="1709928"/>
            <a:ext cx="37947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 UNION SELECT null,null--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365760" y="2331720"/>
            <a:ext cx="4160520" cy="960120"/>
          </a:xfrm>
          <a:prstGeom prst="roundRect">
            <a:avLst>
              <a:gd name="adj" fmla="val 7619"/>
            </a:avLst>
          </a:prstGeom>
          <a:solidFill>
            <a:srgbClr val="162236"/>
          </a:solidFill>
        </p:spPr>
      </p:sp>
      <p:sp>
        <p:nvSpPr>
          <p:cNvPr id="15" name="Text 12"/>
          <p:cNvSpPr/>
          <p:nvPr/>
        </p:nvSpPr>
        <p:spPr>
          <a:xfrm>
            <a:off x="548640" y="2468880"/>
            <a:ext cx="3794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Extraction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48640" y="2807208"/>
            <a:ext cx="37947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UNION SELECT username,password FROM users--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754880" y="2331720"/>
            <a:ext cx="4160520" cy="960120"/>
          </a:xfrm>
          <a:prstGeom prst="roundRect">
            <a:avLst>
              <a:gd name="adj" fmla="val 7619"/>
            </a:avLst>
          </a:prstGeom>
          <a:solidFill>
            <a:srgbClr val="162236"/>
          </a:solidFill>
        </p:spPr>
      </p:sp>
      <p:sp>
        <p:nvSpPr>
          <p:cNvPr id="18" name="Text 15"/>
          <p:cNvSpPr/>
          <p:nvPr/>
        </p:nvSpPr>
        <p:spPr>
          <a:xfrm>
            <a:off x="4937760" y="2468880"/>
            <a:ext cx="3794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 Blind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4937760" y="2807208"/>
            <a:ext cx="37947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 AND SUBSTR(password,1,1)='a'--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365760" y="3429000"/>
            <a:ext cx="4160520" cy="960120"/>
          </a:xfrm>
          <a:prstGeom prst="roundRect">
            <a:avLst>
              <a:gd name="adj" fmla="val 7619"/>
            </a:avLst>
          </a:prstGeom>
          <a:solidFill>
            <a:srgbClr val="162236"/>
          </a:solidFill>
        </p:spPr>
      </p:sp>
      <p:sp>
        <p:nvSpPr>
          <p:cNvPr id="21" name="Text 18"/>
          <p:cNvSpPr/>
          <p:nvPr/>
        </p:nvSpPr>
        <p:spPr>
          <a:xfrm>
            <a:off x="548640" y="3566160"/>
            <a:ext cx="3794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Time-Based Blind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548640" y="3904488"/>
            <a:ext cx="37947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'; SLEEP(5)--  /  WAITFOR DELAY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4754880" y="3429000"/>
            <a:ext cx="4160520" cy="960120"/>
          </a:xfrm>
          <a:prstGeom prst="roundRect">
            <a:avLst>
              <a:gd name="adj" fmla="val 7619"/>
            </a:avLst>
          </a:prstGeom>
          <a:solidFill>
            <a:srgbClr val="162236"/>
          </a:solidFill>
        </p:spPr>
      </p:sp>
      <p:sp>
        <p:nvSpPr>
          <p:cNvPr id="24" name="Text 21"/>
          <p:cNvSpPr/>
          <p:nvPr/>
        </p:nvSpPr>
        <p:spPr>
          <a:xfrm>
            <a:off x="4937760" y="3566160"/>
            <a:ext cx="3794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Second-Order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4937760" y="3904488"/>
            <a:ext cx="37947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Payload stored, executed later in another query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orkdir/artifacts/insa_logo.png"/>
          <p:cNvPicPr>
            <a:picLocks noChangeAspect="1"/>
          </p:cNvPicPr>
          <p:nvPr/>
        </p:nvPicPr>
        <p:blipFill>
          <a:blip r:embed="rId3">
            <a:alphaModFix amt="12000"/>
          </a:blip>
          <a:stretch>
            <a:fillRect/>
          </a:stretch>
        </p:blipFill>
        <p:spPr>
          <a:xfrm>
            <a:off x="7589520" y="3794760"/>
            <a:ext cx="1371600" cy="1371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4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NoSQL Injection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MongoDB, CouchDB and document stores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365760" y="4828032"/>
            <a:ext cx="6400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INSA  |  Web Penetration Testing  |  Day 2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8412480" y="4828032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65760" y="1234440"/>
            <a:ext cx="8412480" cy="1188720"/>
          </a:xfrm>
          <a:prstGeom prst="roundRect">
            <a:avLst>
              <a:gd name="adj" fmla="val 7692"/>
            </a:avLst>
          </a:prstGeom>
          <a:solidFill>
            <a:srgbClr val="162236"/>
          </a:solidFill>
        </p:spPr>
      </p:sp>
      <p:sp>
        <p:nvSpPr>
          <p:cNvPr id="9" name="Text 6"/>
          <p:cNvSpPr/>
          <p:nvPr/>
        </p:nvSpPr>
        <p:spPr>
          <a:xfrm>
            <a:off x="594360" y="1463040"/>
            <a:ext cx="795528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 such as $ne, $gt, $regex, $where can be injected when input is parsed as JSON or query objects instead of plain strings.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457200" y="2651760"/>
            <a:ext cx="20116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Bypass: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2468880" y="2651760"/>
            <a:ext cx="62179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{"username": {"$ne": null}, "password": {"$ne": null}}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3154680"/>
            <a:ext cx="20116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 Extraction: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2468880" y="3154680"/>
            <a:ext cx="62179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{"username": {"$regex": "^a"}}  → enumerate chars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57200" y="3657600"/>
            <a:ext cx="20116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$where: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2468880" y="3657600"/>
            <a:ext cx="62179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{"$where": "this.password.length &gt; 0"}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57200" y="4160520"/>
            <a:ext cx="20116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Injection: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2468880" y="4160520"/>
            <a:ext cx="62179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username[$ne]=admin&amp;password[$ne]=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orkdir/artifacts/insa_logo.png"/>
          <p:cNvPicPr>
            <a:picLocks noChangeAspect="1"/>
          </p:cNvPicPr>
          <p:nvPr/>
        </p:nvPicPr>
        <p:blipFill>
          <a:blip r:embed="rId3">
            <a:alphaModFix amt="12000"/>
          </a:blip>
          <a:stretch>
            <a:fillRect/>
          </a:stretch>
        </p:blipFill>
        <p:spPr>
          <a:xfrm>
            <a:off x="7589520" y="3794760"/>
            <a:ext cx="1371600" cy="1371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4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Command Injection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 metacharacters as a weapon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365760" y="4828032"/>
            <a:ext cx="6400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INSA  |  Web Penetration Testing  |  Day 2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8412480" y="4828032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65760" y="1280160"/>
            <a:ext cx="4114800" cy="1005840"/>
          </a:xfrm>
          <a:prstGeom prst="roundRect">
            <a:avLst>
              <a:gd name="adj" fmla="val 7273"/>
            </a:avLst>
          </a:prstGeom>
          <a:solidFill>
            <a:srgbClr val="162236"/>
          </a:solidFill>
        </p:spPr>
      </p:sp>
      <p:sp>
        <p:nvSpPr>
          <p:cNvPr id="9" name="Text 6"/>
          <p:cNvSpPr/>
          <p:nvPr/>
        </p:nvSpPr>
        <p:spPr>
          <a:xfrm>
            <a:off x="548640" y="1417320"/>
            <a:ext cx="3749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Vectors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48640" y="1737360"/>
            <a:ext cx="37490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Ping tools, file converters, backup scripts, image processors that call system()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65760" y="2423160"/>
            <a:ext cx="4114800" cy="1005840"/>
          </a:xfrm>
          <a:prstGeom prst="roundRect">
            <a:avLst>
              <a:gd name="adj" fmla="val 7273"/>
            </a:avLst>
          </a:prstGeom>
          <a:solidFill>
            <a:srgbClr val="162236"/>
          </a:solidFill>
        </p:spPr>
      </p:sp>
      <p:sp>
        <p:nvSpPr>
          <p:cNvPr id="12" name="Text 9"/>
          <p:cNvSpPr/>
          <p:nvPr/>
        </p:nvSpPr>
        <p:spPr>
          <a:xfrm>
            <a:off x="548640" y="2560320"/>
            <a:ext cx="3749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Separators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48640" y="2880360"/>
            <a:ext cx="37490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 |  ||  &amp;  &amp;&amp;  `cmd`  $(cmd)  newline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365760" y="3566160"/>
            <a:ext cx="4114800" cy="1005840"/>
          </a:xfrm>
          <a:prstGeom prst="roundRect">
            <a:avLst>
              <a:gd name="adj" fmla="val 7273"/>
            </a:avLst>
          </a:prstGeom>
          <a:solidFill>
            <a:srgbClr val="162236"/>
          </a:solidFill>
        </p:spPr>
      </p:sp>
      <p:sp>
        <p:nvSpPr>
          <p:cNvPr id="15" name="Text 12"/>
          <p:cNvSpPr/>
          <p:nvPr/>
        </p:nvSpPr>
        <p:spPr>
          <a:xfrm>
            <a:off x="548640" y="3703320"/>
            <a:ext cx="3749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 Detection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48640" y="4023360"/>
            <a:ext cx="37490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delays (sleep / ping -c), out-of-band DNS/HTTP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663440" y="1280160"/>
            <a:ext cx="4114800" cy="1005840"/>
          </a:xfrm>
          <a:prstGeom prst="roundRect">
            <a:avLst>
              <a:gd name="adj" fmla="val 7273"/>
            </a:avLst>
          </a:prstGeom>
          <a:solidFill>
            <a:srgbClr val="162236"/>
          </a:solidFill>
        </p:spPr>
      </p:sp>
      <p:sp>
        <p:nvSpPr>
          <p:cNvPr id="18" name="Text 15"/>
          <p:cNvSpPr/>
          <p:nvPr/>
        </p:nvSpPr>
        <p:spPr>
          <a:xfrm>
            <a:off x="4846320" y="1417320"/>
            <a:ext cx="3749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4846320" y="1737360"/>
            <a:ext cx="37490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shell, data exfil, lateral movement, full host control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663440" y="2423160"/>
            <a:ext cx="4114800" cy="1005840"/>
          </a:xfrm>
          <a:prstGeom prst="roundRect">
            <a:avLst>
              <a:gd name="adj" fmla="val 7273"/>
            </a:avLst>
          </a:prstGeom>
          <a:solidFill>
            <a:srgbClr val="162236"/>
          </a:solidFill>
        </p:spPr>
      </p:sp>
      <p:sp>
        <p:nvSpPr>
          <p:cNvPr id="21" name="Text 18"/>
          <p:cNvSpPr/>
          <p:nvPr/>
        </p:nvSpPr>
        <p:spPr>
          <a:xfrm>
            <a:off x="4846320" y="2560320"/>
            <a:ext cx="3749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to Bypass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4846320" y="2880360"/>
            <a:ext cx="37490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 → ${IFS}, quotes, base64, encoding tricks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4663440" y="3566160"/>
            <a:ext cx="4114800" cy="1005840"/>
          </a:xfrm>
          <a:prstGeom prst="roundRect">
            <a:avLst>
              <a:gd name="adj" fmla="val 7273"/>
            </a:avLst>
          </a:prstGeom>
          <a:solidFill>
            <a:srgbClr val="162236"/>
          </a:solidFill>
        </p:spPr>
      </p:sp>
      <p:sp>
        <p:nvSpPr>
          <p:cNvPr id="24" name="Text 21"/>
          <p:cNvSpPr/>
          <p:nvPr/>
        </p:nvSpPr>
        <p:spPr>
          <a:xfrm>
            <a:off x="4846320" y="3703320"/>
            <a:ext cx="3749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4846320" y="4023360"/>
            <a:ext cx="37490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shell; use APIs; strict allow-lists; never pass user input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orkdir/artifacts/insa_logo.png"/>
          <p:cNvPicPr>
            <a:picLocks noChangeAspect="1"/>
          </p:cNvPicPr>
          <p:nvPr/>
        </p:nvPicPr>
        <p:blipFill>
          <a:blip r:embed="rId3">
            <a:alphaModFix amt="12000"/>
          </a:blip>
          <a:stretch>
            <a:fillRect/>
          </a:stretch>
        </p:blipFill>
        <p:spPr>
          <a:xfrm>
            <a:off x="7589520" y="3794760"/>
            <a:ext cx="1371600" cy="1371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4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XML External Entity (XXE)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Abusing the XML parser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365760" y="4828032"/>
            <a:ext cx="6400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INSA  |  Web Penetration Testing  |  Day 2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8412480" y="4828032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65760" y="1234440"/>
            <a:ext cx="8412480" cy="1097280"/>
          </a:xfrm>
          <a:prstGeom prst="roundRect">
            <a:avLst>
              <a:gd name="adj" fmla="val 8333"/>
            </a:avLst>
          </a:prstGeom>
          <a:solidFill>
            <a:srgbClr val="162236"/>
          </a:solidFill>
        </p:spPr>
      </p:sp>
      <p:sp>
        <p:nvSpPr>
          <p:cNvPr id="9" name="Text 6"/>
          <p:cNvSpPr/>
          <p:nvPr/>
        </p:nvSpPr>
        <p:spPr>
          <a:xfrm>
            <a:off x="594360" y="1417320"/>
            <a:ext cx="795528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an application parses XML and external entities are enabled, an attacker can define entities that read local files or make network requests.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65760" y="2560320"/>
            <a:ext cx="4160520" cy="868680"/>
          </a:xfrm>
          <a:prstGeom prst="roundRect">
            <a:avLst>
              <a:gd name="adj" fmla="val 8421"/>
            </a:avLst>
          </a:prstGeom>
          <a:solidFill>
            <a:srgbClr val="162236"/>
          </a:solidFill>
        </p:spPr>
      </p:sp>
      <p:sp>
        <p:nvSpPr>
          <p:cNvPr id="11" name="Text 8"/>
          <p:cNvSpPr/>
          <p:nvPr/>
        </p:nvSpPr>
        <p:spPr>
          <a:xfrm>
            <a:off x="548640" y="2697480"/>
            <a:ext cx="3794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Disclosure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48640" y="3017520"/>
            <a:ext cx="3794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"file:///etc/passwd"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754880" y="2560320"/>
            <a:ext cx="4160520" cy="868680"/>
          </a:xfrm>
          <a:prstGeom prst="roundRect">
            <a:avLst>
              <a:gd name="adj" fmla="val 8421"/>
            </a:avLst>
          </a:prstGeom>
          <a:solidFill>
            <a:srgbClr val="162236"/>
          </a:solidFill>
        </p:spPr>
      </p:sp>
      <p:sp>
        <p:nvSpPr>
          <p:cNvPr id="14" name="Text 11"/>
          <p:cNvSpPr/>
          <p:nvPr/>
        </p:nvSpPr>
        <p:spPr>
          <a:xfrm>
            <a:off x="4937760" y="2697480"/>
            <a:ext cx="3794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SSRF via XXE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4937760" y="3017520"/>
            <a:ext cx="3794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internal services or cloud metadata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365760" y="3566160"/>
            <a:ext cx="4160520" cy="868680"/>
          </a:xfrm>
          <a:prstGeom prst="roundRect">
            <a:avLst>
              <a:gd name="adj" fmla="val 8421"/>
            </a:avLst>
          </a:prstGeom>
          <a:solidFill>
            <a:srgbClr val="162236"/>
          </a:solidFill>
        </p:spPr>
      </p:sp>
      <p:sp>
        <p:nvSpPr>
          <p:cNvPr id="17" name="Text 14"/>
          <p:cNvSpPr/>
          <p:nvPr/>
        </p:nvSpPr>
        <p:spPr>
          <a:xfrm>
            <a:off x="548640" y="3703320"/>
            <a:ext cx="3794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 XXE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548640" y="4023360"/>
            <a:ext cx="3794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Out-of-band with external DTD + parameter entities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4754880" y="3566160"/>
            <a:ext cx="4160520" cy="868680"/>
          </a:xfrm>
          <a:prstGeom prst="roundRect">
            <a:avLst>
              <a:gd name="adj" fmla="val 8421"/>
            </a:avLst>
          </a:prstGeom>
          <a:solidFill>
            <a:srgbClr val="162236"/>
          </a:solidFill>
        </p:spPr>
      </p:sp>
      <p:sp>
        <p:nvSpPr>
          <p:cNvPr id="20" name="Text 17"/>
          <p:cNvSpPr/>
          <p:nvPr/>
        </p:nvSpPr>
        <p:spPr>
          <a:xfrm>
            <a:off x="4937760" y="3703320"/>
            <a:ext cx="3794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(Billion Laughs)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4937760" y="4023360"/>
            <a:ext cx="3794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expansion leading to resource exhaustion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orkdir/artifacts/insa_logo.png"/>
          <p:cNvPicPr>
            <a:picLocks noChangeAspect="1"/>
          </p:cNvPicPr>
          <p:nvPr/>
        </p:nvPicPr>
        <p:blipFill>
          <a:blip r:embed="rId3">
            <a:alphaModFix amt="12000"/>
          </a:blip>
          <a:stretch>
            <a:fillRect/>
          </a:stretch>
        </p:blipFill>
        <p:spPr>
          <a:xfrm>
            <a:off x="7589520" y="3794760"/>
            <a:ext cx="1371600" cy="1371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4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PortSwigger Labs – Part I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SQLi, Command Injection, Path Traversal, File Upload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365760" y="4828032"/>
            <a:ext cx="6400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INSA  |  Web Penetration Testing  |  Day 2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8412480" y="4828032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20040" y="1280160"/>
            <a:ext cx="2103120" cy="3200400"/>
          </a:xfrm>
          <a:prstGeom prst="roundRect">
            <a:avLst>
              <a:gd name="adj" fmla="val 4348"/>
            </a:avLst>
          </a:prstGeom>
          <a:solidFill>
            <a:srgbClr val="162236"/>
          </a:solidFill>
        </p:spPr>
      </p:sp>
      <p:sp>
        <p:nvSpPr>
          <p:cNvPr id="9" name="Shape 6"/>
          <p:cNvSpPr/>
          <p:nvPr/>
        </p:nvSpPr>
        <p:spPr>
          <a:xfrm>
            <a:off x="320040" y="1280160"/>
            <a:ext cx="2103120" cy="457200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10" name="Text 7"/>
          <p:cNvSpPr/>
          <p:nvPr/>
        </p:nvSpPr>
        <p:spPr>
          <a:xfrm>
            <a:off x="411480" y="1353312"/>
            <a:ext cx="19202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7200" y="196596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UNION attacks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246888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Blind Boolean &amp; Time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57200" y="297180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Login bypass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57200" y="347472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Second-order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2514600" y="1280160"/>
            <a:ext cx="2103120" cy="3200400"/>
          </a:xfrm>
          <a:prstGeom prst="roundRect">
            <a:avLst>
              <a:gd name="adj" fmla="val 4348"/>
            </a:avLst>
          </a:prstGeom>
          <a:solidFill>
            <a:srgbClr val="162236"/>
          </a:solidFill>
        </p:spPr>
      </p:sp>
      <p:sp>
        <p:nvSpPr>
          <p:cNvPr id="16" name="Shape 13"/>
          <p:cNvSpPr/>
          <p:nvPr/>
        </p:nvSpPr>
        <p:spPr>
          <a:xfrm>
            <a:off x="2514600" y="1280160"/>
            <a:ext cx="2103120" cy="457200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17" name="Text 14"/>
          <p:cNvSpPr/>
          <p:nvPr/>
        </p:nvSpPr>
        <p:spPr>
          <a:xfrm>
            <a:off x="2606040" y="1353312"/>
            <a:ext cx="19202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Injection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2651760" y="196596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Simple OS command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2651760" y="246888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Blind with time delays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2651760" y="297180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Out-of-band detection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4709160" y="1280160"/>
            <a:ext cx="2103120" cy="3200400"/>
          </a:xfrm>
          <a:prstGeom prst="roundRect">
            <a:avLst>
              <a:gd name="adj" fmla="val 4348"/>
            </a:avLst>
          </a:prstGeom>
          <a:solidFill>
            <a:srgbClr val="162236"/>
          </a:solidFill>
        </p:spPr>
      </p:sp>
      <p:sp>
        <p:nvSpPr>
          <p:cNvPr id="22" name="Shape 19"/>
          <p:cNvSpPr/>
          <p:nvPr/>
        </p:nvSpPr>
        <p:spPr>
          <a:xfrm>
            <a:off x="4709160" y="1280160"/>
            <a:ext cx="2103120" cy="457200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23" name="Text 20"/>
          <p:cNvSpPr/>
          <p:nvPr/>
        </p:nvSpPr>
        <p:spPr>
          <a:xfrm>
            <a:off x="4800600" y="1353312"/>
            <a:ext cx="19202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Traversal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4846320" y="196596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Simple traversal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4846320" y="246888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Absolute path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4846320" y="297180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Encoding bypasses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4846320" y="347472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Null byte (legacy)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6903720" y="1280160"/>
            <a:ext cx="2103120" cy="3200400"/>
          </a:xfrm>
          <a:prstGeom prst="roundRect">
            <a:avLst>
              <a:gd name="adj" fmla="val 4348"/>
            </a:avLst>
          </a:prstGeom>
          <a:solidFill>
            <a:srgbClr val="162236"/>
          </a:solidFill>
        </p:spPr>
      </p:sp>
      <p:sp>
        <p:nvSpPr>
          <p:cNvPr id="29" name="Shape 26"/>
          <p:cNvSpPr/>
          <p:nvPr/>
        </p:nvSpPr>
        <p:spPr>
          <a:xfrm>
            <a:off x="6903720" y="1280160"/>
            <a:ext cx="2103120" cy="457200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30" name="Text 27"/>
          <p:cNvSpPr/>
          <p:nvPr/>
        </p:nvSpPr>
        <p:spPr>
          <a:xfrm>
            <a:off x="6995160" y="1353312"/>
            <a:ext cx="19202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Upload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7040880" y="196596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Unrestricted upload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7040880" y="246888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Content-Type bypass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7040880" y="297180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Path traversal in name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7040880" y="347472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Webshell execution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orkdir/artifacts/insa_logo.png"/>
          <p:cNvPicPr>
            <a:picLocks noChangeAspect="1"/>
          </p:cNvPicPr>
          <p:nvPr/>
        </p:nvPicPr>
        <p:blipFill>
          <a:blip r:embed="rId3">
            <a:alphaModFix amt="12000"/>
          </a:blip>
          <a:stretch>
            <a:fillRect/>
          </a:stretch>
        </p:blipFill>
        <p:spPr>
          <a:xfrm>
            <a:off x="7589520" y="3794760"/>
            <a:ext cx="1371600" cy="1371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4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Exploiting with Burp Suite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primary weapon for web testing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365760" y="4828032"/>
            <a:ext cx="6400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INSA  |  Web Penetration Testing  |  Day 2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8412480" y="4828032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20040" y="1280160"/>
            <a:ext cx="2788920" cy="1417320"/>
          </a:xfrm>
          <a:prstGeom prst="roundRect">
            <a:avLst>
              <a:gd name="adj" fmla="val 6452"/>
            </a:avLst>
          </a:prstGeom>
          <a:solidFill>
            <a:srgbClr val="162236"/>
          </a:solidFill>
        </p:spPr>
      </p:sp>
      <p:sp>
        <p:nvSpPr>
          <p:cNvPr id="9" name="Text 6"/>
          <p:cNvSpPr/>
          <p:nvPr/>
        </p:nvSpPr>
        <p:spPr>
          <a:xfrm>
            <a:off x="502920" y="1508760"/>
            <a:ext cx="24231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02920" y="1920240"/>
            <a:ext cx="24231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Intercept, modify, and forward every request/response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246120" y="1280160"/>
            <a:ext cx="2788920" cy="1417320"/>
          </a:xfrm>
          <a:prstGeom prst="roundRect">
            <a:avLst>
              <a:gd name="adj" fmla="val 6452"/>
            </a:avLst>
          </a:prstGeom>
          <a:solidFill>
            <a:srgbClr val="162236"/>
          </a:solidFill>
        </p:spPr>
      </p:sp>
      <p:sp>
        <p:nvSpPr>
          <p:cNvPr id="12" name="Text 9"/>
          <p:cNvSpPr/>
          <p:nvPr/>
        </p:nvSpPr>
        <p:spPr>
          <a:xfrm>
            <a:off x="3429000" y="1508760"/>
            <a:ext cx="24231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Repeater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3429000" y="1920240"/>
            <a:ext cx="24231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Craft and resend requests; perfect for SQLi &amp; path traversal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172200" y="1280160"/>
            <a:ext cx="2788920" cy="1417320"/>
          </a:xfrm>
          <a:prstGeom prst="roundRect">
            <a:avLst>
              <a:gd name="adj" fmla="val 6452"/>
            </a:avLst>
          </a:prstGeom>
          <a:solidFill>
            <a:srgbClr val="162236"/>
          </a:solidFill>
        </p:spPr>
      </p:sp>
      <p:sp>
        <p:nvSpPr>
          <p:cNvPr id="15" name="Text 12"/>
          <p:cNvSpPr/>
          <p:nvPr/>
        </p:nvSpPr>
        <p:spPr>
          <a:xfrm>
            <a:off x="6355080" y="1508760"/>
            <a:ext cx="24231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Intruder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355080" y="1920240"/>
            <a:ext cx="24231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fuzzing for blind SQLi, auth bypass, parameter mining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320040" y="2926080"/>
            <a:ext cx="2788920" cy="1417320"/>
          </a:xfrm>
          <a:prstGeom prst="roundRect">
            <a:avLst>
              <a:gd name="adj" fmla="val 6452"/>
            </a:avLst>
          </a:prstGeom>
          <a:solidFill>
            <a:srgbClr val="162236"/>
          </a:solidFill>
        </p:spPr>
      </p:sp>
      <p:sp>
        <p:nvSpPr>
          <p:cNvPr id="18" name="Text 15"/>
          <p:cNvSpPr/>
          <p:nvPr/>
        </p:nvSpPr>
        <p:spPr>
          <a:xfrm>
            <a:off x="502920" y="3154680"/>
            <a:ext cx="24231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502920" y="3566160"/>
            <a:ext cx="24231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URL, Base64, HTML, Hex encode/decode on the fly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3246120" y="2926080"/>
            <a:ext cx="2788920" cy="1417320"/>
          </a:xfrm>
          <a:prstGeom prst="roundRect">
            <a:avLst>
              <a:gd name="adj" fmla="val 6452"/>
            </a:avLst>
          </a:prstGeom>
          <a:solidFill>
            <a:srgbClr val="162236"/>
          </a:solidFill>
        </p:spPr>
      </p:sp>
      <p:sp>
        <p:nvSpPr>
          <p:cNvPr id="21" name="Text 18"/>
          <p:cNvSpPr/>
          <p:nvPr/>
        </p:nvSpPr>
        <p:spPr>
          <a:xfrm>
            <a:off x="3429000" y="3154680"/>
            <a:ext cx="24231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Comparer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3429000" y="3566160"/>
            <a:ext cx="24231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 responses to detect blind injection differences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172200" y="2926080"/>
            <a:ext cx="2788920" cy="1417320"/>
          </a:xfrm>
          <a:prstGeom prst="roundRect">
            <a:avLst>
              <a:gd name="adj" fmla="val 6452"/>
            </a:avLst>
          </a:prstGeom>
          <a:solidFill>
            <a:srgbClr val="162236"/>
          </a:solidFill>
        </p:spPr>
      </p:sp>
      <p:sp>
        <p:nvSpPr>
          <p:cNvPr id="24" name="Text 21"/>
          <p:cNvSpPr/>
          <p:nvPr/>
        </p:nvSpPr>
        <p:spPr>
          <a:xfrm>
            <a:off x="6355080" y="3154680"/>
            <a:ext cx="24231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Collaborator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6355080" y="3566160"/>
            <a:ext cx="24231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Out-of-band detection for blind XXE, SSRF, command injection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orkdir/artifacts/insa_logo.png"/>
          <p:cNvPicPr>
            <a:picLocks noChangeAspect="1"/>
          </p:cNvPicPr>
          <p:nvPr/>
        </p:nvPicPr>
        <p:blipFill>
          <a:blip r:embed="rId3">
            <a:alphaModFix amt="70000"/>
          </a:blip>
          <a:stretch>
            <a:fillRect/>
          </a:stretch>
        </p:blipFill>
        <p:spPr>
          <a:xfrm>
            <a:off x="3657600" y="731520"/>
            <a:ext cx="1828800" cy="1828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74320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kern="0" spc="4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II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457200" y="3154680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Penetration Testing II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457200" y="379476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 •  Access Control  •  Logic Flaws  •  Client-Side &amp; API Attacks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orkdir/artifacts/insa_logo.png"/>
          <p:cNvPicPr>
            <a:picLocks noChangeAspect="1"/>
          </p:cNvPicPr>
          <p:nvPr/>
        </p:nvPicPr>
        <p:blipFill>
          <a:blip r:embed="rId3">
            <a:alphaModFix amt="12000"/>
          </a:blip>
          <a:stretch>
            <a:fillRect/>
          </a:stretch>
        </p:blipFill>
        <p:spPr>
          <a:xfrm>
            <a:off x="7589520" y="3794760"/>
            <a:ext cx="1371600" cy="1371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4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Vulnerabilities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Breaking the front door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365760" y="4828032"/>
            <a:ext cx="6400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INSA  |  Web Penetration Testing  |  Day 2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8412480" y="4828032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20040" y="1280160"/>
            <a:ext cx="2788920" cy="1417320"/>
          </a:xfrm>
          <a:prstGeom prst="roundRect">
            <a:avLst>
              <a:gd name="adj" fmla="val 6452"/>
            </a:avLst>
          </a:prstGeom>
          <a:solidFill>
            <a:srgbClr val="162236"/>
          </a:solidFill>
        </p:spPr>
      </p:sp>
      <p:sp>
        <p:nvSpPr>
          <p:cNvPr id="9" name="Text 6"/>
          <p:cNvSpPr/>
          <p:nvPr/>
        </p:nvSpPr>
        <p:spPr>
          <a:xfrm>
            <a:off x="457200" y="1508760"/>
            <a:ext cx="2514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 Stuffing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57200" y="1965960"/>
            <a:ext cx="2514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Reused passwords from breaches + automation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246120" y="1280160"/>
            <a:ext cx="2788920" cy="1417320"/>
          </a:xfrm>
          <a:prstGeom prst="roundRect">
            <a:avLst>
              <a:gd name="adj" fmla="val 6452"/>
            </a:avLst>
          </a:prstGeom>
          <a:solidFill>
            <a:srgbClr val="162236"/>
          </a:solidFill>
        </p:spPr>
      </p:sp>
      <p:sp>
        <p:nvSpPr>
          <p:cNvPr id="12" name="Text 9"/>
          <p:cNvSpPr/>
          <p:nvPr/>
        </p:nvSpPr>
        <p:spPr>
          <a:xfrm>
            <a:off x="3383280" y="1508760"/>
            <a:ext cx="2514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Brute Force &amp; Lockout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3383280" y="1965960"/>
            <a:ext cx="2514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rate-limiting or predictable lockout logic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172200" y="1280160"/>
            <a:ext cx="2788920" cy="1417320"/>
          </a:xfrm>
          <a:prstGeom prst="roundRect">
            <a:avLst>
              <a:gd name="adj" fmla="val 6452"/>
            </a:avLst>
          </a:prstGeom>
          <a:solidFill>
            <a:srgbClr val="162236"/>
          </a:solidFill>
        </p:spPr>
      </p:sp>
      <p:sp>
        <p:nvSpPr>
          <p:cNvPr id="15" name="Text 12"/>
          <p:cNvSpPr/>
          <p:nvPr/>
        </p:nvSpPr>
        <p:spPr>
          <a:xfrm>
            <a:off x="6309360" y="1508760"/>
            <a:ext cx="2514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Reset Flaws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309360" y="1965960"/>
            <a:ext cx="2514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Predictable tokens, host header poisoning, account takeover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320040" y="2926080"/>
            <a:ext cx="2788920" cy="1417320"/>
          </a:xfrm>
          <a:prstGeom prst="roundRect">
            <a:avLst>
              <a:gd name="adj" fmla="val 6452"/>
            </a:avLst>
          </a:prstGeom>
          <a:solidFill>
            <a:srgbClr val="162236"/>
          </a:solidFill>
        </p:spPr>
      </p:sp>
      <p:sp>
        <p:nvSpPr>
          <p:cNvPr id="18" name="Text 15"/>
          <p:cNvSpPr/>
          <p:nvPr/>
        </p:nvSpPr>
        <p:spPr>
          <a:xfrm>
            <a:off x="457200" y="3154680"/>
            <a:ext cx="2514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Fixation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457200" y="3611880"/>
            <a:ext cx="2514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ID not regenerated after login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3246120" y="2926080"/>
            <a:ext cx="2788920" cy="1417320"/>
          </a:xfrm>
          <a:prstGeom prst="roundRect">
            <a:avLst>
              <a:gd name="adj" fmla="val 6452"/>
            </a:avLst>
          </a:prstGeom>
          <a:solidFill>
            <a:srgbClr val="162236"/>
          </a:solidFill>
        </p:spPr>
      </p:sp>
      <p:sp>
        <p:nvSpPr>
          <p:cNvPr id="21" name="Text 18"/>
          <p:cNvSpPr/>
          <p:nvPr/>
        </p:nvSpPr>
        <p:spPr>
          <a:xfrm>
            <a:off x="3383280" y="3154680"/>
            <a:ext cx="2514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 Bypass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3383280" y="3611880"/>
            <a:ext cx="2514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manipulation, backup codes, race conditions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6172200" y="2926080"/>
            <a:ext cx="2788920" cy="1417320"/>
          </a:xfrm>
          <a:prstGeom prst="roundRect">
            <a:avLst>
              <a:gd name="adj" fmla="val 6452"/>
            </a:avLst>
          </a:prstGeom>
          <a:solidFill>
            <a:srgbClr val="162236"/>
          </a:solidFill>
        </p:spPr>
      </p:sp>
      <p:sp>
        <p:nvSpPr>
          <p:cNvPr id="24" name="Text 21"/>
          <p:cNvSpPr/>
          <p:nvPr/>
        </p:nvSpPr>
        <p:spPr>
          <a:xfrm>
            <a:off x="6309360" y="3154680"/>
            <a:ext cx="2514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Username Enumeration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6309360" y="3611880"/>
            <a:ext cx="2514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responses for valid vs invalid users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orkdir/artifacts/insa_logo.png"/>
          <p:cNvPicPr>
            <a:picLocks noChangeAspect="1"/>
          </p:cNvPicPr>
          <p:nvPr/>
        </p:nvPicPr>
        <p:blipFill>
          <a:blip r:embed="rId3">
            <a:alphaModFix amt="12000"/>
          </a:blip>
          <a:stretch>
            <a:fillRect/>
          </a:stretch>
        </p:blipFill>
        <p:spPr>
          <a:xfrm>
            <a:off x="7589520" y="3794760"/>
            <a:ext cx="1371600" cy="1371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4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 &amp; IDOR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Broken object-level authorization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365760" y="4828032"/>
            <a:ext cx="6400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INSA  |  Web Penetration Testing  |  Day 2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8412480" y="4828032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65760" y="1234440"/>
            <a:ext cx="8412480" cy="1051560"/>
          </a:xfrm>
          <a:prstGeom prst="roundRect">
            <a:avLst>
              <a:gd name="adj" fmla="val 8696"/>
            </a:avLst>
          </a:prstGeom>
          <a:solidFill>
            <a:srgbClr val="162236"/>
          </a:solidFill>
        </p:spPr>
      </p:sp>
      <p:sp>
        <p:nvSpPr>
          <p:cNvPr id="9" name="Text 6"/>
          <p:cNvSpPr/>
          <p:nvPr/>
        </p:nvSpPr>
        <p:spPr>
          <a:xfrm>
            <a:off x="594360" y="1417320"/>
            <a:ext cx="795528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Insecure Direct Object Reference (IDOR): changing an ID parameter (user_id=123 → 124) grants access to another user's data or actions. Also covers horizontal and vertical privilege escalation.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65760" y="2514600"/>
            <a:ext cx="4114800" cy="914400"/>
          </a:xfrm>
          <a:prstGeom prst="roundRect">
            <a:avLst>
              <a:gd name="adj" fmla="val 8000"/>
            </a:avLst>
          </a:prstGeom>
          <a:solidFill>
            <a:srgbClr val="162236"/>
          </a:solidFill>
        </p:spPr>
      </p:sp>
      <p:sp>
        <p:nvSpPr>
          <p:cNvPr id="11" name="Text 8"/>
          <p:cNvSpPr/>
          <p:nvPr/>
        </p:nvSpPr>
        <p:spPr>
          <a:xfrm>
            <a:off x="548640" y="2651760"/>
            <a:ext cx="3749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48640" y="2971800"/>
            <a:ext cx="3749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another user's resources at same privilege level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663440" y="2514600"/>
            <a:ext cx="4114800" cy="914400"/>
          </a:xfrm>
          <a:prstGeom prst="roundRect">
            <a:avLst>
              <a:gd name="adj" fmla="val 8000"/>
            </a:avLst>
          </a:prstGeom>
          <a:solidFill>
            <a:srgbClr val="162236"/>
          </a:solidFill>
        </p:spPr>
      </p:sp>
      <p:sp>
        <p:nvSpPr>
          <p:cNvPr id="14" name="Text 11"/>
          <p:cNvSpPr/>
          <p:nvPr/>
        </p:nvSpPr>
        <p:spPr>
          <a:xfrm>
            <a:off x="4846320" y="2651760"/>
            <a:ext cx="3749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4846320" y="2971800"/>
            <a:ext cx="3749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admin functions as a regular user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365760" y="3566160"/>
            <a:ext cx="4114800" cy="914400"/>
          </a:xfrm>
          <a:prstGeom prst="roundRect">
            <a:avLst>
              <a:gd name="adj" fmla="val 8000"/>
            </a:avLst>
          </a:prstGeom>
          <a:solidFill>
            <a:srgbClr val="162236"/>
          </a:solidFill>
        </p:spPr>
      </p:sp>
      <p:sp>
        <p:nvSpPr>
          <p:cNvPr id="17" name="Text 14"/>
          <p:cNvSpPr/>
          <p:nvPr/>
        </p:nvSpPr>
        <p:spPr>
          <a:xfrm>
            <a:off x="548640" y="3703320"/>
            <a:ext cx="3749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Method-based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548640" y="4023360"/>
            <a:ext cx="3749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forbidden but PUT/DELETE allowed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4663440" y="3566160"/>
            <a:ext cx="4114800" cy="914400"/>
          </a:xfrm>
          <a:prstGeom prst="roundRect">
            <a:avLst>
              <a:gd name="adj" fmla="val 8000"/>
            </a:avLst>
          </a:prstGeom>
          <a:solidFill>
            <a:srgbClr val="162236"/>
          </a:solidFill>
        </p:spPr>
      </p:sp>
      <p:sp>
        <p:nvSpPr>
          <p:cNvPr id="20" name="Text 17"/>
          <p:cNvSpPr/>
          <p:nvPr/>
        </p:nvSpPr>
        <p:spPr>
          <a:xfrm>
            <a:off x="4846320" y="3703320"/>
            <a:ext cx="3749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Pollution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4846320" y="4023360"/>
            <a:ext cx="3749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params or array tricks to bypass checks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orkdir/artifacts/insa_logo.png"/>
          <p:cNvPicPr>
            <a:picLocks noChangeAspect="1"/>
          </p:cNvPicPr>
          <p:nvPr/>
        </p:nvPicPr>
        <p:blipFill>
          <a:blip r:embed="rId3">
            <a:alphaModFix amt="12000"/>
          </a:blip>
          <a:stretch>
            <a:fillRect/>
          </a:stretch>
        </p:blipFill>
        <p:spPr>
          <a:xfrm>
            <a:off x="7589520" y="3794760"/>
            <a:ext cx="1371600" cy="1371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4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 Flaws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application works as coded — but the design is wrong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365760" y="4828032"/>
            <a:ext cx="6400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INSA  |  Web Penetration Testing  |  Day 2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8412480" y="4828032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20040" y="1280160"/>
            <a:ext cx="2788920" cy="1417320"/>
          </a:xfrm>
          <a:prstGeom prst="roundRect">
            <a:avLst>
              <a:gd name="adj" fmla="val 6452"/>
            </a:avLst>
          </a:prstGeom>
          <a:solidFill>
            <a:srgbClr val="162236"/>
          </a:solidFill>
        </p:spPr>
      </p:sp>
      <p:sp>
        <p:nvSpPr>
          <p:cNvPr id="9" name="Text 6"/>
          <p:cNvSpPr/>
          <p:nvPr/>
        </p:nvSpPr>
        <p:spPr>
          <a:xfrm>
            <a:off x="457200" y="1508760"/>
            <a:ext cx="2514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Manipulation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57200" y="1965960"/>
            <a:ext cx="2514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quantities, altered price fields, coupon stacking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246120" y="1280160"/>
            <a:ext cx="2788920" cy="1417320"/>
          </a:xfrm>
          <a:prstGeom prst="roundRect">
            <a:avLst>
              <a:gd name="adj" fmla="val 6452"/>
            </a:avLst>
          </a:prstGeom>
          <a:solidFill>
            <a:srgbClr val="162236"/>
          </a:solidFill>
        </p:spPr>
      </p:sp>
      <p:sp>
        <p:nvSpPr>
          <p:cNvPr id="12" name="Text 9"/>
          <p:cNvSpPr/>
          <p:nvPr/>
        </p:nvSpPr>
        <p:spPr>
          <a:xfrm>
            <a:off x="3383280" y="1508760"/>
            <a:ext cx="2514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Race Conditions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3383280" y="1965960"/>
            <a:ext cx="2514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Double-spend, concurrent requests to exploit non-atomic checks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172200" y="1280160"/>
            <a:ext cx="2788920" cy="1417320"/>
          </a:xfrm>
          <a:prstGeom prst="roundRect">
            <a:avLst>
              <a:gd name="adj" fmla="val 6452"/>
            </a:avLst>
          </a:prstGeom>
          <a:solidFill>
            <a:srgbClr val="162236"/>
          </a:solidFill>
        </p:spPr>
      </p:sp>
      <p:sp>
        <p:nvSpPr>
          <p:cNvPr id="15" name="Text 12"/>
          <p:cNvSpPr/>
          <p:nvPr/>
        </p:nvSpPr>
        <p:spPr>
          <a:xfrm>
            <a:off x="6309360" y="1508760"/>
            <a:ext cx="2514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Bypass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309360" y="1965960"/>
            <a:ext cx="2514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steps in multi-stage processes (payment → confirm)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320040" y="2926080"/>
            <a:ext cx="2788920" cy="1417320"/>
          </a:xfrm>
          <a:prstGeom prst="roundRect">
            <a:avLst>
              <a:gd name="adj" fmla="val 6452"/>
            </a:avLst>
          </a:prstGeom>
          <a:solidFill>
            <a:srgbClr val="162236"/>
          </a:solidFill>
        </p:spPr>
      </p:sp>
      <p:sp>
        <p:nvSpPr>
          <p:cNvPr id="18" name="Text 15"/>
          <p:cNvSpPr/>
          <p:nvPr/>
        </p:nvSpPr>
        <p:spPr>
          <a:xfrm>
            <a:off x="457200" y="3154680"/>
            <a:ext cx="2514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Abuse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457200" y="3611880"/>
            <a:ext cx="2514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free trials, referral loops, gift card generation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3246120" y="2926080"/>
            <a:ext cx="2788920" cy="1417320"/>
          </a:xfrm>
          <a:prstGeom prst="roundRect">
            <a:avLst>
              <a:gd name="adj" fmla="val 6452"/>
            </a:avLst>
          </a:prstGeom>
          <a:solidFill>
            <a:srgbClr val="162236"/>
          </a:solidFill>
        </p:spPr>
      </p:sp>
      <p:sp>
        <p:nvSpPr>
          <p:cNvPr id="21" name="Text 18"/>
          <p:cNvSpPr/>
          <p:nvPr/>
        </p:nvSpPr>
        <p:spPr>
          <a:xfrm>
            <a:off x="3383280" y="3154680"/>
            <a:ext cx="2514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Trusting Client State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3383280" y="3611880"/>
            <a:ext cx="2514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fields, cookies, or localStorage used for decisions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6172200" y="2926080"/>
            <a:ext cx="2788920" cy="1417320"/>
          </a:xfrm>
          <a:prstGeom prst="roundRect">
            <a:avLst>
              <a:gd name="adj" fmla="val 6452"/>
            </a:avLst>
          </a:prstGeom>
          <a:solidFill>
            <a:srgbClr val="162236"/>
          </a:solidFill>
        </p:spPr>
      </p:sp>
      <p:sp>
        <p:nvSpPr>
          <p:cNvPr id="24" name="Text 21"/>
          <p:cNvSpPr/>
          <p:nvPr/>
        </p:nvSpPr>
        <p:spPr>
          <a:xfrm>
            <a:off x="6309360" y="3154680"/>
            <a:ext cx="2514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Time-based Logic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6309360" y="3611880"/>
            <a:ext cx="2514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Expiring offers, timezone tricks, delayed validation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orkdir/artifacts/insa_logo.png"/>
          <p:cNvPicPr>
            <a:picLocks noChangeAspect="1"/>
          </p:cNvPicPr>
          <p:nvPr/>
        </p:nvPicPr>
        <p:blipFill>
          <a:blip r:embed="rId3">
            <a:alphaModFix amt="12000"/>
          </a:blip>
          <a:stretch>
            <a:fillRect/>
          </a:stretch>
        </p:blipFill>
        <p:spPr>
          <a:xfrm>
            <a:off x="7589520" y="3794760"/>
            <a:ext cx="1371600" cy="1371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4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Request Forgery (SSRF)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the server talk to internal systems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365760" y="4828032"/>
            <a:ext cx="6400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INSA  |  Web Penetration Testing  |  Day 2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8412480" y="4828032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65760" y="1234440"/>
            <a:ext cx="8412480" cy="1005840"/>
          </a:xfrm>
          <a:prstGeom prst="roundRect">
            <a:avLst>
              <a:gd name="adj" fmla="val 9091"/>
            </a:avLst>
          </a:prstGeom>
          <a:solidFill>
            <a:srgbClr val="162236"/>
          </a:solidFill>
        </p:spPr>
      </p:sp>
      <p:sp>
        <p:nvSpPr>
          <p:cNvPr id="9" name="Text 6"/>
          <p:cNvSpPr/>
          <p:nvPr/>
        </p:nvSpPr>
        <p:spPr>
          <a:xfrm>
            <a:off x="594360" y="1417320"/>
            <a:ext cx="79552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fetches a URL supplied by the user. Attacker points it at internal services, cloud metadata (169.254.169.254), or localhost admin panels.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65760" y="2468880"/>
            <a:ext cx="4114800" cy="914400"/>
          </a:xfrm>
          <a:prstGeom prst="roundRect">
            <a:avLst>
              <a:gd name="adj" fmla="val 8000"/>
            </a:avLst>
          </a:prstGeom>
          <a:solidFill>
            <a:srgbClr val="162236"/>
          </a:solidFill>
        </p:spPr>
      </p:sp>
      <p:sp>
        <p:nvSpPr>
          <p:cNvPr id="11" name="Text 8"/>
          <p:cNvSpPr/>
          <p:nvPr/>
        </p:nvSpPr>
        <p:spPr>
          <a:xfrm>
            <a:off x="548640" y="2606040"/>
            <a:ext cx="3749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SSRF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48640" y="2926080"/>
            <a:ext cx="3749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http://127.0.0.1:8080/admin or internal hostnames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663440" y="2468880"/>
            <a:ext cx="4114800" cy="914400"/>
          </a:xfrm>
          <a:prstGeom prst="roundRect">
            <a:avLst>
              <a:gd name="adj" fmla="val 8000"/>
            </a:avLst>
          </a:prstGeom>
          <a:solidFill>
            <a:srgbClr val="162236"/>
          </a:solidFill>
        </p:spPr>
      </p:sp>
      <p:sp>
        <p:nvSpPr>
          <p:cNvPr id="14" name="Text 11"/>
          <p:cNvSpPr/>
          <p:nvPr/>
        </p:nvSpPr>
        <p:spPr>
          <a:xfrm>
            <a:off x="4846320" y="2606040"/>
            <a:ext cx="3749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Metadata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4846320" y="2926080"/>
            <a:ext cx="3749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AWS/GCP/Azure instance credentials via metadata API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365760" y="3520440"/>
            <a:ext cx="4114800" cy="914400"/>
          </a:xfrm>
          <a:prstGeom prst="roundRect">
            <a:avLst>
              <a:gd name="adj" fmla="val 8000"/>
            </a:avLst>
          </a:prstGeom>
          <a:solidFill>
            <a:srgbClr val="162236"/>
          </a:solidFill>
        </p:spPr>
      </p:sp>
      <p:sp>
        <p:nvSpPr>
          <p:cNvPr id="17" name="Text 14"/>
          <p:cNvSpPr/>
          <p:nvPr/>
        </p:nvSpPr>
        <p:spPr>
          <a:xfrm>
            <a:off x="548640" y="3657600"/>
            <a:ext cx="3749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Bypass Filters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548640" y="3977640"/>
            <a:ext cx="3749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rebinding, IP encoding, redirects, open redirects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4663440" y="3520440"/>
            <a:ext cx="4114800" cy="914400"/>
          </a:xfrm>
          <a:prstGeom prst="roundRect">
            <a:avLst>
              <a:gd name="adj" fmla="val 8000"/>
            </a:avLst>
          </a:prstGeom>
          <a:solidFill>
            <a:srgbClr val="162236"/>
          </a:solidFill>
        </p:spPr>
      </p:sp>
      <p:sp>
        <p:nvSpPr>
          <p:cNvPr id="20" name="Text 17"/>
          <p:cNvSpPr/>
          <p:nvPr/>
        </p:nvSpPr>
        <p:spPr>
          <a:xfrm>
            <a:off x="4846320" y="3657600"/>
            <a:ext cx="3749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 SSRF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4846320" y="3977640"/>
            <a:ext cx="3749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Out-of-band with Collaborator; time or error differences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orkdir/artifacts/insa_logo.png"/>
          <p:cNvPicPr>
            <a:picLocks noChangeAspect="1"/>
          </p:cNvPicPr>
          <p:nvPr/>
        </p:nvPicPr>
        <p:blipFill>
          <a:blip r:embed="rId3">
            <a:alphaModFix amt="12000"/>
          </a:blip>
          <a:stretch>
            <a:fillRect/>
          </a:stretch>
        </p:blipFill>
        <p:spPr>
          <a:xfrm>
            <a:off x="7589520" y="3794760"/>
            <a:ext cx="1371600" cy="1371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4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Cross-Site Scripting (XSS)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Injecting script into other users' browsers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365760" y="4828032"/>
            <a:ext cx="6400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INSA  |  Web Penetration Testing  |  Day 2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8412480" y="4828032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65760" y="1234440"/>
            <a:ext cx="8412480" cy="960120"/>
          </a:xfrm>
          <a:prstGeom prst="roundRect">
            <a:avLst>
              <a:gd name="adj" fmla="val 7619"/>
            </a:avLst>
          </a:prstGeom>
          <a:solidFill>
            <a:srgbClr val="162236"/>
          </a:solidFill>
        </p:spPr>
      </p:sp>
      <p:sp>
        <p:nvSpPr>
          <p:cNvPr id="9" name="Shape 6"/>
          <p:cNvSpPr/>
          <p:nvPr/>
        </p:nvSpPr>
        <p:spPr>
          <a:xfrm>
            <a:off x="365760" y="1234440"/>
            <a:ext cx="109728" cy="960120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10" name="Text 7"/>
          <p:cNvSpPr/>
          <p:nvPr/>
        </p:nvSpPr>
        <p:spPr>
          <a:xfrm>
            <a:off x="685800" y="1371600"/>
            <a:ext cx="7863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Reflected XSS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85800" y="1691640"/>
            <a:ext cx="7863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 in request, immediately reflected in response. Needs social engineering.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365760" y="2286000"/>
            <a:ext cx="8412480" cy="960120"/>
          </a:xfrm>
          <a:prstGeom prst="roundRect">
            <a:avLst>
              <a:gd name="adj" fmla="val 7619"/>
            </a:avLst>
          </a:prstGeom>
          <a:solidFill>
            <a:srgbClr val="162236"/>
          </a:solidFill>
        </p:spPr>
      </p:sp>
      <p:sp>
        <p:nvSpPr>
          <p:cNvPr id="13" name="Shape 10"/>
          <p:cNvSpPr/>
          <p:nvPr/>
        </p:nvSpPr>
        <p:spPr>
          <a:xfrm>
            <a:off x="365760" y="2286000"/>
            <a:ext cx="109728" cy="960120"/>
          </a:xfrm>
          <a:prstGeom prst="rect">
            <a:avLst/>
          </a:prstGeom>
          <a:solidFill>
            <a:srgbClr val="EF4444"/>
          </a:solidFill>
        </p:spPr>
      </p:sp>
      <p:sp>
        <p:nvSpPr>
          <p:cNvPr id="14" name="Text 11"/>
          <p:cNvSpPr/>
          <p:nvPr/>
        </p:nvSpPr>
        <p:spPr>
          <a:xfrm>
            <a:off x="685800" y="2423160"/>
            <a:ext cx="7863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XSS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85800" y="2743200"/>
            <a:ext cx="7863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 saved (comments, profiles) and executed for every viewer. Highest impact.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365760" y="3337560"/>
            <a:ext cx="8412480" cy="960120"/>
          </a:xfrm>
          <a:prstGeom prst="roundRect">
            <a:avLst>
              <a:gd name="adj" fmla="val 7619"/>
            </a:avLst>
          </a:prstGeom>
          <a:solidFill>
            <a:srgbClr val="162236"/>
          </a:solidFill>
        </p:spPr>
      </p:sp>
      <p:sp>
        <p:nvSpPr>
          <p:cNvPr id="17" name="Shape 14"/>
          <p:cNvSpPr/>
          <p:nvPr/>
        </p:nvSpPr>
        <p:spPr>
          <a:xfrm>
            <a:off x="365760" y="3337560"/>
            <a:ext cx="109728" cy="960120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18" name="Text 15"/>
          <p:cNvSpPr/>
          <p:nvPr/>
        </p:nvSpPr>
        <p:spPr>
          <a:xfrm>
            <a:off x="685800" y="3474720"/>
            <a:ext cx="7863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DOM-based XSS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85800" y="3794760"/>
            <a:ext cx="7863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 JS takes untrusted data and writes it into the DOM unsafely.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orkdir/artifacts/insa_logo.png"/>
          <p:cNvPicPr>
            <a:picLocks noChangeAspect="1"/>
          </p:cNvPicPr>
          <p:nvPr/>
        </p:nvPicPr>
        <p:blipFill>
          <a:blip r:embed="rId3">
            <a:alphaModFix amt="12000"/>
          </a:blip>
          <a:stretch>
            <a:fillRect/>
          </a:stretch>
        </p:blipFill>
        <p:spPr>
          <a:xfrm>
            <a:off x="7589520" y="3794760"/>
            <a:ext cx="1371600" cy="1371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4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Cross-Site Request Forgery (CSRF)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Tricking the browser into acting as the victim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365760" y="4828032"/>
            <a:ext cx="6400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INSA  |  Web Penetration Testing  |  Day 2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8412480" y="4828032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65760" y="1234440"/>
            <a:ext cx="8412480" cy="1097280"/>
          </a:xfrm>
          <a:prstGeom prst="roundRect">
            <a:avLst>
              <a:gd name="adj" fmla="val 8333"/>
            </a:avLst>
          </a:prstGeom>
          <a:solidFill>
            <a:srgbClr val="162236"/>
          </a:solidFill>
        </p:spPr>
      </p:sp>
      <p:sp>
        <p:nvSpPr>
          <p:cNvPr id="9" name="Text 6"/>
          <p:cNvSpPr/>
          <p:nvPr/>
        </p:nvSpPr>
        <p:spPr>
          <a:xfrm>
            <a:off x="594360" y="1417320"/>
            <a:ext cx="795528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Victim is logged in. Attacker hosts a page that auto-submits a state-changing request (password change, email update, transfer). Browser attaches cookies automatically.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65760" y="2560320"/>
            <a:ext cx="4114800" cy="914400"/>
          </a:xfrm>
          <a:prstGeom prst="roundRect">
            <a:avLst>
              <a:gd name="adj" fmla="val 8000"/>
            </a:avLst>
          </a:prstGeom>
          <a:solidFill>
            <a:srgbClr val="162236"/>
          </a:solidFill>
        </p:spPr>
      </p:sp>
      <p:sp>
        <p:nvSpPr>
          <p:cNvPr id="11" name="Text 8"/>
          <p:cNvSpPr/>
          <p:nvPr/>
        </p:nvSpPr>
        <p:spPr>
          <a:xfrm>
            <a:off x="548640" y="2697480"/>
            <a:ext cx="3749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48640" y="3017520"/>
            <a:ext cx="3749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 cookies, no unpredictable tokens, no SameSite strict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663440" y="2560320"/>
            <a:ext cx="4114800" cy="914400"/>
          </a:xfrm>
          <a:prstGeom prst="roundRect">
            <a:avLst>
              <a:gd name="adj" fmla="val 8000"/>
            </a:avLst>
          </a:prstGeom>
          <a:solidFill>
            <a:srgbClr val="162236"/>
          </a:solidFill>
        </p:spPr>
      </p:sp>
      <p:sp>
        <p:nvSpPr>
          <p:cNvPr id="14" name="Text 11"/>
          <p:cNvSpPr/>
          <p:nvPr/>
        </p:nvSpPr>
        <p:spPr>
          <a:xfrm>
            <a:off x="4846320" y="2697480"/>
            <a:ext cx="3749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PoC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4846320" y="3017520"/>
            <a:ext cx="3749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form + auto-submit JS on attacker site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365760" y="3611880"/>
            <a:ext cx="4114800" cy="914400"/>
          </a:xfrm>
          <a:prstGeom prst="roundRect">
            <a:avLst>
              <a:gd name="adj" fmla="val 8000"/>
            </a:avLst>
          </a:prstGeom>
          <a:solidFill>
            <a:srgbClr val="162236"/>
          </a:solidFill>
        </p:spPr>
      </p:sp>
      <p:sp>
        <p:nvSpPr>
          <p:cNvPr id="17" name="Text 14"/>
          <p:cNvSpPr/>
          <p:nvPr/>
        </p:nvSpPr>
        <p:spPr>
          <a:xfrm>
            <a:off x="548640" y="3749040"/>
            <a:ext cx="3749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Bypass Tokens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548640" y="4069080"/>
            <a:ext cx="3749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validation, method override, content-type tricks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4663440" y="3611880"/>
            <a:ext cx="4114800" cy="914400"/>
          </a:xfrm>
          <a:prstGeom prst="roundRect">
            <a:avLst>
              <a:gd name="adj" fmla="val 8000"/>
            </a:avLst>
          </a:prstGeom>
          <a:solidFill>
            <a:srgbClr val="162236"/>
          </a:solidFill>
        </p:spPr>
      </p:sp>
      <p:sp>
        <p:nvSpPr>
          <p:cNvPr id="20" name="Text 17"/>
          <p:cNvSpPr/>
          <p:nvPr/>
        </p:nvSpPr>
        <p:spPr>
          <a:xfrm>
            <a:off x="4846320" y="3749040"/>
            <a:ext cx="3749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4846320" y="4069080"/>
            <a:ext cx="3749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CSRF tokens, SameSite cookies, Origin/Referer checks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orkdir/artifacts/insa_logo.png"/>
          <p:cNvPicPr>
            <a:picLocks noChangeAspect="1"/>
          </p:cNvPicPr>
          <p:nvPr/>
        </p:nvPicPr>
        <p:blipFill>
          <a:blip r:embed="rId3">
            <a:alphaModFix amt="12000"/>
          </a:blip>
          <a:stretch>
            <a:fillRect/>
          </a:stretch>
        </p:blipFill>
        <p:spPr>
          <a:xfrm>
            <a:off x="7589520" y="3794760"/>
            <a:ext cx="1371600" cy="1371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4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Misconfig &amp; Clickjacking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security features turned against the app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365760" y="4828032"/>
            <a:ext cx="6400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INSA  |  Web Penetration Testing  |  Day 2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8412480" y="4828032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65760" y="1234440"/>
            <a:ext cx="4114800" cy="3291840"/>
          </a:xfrm>
          <a:prstGeom prst="roundRect">
            <a:avLst>
              <a:gd name="adj" fmla="val 2778"/>
            </a:avLst>
          </a:prstGeom>
          <a:solidFill>
            <a:srgbClr val="162236"/>
          </a:solidFill>
        </p:spPr>
      </p:sp>
      <p:sp>
        <p:nvSpPr>
          <p:cNvPr id="9" name="Text 6"/>
          <p:cNvSpPr/>
          <p:nvPr/>
        </p:nvSpPr>
        <p:spPr>
          <a:xfrm>
            <a:off x="548640" y="1417320"/>
            <a:ext cx="37490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Misconfiguration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48640" y="1965960"/>
            <a:ext cx="37490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Reflects Origin with Access-Control-Allow-Origin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48640" y="2423160"/>
            <a:ext cx="37490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Allows null origin or wildcards with credentials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48640" y="2880360"/>
            <a:ext cx="37490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Enables reading sensitive responses cross-origin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48640" y="3337560"/>
            <a:ext cx="37490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Often found on APIs and subdomains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48640" y="3794760"/>
            <a:ext cx="37490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Test with Burp + browser console fetch()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663440" y="1234440"/>
            <a:ext cx="4114800" cy="3291840"/>
          </a:xfrm>
          <a:prstGeom prst="roundRect">
            <a:avLst>
              <a:gd name="adj" fmla="val 2778"/>
            </a:avLst>
          </a:prstGeom>
          <a:solidFill>
            <a:srgbClr val="162236"/>
          </a:solidFill>
        </p:spPr>
      </p:sp>
      <p:sp>
        <p:nvSpPr>
          <p:cNvPr id="16" name="Text 13"/>
          <p:cNvSpPr/>
          <p:nvPr/>
        </p:nvSpPr>
        <p:spPr>
          <a:xfrm>
            <a:off x="4846320" y="1417320"/>
            <a:ext cx="37490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Clickjacking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4846320" y="1965960"/>
            <a:ext cx="37490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Embed target site in invisible iframe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846320" y="2423160"/>
            <a:ext cx="37490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Overlay UI so user clicks real buttons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4846320" y="2880360"/>
            <a:ext cx="37490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Bypass X-Frame-Options / CSP frame-ancestors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4846320" y="3337560"/>
            <a:ext cx="37490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Double-click / drag techniques for advanced cases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4846320" y="3794760"/>
            <a:ext cx="37490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Defense: frame-ancestors, SameSite, UX confirmation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orkdir/artifacts/insa_logo.png"/>
          <p:cNvPicPr>
            <a:picLocks noChangeAspect="1"/>
          </p:cNvPicPr>
          <p:nvPr/>
        </p:nvPicPr>
        <p:blipFill>
          <a:blip r:embed="rId3">
            <a:alphaModFix amt="12000"/>
          </a:blip>
          <a:stretch>
            <a:fillRect/>
          </a:stretch>
        </p:blipFill>
        <p:spPr>
          <a:xfrm>
            <a:off x="7589520" y="3794760"/>
            <a:ext cx="1371600" cy="1371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4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Testing Overview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REST, SOAP and modern API attack surface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365760" y="4828032"/>
            <a:ext cx="6400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INSA  |  Web Penetration Testing  |  Day 2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8412480" y="4828032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20040" y="1280160"/>
            <a:ext cx="2788920" cy="1417320"/>
          </a:xfrm>
          <a:prstGeom prst="roundRect">
            <a:avLst>
              <a:gd name="adj" fmla="val 6452"/>
            </a:avLst>
          </a:prstGeom>
          <a:solidFill>
            <a:srgbClr val="162236"/>
          </a:solidFill>
        </p:spPr>
      </p:sp>
      <p:sp>
        <p:nvSpPr>
          <p:cNvPr id="9" name="Text 6"/>
          <p:cNvSpPr/>
          <p:nvPr/>
        </p:nvSpPr>
        <p:spPr>
          <a:xfrm>
            <a:off x="457200" y="1508760"/>
            <a:ext cx="2514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Broken Object Auth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57200" y="1965960"/>
            <a:ext cx="2514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IDOR on /api/users/{id} — classic and still rampant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246120" y="1280160"/>
            <a:ext cx="2788920" cy="1417320"/>
          </a:xfrm>
          <a:prstGeom prst="roundRect">
            <a:avLst>
              <a:gd name="adj" fmla="val 6452"/>
            </a:avLst>
          </a:prstGeom>
          <a:solidFill>
            <a:srgbClr val="162236"/>
          </a:solidFill>
        </p:spPr>
      </p:sp>
      <p:sp>
        <p:nvSpPr>
          <p:cNvPr id="12" name="Text 9"/>
          <p:cNvSpPr/>
          <p:nvPr/>
        </p:nvSpPr>
        <p:spPr>
          <a:xfrm>
            <a:off x="3383280" y="1508760"/>
            <a:ext cx="2514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Excessive Data Exposure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3383280" y="1965960"/>
            <a:ext cx="2514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returns full objects; client filters — attacker sees all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172200" y="1280160"/>
            <a:ext cx="2788920" cy="1417320"/>
          </a:xfrm>
          <a:prstGeom prst="roundRect">
            <a:avLst>
              <a:gd name="adj" fmla="val 6452"/>
            </a:avLst>
          </a:prstGeom>
          <a:solidFill>
            <a:srgbClr val="162236"/>
          </a:solidFill>
        </p:spPr>
      </p:sp>
      <p:sp>
        <p:nvSpPr>
          <p:cNvPr id="15" name="Text 12"/>
          <p:cNvSpPr/>
          <p:nvPr/>
        </p:nvSpPr>
        <p:spPr>
          <a:xfrm>
            <a:off x="6309360" y="1508760"/>
            <a:ext cx="2514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 Assignment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309360" y="1965960"/>
            <a:ext cx="2514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fields (role=admin) accepted and applied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320040" y="2926080"/>
            <a:ext cx="2788920" cy="1417320"/>
          </a:xfrm>
          <a:prstGeom prst="roundRect">
            <a:avLst>
              <a:gd name="adj" fmla="val 6452"/>
            </a:avLst>
          </a:prstGeom>
          <a:solidFill>
            <a:srgbClr val="162236"/>
          </a:solidFill>
        </p:spPr>
      </p:sp>
      <p:sp>
        <p:nvSpPr>
          <p:cNvPr id="18" name="Text 15"/>
          <p:cNvSpPr/>
          <p:nvPr/>
        </p:nvSpPr>
        <p:spPr>
          <a:xfrm>
            <a:off x="457200" y="3154680"/>
            <a:ext cx="2514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457200" y="3611880"/>
            <a:ext cx="2514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or weak limits enable brute force and DoS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3246120" y="2926080"/>
            <a:ext cx="2788920" cy="1417320"/>
          </a:xfrm>
          <a:prstGeom prst="roundRect">
            <a:avLst>
              <a:gd name="adj" fmla="val 6452"/>
            </a:avLst>
          </a:prstGeom>
          <a:solidFill>
            <a:srgbClr val="162236"/>
          </a:solidFill>
        </p:spPr>
      </p:sp>
      <p:sp>
        <p:nvSpPr>
          <p:cNvPr id="21" name="Text 18"/>
          <p:cNvSpPr/>
          <p:nvPr/>
        </p:nvSpPr>
        <p:spPr>
          <a:xfrm>
            <a:off x="3383280" y="3154680"/>
            <a:ext cx="2514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 Tampering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3383280" y="3611880"/>
            <a:ext cx="2514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PUT/DELETE allowed where only GET intended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6172200" y="2926080"/>
            <a:ext cx="2788920" cy="1417320"/>
          </a:xfrm>
          <a:prstGeom prst="roundRect">
            <a:avLst>
              <a:gd name="adj" fmla="val 6452"/>
            </a:avLst>
          </a:prstGeom>
          <a:solidFill>
            <a:srgbClr val="162236"/>
          </a:solidFill>
        </p:spPr>
      </p:sp>
      <p:sp>
        <p:nvSpPr>
          <p:cNvPr id="24" name="Text 21"/>
          <p:cNvSpPr/>
          <p:nvPr/>
        </p:nvSpPr>
        <p:spPr>
          <a:xfrm>
            <a:off x="6309360" y="3154680"/>
            <a:ext cx="2514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&amp; Docs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6309360" y="3611880"/>
            <a:ext cx="2514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API versions, Swagger/OpenAPI left public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orkdir/artifacts/insa_logo.png"/>
          <p:cNvPicPr>
            <a:picLocks noChangeAspect="1"/>
          </p:cNvPicPr>
          <p:nvPr/>
        </p:nvPicPr>
        <p:blipFill>
          <a:blip r:embed="rId3">
            <a:alphaModFix amt="12000"/>
          </a:blip>
          <a:stretch>
            <a:fillRect/>
          </a:stretch>
        </p:blipFill>
        <p:spPr>
          <a:xfrm>
            <a:off x="7589520" y="3794760"/>
            <a:ext cx="1371600" cy="1371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4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GraphQL Attacks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query language, flexible attack surface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365760" y="4828032"/>
            <a:ext cx="6400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INSA  |  Web Penetration Testing  |  Day 2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8412480" y="4828032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65760" y="1234440"/>
            <a:ext cx="4160520" cy="960120"/>
          </a:xfrm>
          <a:prstGeom prst="roundRect">
            <a:avLst>
              <a:gd name="adj" fmla="val 7619"/>
            </a:avLst>
          </a:prstGeom>
          <a:solidFill>
            <a:srgbClr val="162236"/>
          </a:solidFill>
        </p:spPr>
      </p:sp>
      <p:sp>
        <p:nvSpPr>
          <p:cNvPr id="9" name="Text 6"/>
          <p:cNvSpPr/>
          <p:nvPr/>
        </p:nvSpPr>
        <p:spPr>
          <a:xfrm>
            <a:off x="548640" y="1371600"/>
            <a:ext cx="3794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Introspection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48640" y="1709928"/>
            <a:ext cx="37947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full schema if left enabled in production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754880" y="1234440"/>
            <a:ext cx="4160520" cy="960120"/>
          </a:xfrm>
          <a:prstGeom prst="roundRect">
            <a:avLst>
              <a:gd name="adj" fmla="val 7619"/>
            </a:avLst>
          </a:prstGeom>
          <a:solidFill>
            <a:srgbClr val="162236"/>
          </a:solidFill>
        </p:spPr>
      </p:sp>
      <p:sp>
        <p:nvSpPr>
          <p:cNvPr id="12" name="Text 9"/>
          <p:cNvSpPr/>
          <p:nvPr/>
        </p:nvSpPr>
        <p:spPr>
          <a:xfrm>
            <a:off x="4937760" y="1371600"/>
            <a:ext cx="3794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Batching Attacks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937760" y="1709928"/>
            <a:ext cx="37947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queries in one request to bypass rate limits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365760" y="2331720"/>
            <a:ext cx="4160520" cy="960120"/>
          </a:xfrm>
          <a:prstGeom prst="roundRect">
            <a:avLst>
              <a:gd name="adj" fmla="val 7619"/>
            </a:avLst>
          </a:prstGeom>
          <a:solidFill>
            <a:srgbClr val="162236"/>
          </a:solidFill>
        </p:spPr>
      </p:sp>
      <p:sp>
        <p:nvSpPr>
          <p:cNvPr id="15" name="Text 12"/>
          <p:cNvSpPr/>
          <p:nvPr/>
        </p:nvSpPr>
        <p:spPr>
          <a:xfrm>
            <a:off x="548640" y="2468880"/>
            <a:ext cx="3794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Queries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48640" y="2807208"/>
            <a:ext cx="37947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Deeply nested queries cause DoS (query depth / complexity)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4754880" y="2331720"/>
            <a:ext cx="4160520" cy="960120"/>
          </a:xfrm>
          <a:prstGeom prst="roundRect">
            <a:avLst>
              <a:gd name="adj" fmla="val 7619"/>
            </a:avLst>
          </a:prstGeom>
          <a:solidFill>
            <a:srgbClr val="162236"/>
          </a:solidFill>
        </p:spPr>
      </p:sp>
      <p:sp>
        <p:nvSpPr>
          <p:cNvPr id="18" name="Text 15"/>
          <p:cNvSpPr/>
          <p:nvPr/>
        </p:nvSpPr>
        <p:spPr>
          <a:xfrm>
            <a:off x="4937760" y="2468880"/>
            <a:ext cx="3794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IDOR via Nodes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4937760" y="2807208"/>
            <a:ext cx="37947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IDs still need authorization checks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365760" y="3429000"/>
            <a:ext cx="4160520" cy="960120"/>
          </a:xfrm>
          <a:prstGeom prst="roundRect">
            <a:avLst>
              <a:gd name="adj" fmla="val 7619"/>
            </a:avLst>
          </a:prstGeom>
          <a:solidFill>
            <a:srgbClr val="162236"/>
          </a:solidFill>
        </p:spPr>
      </p:sp>
      <p:sp>
        <p:nvSpPr>
          <p:cNvPr id="21" name="Text 18"/>
          <p:cNvSpPr/>
          <p:nvPr/>
        </p:nvSpPr>
        <p:spPr>
          <a:xfrm>
            <a:off x="548640" y="3566160"/>
            <a:ext cx="3794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Injection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548640" y="3904488"/>
            <a:ext cx="37947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 or NoSQL inside resolvers if input not sanitized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4754880" y="3429000"/>
            <a:ext cx="4160520" cy="960120"/>
          </a:xfrm>
          <a:prstGeom prst="roundRect">
            <a:avLst>
              <a:gd name="adj" fmla="val 7619"/>
            </a:avLst>
          </a:prstGeom>
          <a:solidFill>
            <a:srgbClr val="162236"/>
          </a:solidFill>
        </p:spPr>
      </p:sp>
      <p:sp>
        <p:nvSpPr>
          <p:cNvPr id="24" name="Text 21"/>
          <p:cNvSpPr/>
          <p:nvPr/>
        </p:nvSpPr>
        <p:spPr>
          <a:xfrm>
            <a:off x="4937760" y="3566160"/>
            <a:ext cx="3794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Suggestions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4937760" y="3904488"/>
            <a:ext cx="37947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messages leak field names for enumeration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orkdir/artifacts/insa_logo.png"/>
          <p:cNvPicPr>
            <a:picLocks noChangeAspect="1"/>
          </p:cNvPicPr>
          <p:nvPr/>
        </p:nvPicPr>
        <p:blipFill>
          <a:blip r:embed="rId3">
            <a:alphaModFix amt="12000"/>
          </a:blip>
          <a:stretch>
            <a:fillRect/>
          </a:stretch>
        </p:blipFill>
        <p:spPr>
          <a:xfrm>
            <a:off x="7589520" y="3794760"/>
            <a:ext cx="1371600" cy="1371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4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Attacks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Web Tokens – common pitfalls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365760" y="4828032"/>
            <a:ext cx="6400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INSA  |  Web Penetration Testing  |  Day 2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8412480" y="4828032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20040" y="1280160"/>
            <a:ext cx="2788920" cy="1417320"/>
          </a:xfrm>
          <a:prstGeom prst="roundRect">
            <a:avLst>
              <a:gd name="adj" fmla="val 6452"/>
            </a:avLst>
          </a:prstGeom>
          <a:solidFill>
            <a:srgbClr val="162236"/>
          </a:solidFill>
        </p:spPr>
      </p:sp>
      <p:sp>
        <p:nvSpPr>
          <p:cNvPr id="9" name="Text 6"/>
          <p:cNvSpPr/>
          <p:nvPr/>
        </p:nvSpPr>
        <p:spPr>
          <a:xfrm>
            <a:off x="457200" y="1508760"/>
            <a:ext cx="2514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Algorithm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57200" y="1965960"/>
            <a:ext cx="2514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alg: none → signature not verified; forge any claims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246120" y="1280160"/>
            <a:ext cx="2788920" cy="1417320"/>
          </a:xfrm>
          <a:prstGeom prst="roundRect">
            <a:avLst>
              <a:gd name="adj" fmla="val 6452"/>
            </a:avLst>
          </a:prstGeom>
          <a:solidFill>
            <a:srgbClr val="162236"/>
          </a:solidFill>
        </p:spPr>
      </p:sp>
      <p:sp>
        <p:nvSpPr>
          <p:cNvPr id="12" name="Text 9"/>
          <p:cNvSpPr/>
          <p:nvPr/>
        </p:nvSpPr>
        <p:spPr>
          <a:xfrm>
            <a:off x="3383280" y="1508760"/>
            <a:ext cx="2514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Secret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3383280" y="1965960"/>
            <a:ext cx="2514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Brute-force HS256 secret with tools like jwt_tool / hashcat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172200" y="1280160"/>
            <a:ext cx="2788920" cy="1417320"/>
          </a:xfrm>
          <a:prstGeom prst="roundRect">
            <a:avLst>
              <a:gd name="adj" fmla="val 6452"/>
            </a:avLst>
          </a:prstGeom>
          <a:solidFill>
            <a:srgbClr val="162236"/>
          </a:solidFill>
        </p:spPr>
      </p:sp>
      <p:sp>
        <p:nvSpPr>
          <p:cNvPr id="15" name="Text 12"/>
          <p:cNvSpPr/>
          <p:nvPr/>
        </p:nvSpPr>
        <p:spPr>
          <a:xfrm>
            <a:off x="6309360" y="1508760"/>
            <a:ext cx="2514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Confusion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309360" y="1965960"/>
            <a:ext cx="2514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RS256 → HS256 using public key as HMAC secret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320040" y="2926080"/>
            <a:ext cx="2788920" cy="1417320"/>
          </a:xfrm>
          <a:prstGeom prst="roundRect">
            <a:avLst>
              <a:gd name="adj" fmla="val 6452"/>
            </a:avLst>
          </a:prstGeom>
          <a:solidFill>
            <a:srgbClr val="162236"/>
          </a:solidFill>
        </p:spPr>
      </p:sp>
      <p:sp>
        <p:nvSpPr>
          <p:cNvPr id="18" name="Text 15"/>
          <p:cNvSpPr/>
          <p:nvPr/>
        </p:nvSpPr>
        <p:spPr>
          <a:xfrm>
            <a:off x="457200" y="3154680"/>
            <a:ext cx="2514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Kid Injection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457200" y="3611880"/>
            <a:ext cx="2514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traversal or SQLi in key ID header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3246120" y="2926080"/>
            <a:ext cx="2788920" cy="1417320"/>
          </a:xfrm>
          <a:prstGeom prst="roundRect">
            <a:avLst>
              <a:gd name="adj" fmla="val 6452"/>
            </a:avLst>
          </a:prstGeom>
          <a:solidFill>
            <a:srgbClr val="162236"/>
          </a:solidFill>
        </p:spPr>
      </p:sp>
      <p:sp>
        <p:nvSpPr>
          <p:cNvPr id="21" name="Text 18"/>
          <p:cNvSpPr/>
          <p:nvPr/>
        </p:nvSpPr>
        <p:spPr>
          <a:xfrm>
            <a:off x="3383280" y="3154680"/>
            <a:ext cx="2514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Tampering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3383280" y="3611880"/>
            <a:ext cx="2514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sub / role / exp without proper signature check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6172200" y="2926080"/>
            <a:ext cx="2788920" cy="1417320"/>
          </a:xfrm>
          <a:prstGeom prst="roundRect">
            <a:avLst>
              <a:gd name="adj" fmla="val 6452"/>
            </a:avLst>
          </a:prstGeom>
          <a:solidFill>
            <a:srgbClr val="162236"/>
          </a:solidFill>
        </p:spPr>
      </p:sp>
      <p:sp>
        <p:nvSpPr>
          <p:cNvPr id="24" name="Text 21"/>
          <p:cNvSpPr/>
          <p:nvPr/>
        </p:nvSpPr>
        <p:spPr>
          <a:xfrm>
            <a:off x="6309360" y="3154680"/>
            <a:ext cx="2514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JWK Header Injection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6309360" y="3611880"/>
            <a:ext cx="2514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attacker public key in the token header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orkdir/artifacts/insa_logo.png"/>
          <p:cNvPicPr>
            <a:picLocks noChangeAspect="1"/>
          </p:cNvPicPr>
          <p:nvPr/>
        </p:nvPicPr>
        <p:blipFill>
          <a:blip r:embed="rId3">
            <a:alphaModFix amt="12000"/>
          </a:blip>
          <a:stretch>
            <a:fillRect/>
          </a:stretch>
        </p:blipFill>
        <p:spPr>
          <a:xfrm>
            <a:off x="7589520" y="3794760"/>
            <a:ext cx="1371600" cy="1371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4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 Attacks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 code &amp; implicit flow weaknesses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365760" y="4828032"/>
            <a:ext cx="6400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INSA  |  Web Penetration Testing  |  Day 2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8412480" y="4828032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65760" y="1234440"/>
            <a:ext cx="4160520" cy="960120"/>
          </a:xfrm>
          <a:prstGeom prst="roundRect">
            <a:avLst>
              <a:gd name="adj" fmla="val 7619"/>
            </a:avLst>
          </a:prstGeom>
          <a:solidFill>
            <a:srgbClr val="162236"/>
          </a:solidFill>
        </p:spPr>
      </p:sp>
      <p:sp>
        <p:nvSpPr>
          <p:cNvPr id="9" name="Text 6"/>
          <p:cNvSpPr/>
          <p:nvPr/>
        </p:nvSpPr>
        <p:spPr>
          <a:xfrm>
            <a:off x="548640" y="1371600"/>
            <a:ext cx="3794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Redirect URI Manipulation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48640" y="1709928"/>
            <a:ext cx="37947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redirect or partial match allows token theft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754880" y="1234440"/>
            <a:ext cx="4160520" cy="960120"/>
          </a:xfrm>
          <a:prstGeom prst="roundRect">
            <a:avLst>
              <a:gd name="adj" fmla="val 7619"/>
            </a:avLst>
          </a:prstGeom>
          <a:solidFill>
            <a:srgbClr val="162236"/>
          </a:solidFill>
        </p:spPr>
      </p:sp>
      <p:sp>
        <p:nvSpPr>
          <p:cNvPr id="12" name="Text 9"/>
          <p:cNvSpPr/>
          <p:nvPr/>
        </p:nvSpPr>
        <p:spPr>
          <a:xfrm>
            <a:off x="4937760" y="1371600"/>
            <a:ext cx="3794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CSRF on Authorization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937760" y="1709928"/>
            <a:ext cx="37947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or weak state parameter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365760" y="2331720"/>
            <a:ext cx="4160520" cy="960120"/>
          </a:xfrm>
          <a:prstGeom prst="roundRect">
            <a:avLst>
              <a:gd name="adj" fmla="val 7619"/>
            </a:avLst>
          </a:prstGeom>
          <a:solidFill>
            <a:srgbClr val="162236"/>
          </a:solidFill>
        </p:spPr>
      </p:sp>
      <p:sp>
        <p:nvSpPr>
          <p:cNvPr id="15" name="Text 12"/>
          <p:cNvSpPr/>
          <p:nvPr/>
        </p:nvSpPr>
        <p:spPr>
          <a:xfrm>
            <a:off x="548640" y="2468880"/>
            <a:ext cx="3794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Leakage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48640" y="2807208"/>
            <a:ext cx="37947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in URL fragments, referer headers, logs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4754880" y="2331720"/>
            <a:ext cx="4160520" cy="960120"/>
          </a:xfrm>
          <a:prstGeom prst="roundRect">
            <a:avLst>
              <a:gd name="adj" fmla="val 7619"/>
            </a:avLst>
          </a:prstGeom>
          <a:solidFill>
            <a:srgbClr val="162236"/>
          </a:solidFill>
        </p:spPr>
      </p:sp>
      <p:sp>
        <p:nvSpPr>
          <p:cNvPr id="18" name="Text 15"/>
          <p:cNvSpPr/>
          <p:nvPr/>
        </p:nvSpPr>
        <p:spPr>
          <a:xfrm>
            <a:off x="4937760" y="2468880"/>
            <a:ext cx="3794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Implicit Flow Issues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4937760" y="2807208"/>
            <a:ext cx="37947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token delivered to browser – XSS becomes critical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365760" y="3429000"/>
            <a:ext cx="4160520" cy="960120"/>
          </a:xfrm>
          <a:prstGeom prst="roundRect">
            <a:avLst>
              <a:gd name="adj" fmla="val 7619"/>
            </a:avLst>
          </a:prstGeom>
          <a:solidFill>
            <a:srgbClr val="162236"/>
          </a:solidFill>
        </p:spPr>
      </p:sp>
      <p:sp>
        <p:nvSpPr>
          <p:cNvPr id="21" name="Text 18"/>
          <p:cNvSpPr/>
          <p:nvPr/>
        </p:nvSpPr>
        <p:spPr>
          <a:xfrm>
            <a:off x="548640" y="3566160"/>
            <a:ext cx="3794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Escalation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548640" y="3904488"/>
            <a:ext cx="37947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broader scopes than intended if not enforced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4754880" y="3429000"/>
            <a:ext cx="4160520" cy="960120"/>
          </a:xfrm>
          <a:prstGeom prst="roundRect">
            <a:avLst>
              <a:gd name="adj" fmla="val 7619"/>
            </a:avLst>
          </a:prstGeom>
          <a:solidFill>
            <a:srgbClr val="162236"/>
          </a:solidFill>
        </p:spPr>
      </p:sp>
      <p:sp>
        <p:nvSpPr>
          <p:cNvPr id="24" name="Text 21"/>
          <p:cNvSpPr/>
          <p:nvPr/>
        </p:nvSpPr>
        <p:spPr>
          <a:xfrm>
            <a:off x="4937760" y="3566160"/>
            <a:ext cx="3794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Linking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4937760" y="3904488"/>
            <a:ext cx="37947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attacker IdP to victim account via flawed binding</a:t>
            </a:r>
            <a:endParaRPr lang="en-US" sz="13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orkdir/artifacts/insa_logo.png"/>
          <p:cNvPicPr>
            <a:picLocks noChangeAspect="1"/>
          </p:cNvPicPr>
          <p:nvPr/>
        </p:nvPicPr>
        <p:blipFill>
          <a:blip r:embed="rId3">
            <a:alphaModFix amt="12000"/>
          </a:blip>
          <a:stretch>
            <a:fillRect/>
          </a:stretch>
        </p:blipFill>
        <p:spPr>
          <a:xfrm>
            <a:off x="7589520" y="3794760"/>
            <a:ext cx="1371600" cy="1371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4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PortSwigger Labs – Part II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Control, SSRF, XSS, JWT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365760" y="4828032"/>
            <a:ext cx="6400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INSA  |  Web Penetration Testing  |  Day 2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8412480" y="4828032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20040" y="1280160"/>
            <a:ext cx="2103120" cy="3200400"/>
          </a:xfrm>
          <a:prstGeom prst="roundRect">
            <a:avLst>
              <a:gd name="adj" fmla="val 4348"/>
            </a:avLst>
          </a:prstGeom>
          <a:solidFill>
            <a:srgbClr val="162236"/>
          </a:solidFill>
        </p:spPr>
      </p:sp>
      <p:sp>
        <p:nvSpPr>
          <p:cNvPr id="9" name="Shape 6"/>
          <p:cNvSpPr/>
          <p:nvPr/>
        </p:nvSpPr>
        <p:spPr>
          <a:xfrm>
            <a:off x="320040" y="1280160"/>
            <a:ext cx="2103120" cy="457200"/>
          </a:xfrm>
          <a:prstGeom prst="rect">
            <a:avLst/>
          </a:prstGeom>
          <a:solidFill>
            <a:srgbClr val="8B5CF6"/>
          </a:solidFill>
        </p:spPr>
      </p:sp>
      <p:sp>
        <p:nvSpPr>
          <p:cNvPr id="10" name="Text 7"/>
          <p:cNvSpPr/>
          <p:nvPr/>
        </p:nvSpPr>
        <p:spPr>
          <a:xfrm>
            <a:off x="411480" y="1353312"/>
            <a:ext cx="19202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7200" y="196596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IDOR horizontal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246888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Vertical privilege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57200" y="297180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Method-based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57200" y="347472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Multi-step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2514600" y="1280160"/>
            <a:ext cx="2103120" cy="3200400"/>
          </a:xfrm>
          <a:prstGeom prst="roundRect">
            <a:avLst>
              <a:gd name="adj" fmla="val 4348"/>
            </a:avLst>
          </a:prstGeom>
          <a:solidFill>
            <a:srgbClr val="162236"/>
          </a:solidFill>
        </p:spPr>
      </p:sp>
      <p:sp>
        <p:nvSpPr>
          <p:cNvPr id="16" name="Shape 13"/>
          <p:cNvSpPr/>
          <p:nvPr/>
        </p:nvSpPr>
        <p:spPr>
          <a:xfrm>
            <a:off x="2514600" y="1280160"/>
            <a:ext cx="2103120" cy="457200"/>
          </a:xfrm>
          <a:prstGeom prst="rect">
            <a:avLst/>
          </a:prstGeom>
          <a:solidFill>
            <a:srgbClr val="8B5CF6"/>
          </a:solidFill>
        </p:spPr>
      </p:sp>
      <p:sp>
        <p:nvSpPr>
          <p:cNvPr id="17" name="Text 14"/>
          <p:cNvSpPr/>
          <p:nvPr/>
        </p:nvSpPr>
        <p:spPr>
          <a:xfrm>
            <a:off x="2606040" y="1353312"/>
            <a:ext cx="19202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SSRF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2651760" y="196596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Basic internal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2651760" y="246888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Blind SSRF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2651760" y="297180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Filter bypass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2651760" y="347472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Cloud metadata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4709160" y="1280160"/>
            <a:ext cx="2103120" cy="3200400"/>
          </a:xfrm>
          <a:prstGeom prst="roundRect">
            <a:avLst>
              <a:gd name="adj" fmla="val 4348"/>
            </a:avLst>
          </a:prstGeom>
          <a:solidFill>
            <a:srgbClr val="162236"/>
          </a:solidFill>
        </p:spPr>
      </p:sp>
      <p:sp>
        <p:nvSpPr>
          <p:cNvPr id="23" name="Shape 20"/>
          <p:cNvSpPr/>
          <p:nvPr/>
        </p:nvSpPr>
        <p:spPr>
          <a:xfrm>
            <a:off x="4709160" y="1280160"/>
            <a:ext cx="2103120" cy="457200"/>
          </a:xfrm>
          <a:prstGeom prst="rect">
            <a:avLst/>
          </a:prstGeom>
          <a:solidFill>
            <a:srgbClr val="8B5CF6"/>
          </a:solidFill>
        </p:spPr>
      </p:sp>
      <p:sp>
        <p:nvSpPr>
          <p:cNvPr id="24" name="Text 21"/>
          <p:cNvSpPr/>
          <p:nvPr/>
        </p:nvSpPr>
        <p:spPr>
          <a:xfrm>
            <a:off x="4800600" y="1353312"/>
            <a:ext cx="19202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XSS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4846320" y="196596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Reflected contexts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4846320" y="246888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Stored XSS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4846320" y="297180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DOM XSS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4846320" y="347472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CSP bypasses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6903720" y="1280160"/>
            <a:ext cx="2103120" cy="3200400"/>
          </a:xfrm>
          <a:prstGeom prst="roundRect">
            <a:avLst>
              <a:gd name="adj" fmla="val 4348"/>
            </a:avLst>
          </a:prstGeom>
          <a:solidFill>
            <a:srgbClr val="162236"/>
          </a:solidFill>
        </p:spPr>
      </p:sp>
      <p:sp>
        <p:nvSpPr>
          <p:cNvPr id="30" name="Shape 27"/>
          <p:cNvSpPr/>
          <p:nvPr/>
        </p:nvSpPr>
        <p:spPr>
          <a:xfrm>
            <a:off x="6903720" y="1280160"/>
            <a:ext cx="2103120" cy="457200"/>
          </a:xfrm>
          <a:prstGeom prst="rect">
            <a:avLst/>
          </a:prstGeom>
          <a:solidFill>
            <a:srgbClr val="8B5CF6"/>
          </a:solidFill>
        </p:spPr>
      </p:sp>
      <p:sp>
        <p:nvSpPr>
          <p:cNvPr id="31" name="Text 28"/>
          <p:cNvSpPr/>
          <p:nvPr/>
        </p:nvSpPr>
        <p:spPr>
          <a:xfrm>
            <a:off x="6995160" y="1353312"/>
            <a:ext cx="19202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7040880" y="196596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None algorithm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7040880" y="246888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Weak secret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7040880" y="297180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Key confusion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7040880" y="347472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Kid injection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orkdir/artifacts/insa_logo.png"/>
          <p:cNvPicPr>
            <a:picLocks noChangeAspect="1"/>
          </p:cNvPicPr>
          <p:nvPr/>
        </p:nvPicPr>
        <p:blipFill>
          <a:blip r:embed="rId3">
            <a:alphaModFix amt="12000"/>
          </a:blip>
          <a:stretch>
            <a:fillRect/>
          </a:stretch>
        </p:blipFill>
        <p:spPr>
          <a:xfrm>
            <a:off x="7589520" y="3794760"/>
            <a:ext cx="1371600" cy="1371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4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Chaining Multi-Step Exploits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low severity to critical impact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365760" y="4828032"/>
            <a:ext cx="6400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INSA  |  Web Penetration Testing  |  Day 2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8412480" y="4828032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57200" y="1280160"/>
            <a:ext cx="457200" cy="457200"/>
          </a:xfrm>
          <a:prstGeom prst="ellipse">
            <a:avLst/>
          </a:prstGeom>
          <a:solidFill>
            <a:srgbClr val="3B82F6"/>
          </a:solidFill>
        </p:spPr>
      </p:sp>
      <p:sp>
        <p:nvSpPr>
          <p:cNvPr id="9" name="Text 6"/>
          <p:cNvSpPr/>
          <p:nvPr/>
        </p:nvSpPr>
        <p:spPr>
          <a:xfrm>
            <a:off x="457200" y="1325880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58368" y="1737360"/>
            <a:ext cx="54864" cy="228600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11" name="Text 8"/>
          <p:cNvSpPr/>
          <p:nvPr/>
        </p:nvSpPr>
        <p:spPr>
          <a:xfrm>
            <a:off x="1143000" y="12344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 &amp; Info Disclosure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143000" y="1508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hidden endpoints, version, user IDs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57200" y="1965960"/>
            <a:ext cx="457200" cy="457200"/>
          </a:xfrm>
          <a:prstGeom prst="ellipse">
            <a:avLst/>
          </a:prstGeom>
          <a:solidFill>
            <a:srgbClr val="3B82F6"/>
          </a:solidFill>
        </p:spPr>
      </p:sp>
      <p:sp>
        <p:nvSpPr>
          <p:cNvPr id="14" name="Text 11"/>
          <p:cNvSpPr/>
          <p:nvPr/>
        </p:nvSpPr>
        <p:spPr>
          <a:xfrm>
            <a:off x="457200" y="2011680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658368" y="2423160"/>
            <a:ext cx="54864" cy="228600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16" name="Text 13"/>
          <p:cNvSpPr/>
          <p:nvPr/>
        </p:nvSpPr>
        <p:spPr>
          <a:xfrm>
            <a:off x="1143000" y="1920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/ Session Weakness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143000" y="21945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reset flaw or predictable session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457200" y="2651760"/>
            <a:ext cx="457200" cy="457200"/>
          </a:xfrm>
          <a:prstGeom prst="ellipse">
            <a:avLst/>
          </a:prstGeom>
          <a:solidFill>
            <a:srgbClr val="3B82F6"/>
          </a:solidFill>
        </p:spPr>
      </p:sp>
      <p:sp>
        <p:nvSpPr>
          <p:cNvPr id="19" name="Text 16"/>
          <p:cNvSpPr/>
          <p:nvPr/>
        </p:nvSpPr>
        <p:spPr>
          <a:xfrm>
            <a:off x="457200" y="2697480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658368" y="3108960"/>
            <a:ext cx="54864" cy="228600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21" name="Text 18"/>
          <p:cNvSpPr/>
          <p:nvPr/>
        </p:nvSpPr>
        <p:spPr>
          <a:xfrm>
            <a:off x="1143000" y="26060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IDOR / Access Control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1143000" y="28803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 to higher-privilege objects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457200" y="3337560"/>
            <a:ext cx="457200" cy="457200"/>
          </a:xfrm>
          <a:prstGeom prst="ellipse">
            <a:avLst/>
          </a:prstGeom>
          <a:solidFill>
            <a:srgbClr val="3B82F6"/>
          </a:solidFill>
        </p:spPr>
      </p:sp>
      <p:sp>
        <p:nvSpPr>
          <p:cNvPr id="24" name="Text 21"/>
          <p:cNvSpPr/>
          <p:nvPr/>
        </p:nvSpPr>
        <p:spPr>
          <a:xfrm>
            <a:off x="457200" y="3383280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658368" y="3794760"/>
            <a:ext cx="54864" cy="228600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26" name="Text 23"/>
          <p:cNvSpPr/>
          <p:nvPr/>
        </p:nvSpPr>
        <p:spPr>
          <a:xfrm>
            <a:off x="1143000" y="32918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SSRF or Injection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1143000" y="35661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internal services or execute code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457200" y="4023360"/>
            <a:ext cx="457200" cy="457200"/>
          </a:xfrm>
          <a:prstGeom prst="ellipse">
            <a:avLst/>
          </a:prstGeom>
          <a:solidFill>
            <a:srgbClr val="3B82F6"/>
          </a:solidFill>
        </p:spPr>
      </p:sp>
      <p:sp>
        <p:nvSpPr>
          <p:cNvPr id="29" name="Text 26"/>
          <p:cNvSpPr/>
          <p:nvPr/>
        </p:nvSpPr>
        <p:spPr>
          <a:xfrm>
            <a:off x="457200" y="4069080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1143000" y="39776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Realization</a:t>
            </a:r>
            <a:endParaRPr lang="en-US" sz="1500" dirty="0"/>
          </a:p>
        </p:txBody>
      </p:sp>
      <p:sp>
        <p:nvSpPr>
          <p:cNvPr id="31" name="Text 28"/>
          <p:cNvSpPr/>
          <p:nvPr/>
        </p:nvSpPr>
        <p:spPr>
          <a:xfrm>
            <a:off x="1143000" y="42519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exfil, RCE, account takeover at scale</a:t>
            </a:r>
            <a:endParaRPr lang="en-US" sz="13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orkdir/artifacts/insa_logo.png"/>
          <p:cNvPicPr>
            <a:picLocks noChangeAspect="1"/>
          </p:cNvPicPr>
          <p:nvPr/>
        </p:nvPicPr>
        <p:blipFill>
          <a:blip r:embed="rId3">
            <a:alphaModFix amt="12000"/>
          </a:blip>
          <a:stretch>
            <a:fillRect/>
          </a:stretch>
        </p:blipFill>
        <p:spPr>
          <a:xfrm>
            <a:off x="7589520" y="3794760"/>
            <a:ext cx="1371600" cy="1371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4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summary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365760" y="4828032"/>
            <a:ext cx="6400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INSA  |  Web Penetration Testing  |  Day 2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8412480" y="4828032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57200" y="1188720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188720" y="1188720"/>
            <a:ext cx="74980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Vulnerabilities arise from trusting unvalidated input and broken trust boundaries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57200" y="1755648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188720" y="1755648"/>
            <a:ext cx="74980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Injection (SQL, command, XXE, NoSQL) remains high-impact — always test thoroughly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57200" y="2322576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188720" y="2322576"/>
            <a:ext cx="74980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 &amp; IDOR are among the most common real-world findings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57200" y="2889504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188720" y="2889504"/>
            <a:ext cx="74980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 issues (XSS, CSRF, CORS) enable account takeover and data theft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457200" y="3456432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188720" y="3456432"/>
            <a:ext cx="74980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APIs, GraphQL, JWT and OAuth introduce modern attack surfaces that need dedicated testing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457200" y="4023360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1188720" y="4023360"/>
            <a:ext cx="74980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findings — low severity bugs often combine into critical impact</a:t>
            </a:r>
            <a:endParaRPr lang="en-US" sz="14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8A6FF"/>
          </a:solidFill>
        </p:spPr>
      </p:sp>
      <p:sp>
        <p:nvSpPr>
          <p:cNvPr id="3" name="Shape 1"/>
          <p:cNvSpPr/>
          <p:nvPr/>
        </p:nvSpPr>
        <p:spPr>
          <a:xfrm>
            <a:off x="3200400" y="1737360"/>
            <a:ext cx="2743200" cy="18288"/>
          </a:xfrm>
          <a:prstGeom prst="rect">
            <a:avLst/>
          </a:prstGeom>
          <a:solidFill>
            <a:srgbClr val="58A6FF"/>
          </a:solidFill>
        </p:spPr>
      </p:sp>
      <p:sp>
        <p:nvSpPr>
          <p:cNvPr id="4" name="Text 2"/>
          <p:cNvSpPr/>
          <p:nvPr/>
        </p:nvSpPr>
        <p:spPr>
          <a:xfrm>
            <a:off x="457200" y="1965960"/>
            <a:ext cx="822960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0F6FC"/>
                </a:solidFill>
                <a:latin typeface="Arial" panose="02080604020202020204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914400" y="3063240"/>
            <a:ext cx="73152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8B949E"/>
                </a:solidFill>
                <a:latin typeface="Arial" panose="02080604020202020204" pitchFamily="34" charset="0"/>
                <a:ea typeface="Arial" pitchFamily="34" charset="-122"/>
                <a:cs typeface="Arial" pitchFamily="34" charset="-120"/>
              </a:rPr>
              <a:t>We appreciate your time and attention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00400" y="3611880"/>
            <a:ext cx="2743200" cy="18288"/>
          </a:xfrm>
          <a:prstGeom prst="rect">
            <a:avLst/>
          </a:prstGeom>
          <a:solidFill>
            <a:srgbClr val="58A6FF"/>
          </a:solidFill>
        </p:spPr>
      </p:sp>
      <p:sp>
        <p:nvSpPr>
          <p:cNvPr id="7" name="Shape 5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58A6FF"/>
          </a:solidFill>
        </p:spPr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8A6FF"/>
          </a:solidFill>
        </p:spPr>
      </p:sp>
      <p:sp>
        <p:nvSpPr>
          <p:cNvPr id="3" name="Shape 1"/>
          <p:cNvSpPr/>
          <p:nvPr/>
        </p:nvSpPr>
        <p:spPr>
          <a:xfrm>
            <a:off x="3200400" y="1737360"/>
            <a:ext cx="2743200" cy="18288"/>
          </a:xfrm>
          <a:prstGeom prst="rect">
            <a:avLst/>
          </a:prstGeom>
          <a:solidFill>
            <a:srgbClr val="58A6FF"/>
          </a:solidFill>
        </p:spPr>
      </p:sp>
      <p:sp>
        <p:nvSpPr>
          <p:cNvPr id="4" name="Text 2"/>
          <p:cNvSpPr/>
          <p:nvPr/>
        </p:nvSpPr>
        <p:spPr>
          <a:xfrm>
            <a:off x="457200" y="1965960"/>
            <a:ext cx="822960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0F6FC"/>
                </a:solidFill>
                <a:latin typeface="Arial" panose="02080604020202020204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914400" y="3063240"/>
            <a:ext cx="73152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8B949E"/>
                </a:solidFill>
                <a:latin typeface="Arial" panose="02080604020202020204" pitchFamily="34" charset="0"/>
                <a:ea typeface="Arial" pitchFamily="34" charset="-122"/>
                <a:cs typeface="Arial" pitchFamily="34" charset="-120"/>
              </a:rPr>
              <a:t>We'd love to hear your thoughts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00400" y="3611880"/>
            <a:ext cx="2743200" cy="18288"/>
          </a:xfrm>
          <a:prstGeom prst="rect">
            <a:avLst/>
          </a:prstGeom>
          <a:solidFill>
            <a:srgbClr val="58A6FF"/>
          </a:solidFill>
        </p:spPr>
      </p:sp>
      <p:sp>
        <p:nvSpPr>
          <p:cNvPr id="7" name="Shape 5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58A6FF"/>
          </a:solid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13616</Words>
  <Application>Microsoft Office PowerPoint</Application>
  <PresentationFormat>On-screen Show (16:9)</PresentationFormat>
  <Paragraphs>914</Paragraphs>
  <Slides>32</Slides>
  <Notes>32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32</vt:i4>
      </vt:variant>
    </vt:vector>
  </HeadingPairs>
  <TitlesOfParts>
    <vt:vector size="34" baseType="lpstr"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2: Web Penetration Testing I &amp; II</dc:title>
  <dc:subject>Injection, Input Flaws, Auth, Access &amp; Logic</dc:subject>
  <dc:creator>INSA - Information Network Security Administration</dc:creator>
  <cp:lastModifiedBy>Shikur M</cp:lastModifiedBy>
  <cp:revision>7</cp:revision>
  <dcterms:created xsi:type="dcterms:W3CDTF">2026-08-01T09:12:05Z</dcterms:created>
  <dcterms:modified xsi:type="dcterms:W3CDTF">2026-08-05T13:15:37Z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/>
  </property>
  <property fmtid="{D5CDD505-2E9C-101B-9397-08002B2CF9AE}" pid="3" name="KSOProductBuildVer">
    <vt:lpwstr>1033-11.1.0.11723</vt:lpwstr>
  </property>
</Properties>
</file>