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22"/>
        </a:solidFill>
      </p:bgPr>
    </p:bg>
    <p:spTree>
      <p:nvGrpSpPr>
        <p:cNvPr id="1" name=""/>
        <p:cNvGrpSpPr/>
        <p:nvPr/>
      </p:nvGrpSpPr>
      <p:grpSpPr>
        <a:xfrm>
          <a:off x="0" y="0"/>
          <a:ext cx="0" cy="0"/>
          <a:chOff x="0" y="0"/>
          <a:chExt cx="0" cy="0"/>
        </a:xfrm>
      </p:grpSpPr>
      <p:sp>
        <p:nvSpPr>
          <p:cNvPr id="2" name="Text 0"/>
          <p:cNvSpPr/>
          <p:nvPr/>
        </p:nvSpPr>
        <p:spPr>
          <a:xfrm>
            <a:off x="8869680" y="548640"/>
            <a:ext cx="2926080" cy="5760720"/>
          </a:xfrm>
          <a:prstGeom prst="rect">
            <a:avLst/>
          </a:prstGeom>
          <a:noFill/>
          <a:ln/>
        </p:spPr>
        <p:txBody>
          <a:bodyPr wrap="square" rtlCol="0" anchor="t"/>
          <a:lstStyle/>
          <a:p>
            <a:pPr algn="l" indent="0" marL="0">
              <a:lnSpc>
                <a:spcPct val="160000"/>
              </a:lnSpc>
              <a:buNone/>
            </a:pPr>
            <a:r>
              <a:rPr lang="en-US" sz="1300" dirty="0">
                <a:solidFill>
                  <a:srgbClr val="2A1417"/>
                </a:solidFill>
                <a:latin typeface="Courier New" pitchFamily="34" charset="0"/>
                <a:ea typeface="Courier New" pitchFamily="34" charset="-122"/>
                <a:cs typeface="Courier New" pitchFamily="34" charset="-120"/>
              </a:rPr>
              <a:t>char buf[16];</a:t>
            </a:r>
            <a:endParaRPr lang="en-US" sz="1300" dirty="0"/>
          </a:p>
          <a:p>
            <a:pPr algn="l" indent="0" marL="0">
              <a:lnSpc>
                <a:spcPct val="160000"/>
              </a:lnSpc>
              <a:buNone/>
            </a:pPr>
            <a:r>
              <a:rPr lang="en-US" sz="1300" dirty="0">
                <a:solidFill>
                  <a:srgbClr val="2A1417"/>
                </a:solidFill>
                <a:latin typeface="Courier New" pitchFamily="34" charset="0"/>
                <a:ea typeface="Courier New" pitchFamily="34" charset="-122"/>
                <a:cs typeface="Courier New" pitchFamily="34" charset="-120"/>
              </a:rPr>
              <a:t>strcpy(buf,</a:t>
            </a:r>
            <a:endParaRPr lang="en-US" sz="1300" dirty="0"/>
          </a:p>
          <a:p>
            <a:pPr algn="l" indent="0" marL="0">
              <a:lnSpc>
                <a:spcPct val="160000"/>
              </a:lnSpc>
              <a:buNone/>
            </a:pPr>
            <a:r>
              <a:rPr lang="en-US" sz="1300" dirty="0">
                <a:solidFill>
                  <a:srgbClr val="2A1417"/>
                </a:solidFill>
                <a:latin typeface="Courier New" pitchFamily="34" charset="0"/>
                <a:ea typeface="Courier New" pitchFamily="34" charset="-122"/>
                <a:cs typeface="Courier New" pitchFamily="34" charset="-120"/>
              </a:rPr>
              <a:t>input); //!</a:t>
            </a:r>
            <a:endParaRPr lang="en-US" sz="1300" dirty="0"/>
          </a:p>
        </p:txBody>
      </p:sp>
      <p:sp>
        <p:nvSpPr>
          <p:cNvPr id="3" name="Shape 1"/>
          <p:cNvSpPr/>
          <p:nvPr/>
        </p:nvSpPr>
        <p:spPr>
          <a:xfrm>
            <a:off x="777240" y="1005840"/>
            <a:ext cx="594360" cy="594360"/>
          </a:xfrm>
          <a:prstGeom prst="ellipse">
            <a:avLst/>
          </a:prstGeom>
          <a:solidFill>
            <a:srgbClr val="5C6BC0"/>
          </a:solidFill>
          <a:ln/>
        </p:spPr>
      </p:sp>
      <p:sp>
        <p:nvSpPr>
          <p:cNvPr id="4" name="Text 2"/>
          <p:cNvSpPr/>
          <p:nvPr/>
        </p:nvSpPr>
        <p:spPr>
          <a:xfrm>
            <a:off x="77724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p:nvPr/>
        </p:nvSpPr>
        <p:spPr>
          <a:xfrm>
            <a:off x="731520" y="2103120"/>
            <a:ext cx="9601200" cy="8686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 MEMORY,</a:t>
            </a:r>
            <a:endParaRPr lang="en-US" sz="4600" dirty="0"/>
          </a:p>
        </p:txBody>
      </p:sp>
      <p:sp>
        <p:nvSpPr>
          <p:cNvPr id="6" name="Text 4"/>
          <p:cNvSpPr/>
          <p:nvPr/>
        </p:nvSpPr>
        <p:spPr>
          <a:xfrm>
            <a:off x="731520" y="2880360"/>
            <a:ext cx="9601200" cy="868680"/>
          </a:xfrm>
          <a:prstGeom prst="rect">
            <a:avLst/>
          </a:prstGeom>
          <a:noFill/>
          <a:ln/>
        </p:spPr>
        <p:txBody>
          <a:bodyPr wrap="square" rtlCol="0" anchor="ctr"/>
          <a:lstStyle/>
          <a:p>
            <a:pPr indent="0" marL="0">
              <a:buNone/>
            </a:pPr>
            <a:r>
              <a:rPr lang="en-US" sz="4600" b="1" dirty="0">
                <a:solidFill>
                  <a:srgbClr val="C0392B"/>
                </a:solidFill>
                <a:latin typeface="Cambria" pitchFamily="34" charset="0"/>
                <a:ea typeface="Cambria" pitchFamily="34" charset="-122"/>
                <a:cs typeface="Cambria" pitchFamily="34" charset="-120"/>
              </a:rPr>
              <a:t>VULNERABILITIES</a:t>
            </a:r>
            <a:endParaRPr lang="en-US" sz="4600" dirty="0"/>
          </a:p>
        </p:txBody>
      </p:sp>
      <p:sp>
        <p:nvSpPr>
          <p:cNvPr id="7" name="Text 5"/>
          <p:cNvSpPr/>
          <p:nvPr/>
        </p:nvSpPr>
        <p:spPr>
          <a:xfrm>
            <a:off x="731520" y="3657600"/>
            <a:ext cx="9601200" cy="868680"/>
          </a:xfrm>
          <a:prstGeom prst="rect">
            <a:avLst/>
          </a:prstGeom>
          <a:noFill/>
          <a:ln/>
        </p:spPr>
        <p:txBody>
          <a:bodyPr wrap="square" rtlCol="0" anchor="ctr"/>
          <a:lstStyle/>
          <a:p>
            <a:pPr indent="0" marL="0">
              <a:buNone/>
            </a:pPr>
            <a:r>
              <a:rPr lang="en-US" sz="4600" b="1" dirty="0">
                <a:solidFill>
                  <a:srgbClr val="00C896"/>
                </a:solidFill>
                <a:latin typeface="Cambria" pitchFamily="34" charset="0"/>
                <a:ea typeface="Cambria" pitchFamily="34" charset="-122"/>
                <a:cs typeface="Cambria" pitchFamily="34" charset="-120"/>
              </a:rPr>
              <a:t>&amp; THE PATH TO SAFETY</a:t>
            </a:r>
            <a:endParaRPr lang="en-US" sz="4600" dirty="0"/>
          </a:p>
        </p:txBody>
      </p:sp>
      <p:sp>
        <p:nvSpPr>
          <p:cNvPr id="8" name="Text 6"/>
          <p:cNvSpPr/>
          <p:nvPr/>
        </p:nvSpPr>
        <p:spPr>
          <a:xfrm>
            <a:off x="749808" y="4709160"/>
            <a:ext cx="8686800" cy="548640"/>
          </a:xfrm>
          <a:prstGeom prst="rect">
            <a:avLst/>
          </a:prstGeom>
          <a:noFill/>
          <a:ln/>
        </p:spPr>
        <p:txBody>
          <a:bodyPr wrap="square" rtlCol="0" anchor="ctr"/>
          <a:lstStyle/>
          <a:p>
            <a:pPr indent="0" marL="0">
              <a:buNone/>
            </a:pPr>
            <a:r>
              <a:rPr lang="en-US" sz="1450" i="1" dirty="0">
                <a:solidFill>
                  <a:srgbClr val="AFC3D6"/>
                </a:solidFill>
                <a:latin typeface="Calibri" pitchFamily="34" charset="0"/>
                <a:ea typeface="Calibri" pitchFamily="34" charset="-122"/>
                <a:cs typeface="Calibri" pitchFamily="34" charset="-120"/>
              </a:rPr>
              <a:t>From C fundamentals, through the memory bugs that power real-world exploits, to the modern fixes — including Rust</a:t>
            </a:r>
            <a:endParaRPr lang="en-US" sz="1450" dirty="0"/>
          </a:p>
        </p:txBody>
      </p:sp>
      <p:sp>
        <p:nvSpPr>
          <p:cNvPr id="9" name="Text 7"/>
          <p:cNvSpPr/>
          <p:nvPr/>
        </p:nvSpPr>
        <p:spPr>
          <a:xfrm>
            <a:off x="749808" y="6126480"/>
            <a:ext cx="10058400" cy="365760"/>
          </a:xfrm>
          <a:prstGeom prst="rect">
            <a:avLst/>
          </a:prstGeom>
          <a:noFill/>
          <a:ln/>
        </p:spPr>
        <p:txBody>
          <a:bodyPr wrap="square" rtlCol="0" anchor="ctr"/>
          <a:lstStyle/>
          <a:p>
            <a:pPr indent="0" marL="0">
              <a:buNone/>
            </a:pPr>
            <a:r>
              <a:rPr lang="en-US" sz="1150" dirty="0">
                <a:solidFill>
                  <a:srgbClr val="6B84A0"/>
                </a:solidFill>
                <a:latin typeface="Calibri" pitchFamily="34" charset="0"/>
                <a:ea typeface="Calibri" pitchFamily="34" charset="-122"/>
                <a:cs typeface="Calibri" pitchFamily="34" charset="-120"/>
              </a:rPr>
              <a:t>A Student Primer  •  Memory Corruption  •  Code Case Studies  •  Mitigations &amp; Memory-Safe Languages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Three Acts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This deck moves from writing C, to breaking it, to fixing it</a:t>
            </a:r>
            <a:endParaRPr lang="en-US" sz="1250" dirty="0"/>
          </a:p>
        </p:txBody>
      </p:sp>
      <p:sp>
        <p:nvSpPr>
          <p:cNvPr id="4" name="Shape 2"/>
          <p:cNvSpPr/>
          <p:nvPr/>
        </p:nvSpPr>
        <p:spPr>
          <a:xfrm>
            <a:off x="548640" y="1691640"/>
            <a:ext cx="3566160" cy="3931920"/>
          </a:xfrm>
          <a:prstGeom prst="roundRect">
            <a:avLst>
              <a:gd name="adj" fmla="val 2051"/>
            </a:avLst>
          </a:prstGeom>
          <a:solidFill>
            <a:srgbClr val="FFFFFF"/>
          </a:solidFill>
          <a:ln/>
          <a:effectLst>
            <a:outerShdw sx="100000" sy="100000" kx="0" ky="0" algn="bl" rotWithShape="0" blurRad="101600" dist="38100" dir="5400000">
              <a:srgbClr val="1B2A41">
                <a:alpha val="16000"/>
              </a:srgbClr>
            </a:outerShdw>
          </a:effectLst>
        </p:spPr>
      </p:sp>
      <p:sp>
        <p:nvSpPr>
          <p:cNvPr id="5" name="Text 3"/>
          <p:cNvSpPr/>
          <p:nvPr/>
        </p:nvSpPr>
        <p:spPr>
          <a:xfrm>
            <a:off x="822960" y="1874520"/>
            <a:ext cx="1828800" cy="731520"/>
          </a:xfrm>
          <a:prstGeom prst="rect">
            <a:avLst/>
          </a:prstGeom>
          <a:noFill/>
          <a:ln/>
        </p:spPr>
        <p:txBody>
          <a:bodyPr wrap="square" rtlCol="0" anchor="ctr"/>
          <a:lstStyle/>
          <a:p>
            <a:pPr indent="0" marL="0">
              <a:buNone/>
            </a:pPr>
            <a:r>
              <a:rPr lang="en-US" sz="3400" b="1" dirty="0">
                <a:solidFill>
                  <a:srgbClr val="5C6BC0"/>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822960" y="2651760"/>
            <a:ext cx="3017520" cy="457200"/>
          </a:xfrm>
          <a:prstGeom prst="rect">
            <a:avLst/>
          </a:prstGeom>
          <a:noFill/>
          <a:ln/>
        </p:spPr>
        <p:txBody>
          <a:bodyPr wrap="square" rtlCol="0" anchor="ctr"/>
          <a:lstStyle/>
          <a:p>
            <a:pPr indent="0" marL="0">
              <a:buNone/>
            </a:pPr>
            <a:r>
              <a:rPr lang="en-US" sz="1900" b="1" dirty="0">
                <a:solidFill>
                  <a:srgbClr val="13202B"/>
                </a:solidFill>
                <a:latin typeface="Cambria" pitchFamily="34" charset="0"/>
                <a:ea typeface="Cambria" pitchFamily="34" charset="-122"/>
                <a:cs typeface="Cambria" pitchFamily="34" charset="-120"/>
              </a:rPr>
              <a:t>C Basics</a:t>
            </a:r>
            <a:endParaRPr lang="en-US" sz="1900" dirty="0"/>
          </a:p>
        </p:txBody>
      </p:sp>
      <p:sp>
        <p:nvSpPr>
          <p:cNvPr id="7" name="Text 5"/>
          <p:cNvSpPr/>
          <p:nvPr/>
        </p:nvSpPr>
        <p:spPr>
          <a:xfrm>
            <a:off x="822960" y="3154680"/>
            <a:ext cx="3017520" cy="2286000"/>
          </a:xfrm>
          <a:prstGeom prst="rect">
            <a:avLst/>
          </a:prstGeom>
          <a:noFill/>
          <a:ln/>
        </p:spPr>
        <p:txBody>
          <a:bodyPr wrap="square" rtlCol="0" anchor="ctr"/>
          <a:lstStyle/>
          <a:p>
            <a:pPr indent="0" marL="0">
              <a:lnSpc>
                <a:spcPct val="130000"/>
              </a:lnSpc>
              <a:buNone/>
            </a:pPr>
            <a:r>
              <a:rPr lang="en-US" sz="1200" dirty="0">
                <a:solidFill>
                  <a:srgbClr val="5A6B7A"/>
                </a:solidFill>
                <a:latin typeface="Calibri" pitchFamily="34" charset="0"/>
                <a:ea typeface="Calibri" pitchFamily="34" charset="-122"/>
                <a:cs typeface="Calibri" pitchFamily="34" charset="-120"/>
              </a:rPr>
              <a:t>A fast refresher on syntax, pointers, and the stack/heap memory model — just enough to read what follows.</a:t>
            </a:r>
            <a:endParaRPr lang="en-US" sz="1200" dirty="0"/>
          </a:p>
        </p:txBody>
      </p:sp>
      <p:sp>
        <p:nvSpPr>
          <p:cNvPr id="8" name="Shape 6"/>
          <p:cNvSpPr/>
          <p:nvPr/>
        </p:nvSpPr>
        <p:spPr>
          <a:xfrm>
            <a:off x="4343400" y="1691640"/>
            <a:ext cx="3566160" cy="3931920"/>
          </a:xfrm>
          <a:prstGeom prst="roundRect">
            <a:avLst>
              <a:gd name="adj" fmla="val 2051"/>
            </a:avLst>
          </a:prstGeom>
          <a:solidFill>
            <a:srgbClr val="FFFFFF"/>
          </a:solidFill>
          <a:ln/>
          <a:effectLst>
            <a:outerShdw sx="100000" sy="100000" kx="0" ky="0" algn="bl" rotWithShape="0" blurRad="101600" dist="38100" dir="5400000">
              <a:srgbClr val="1B2A41">
                <a:alpha val="16000"/>
              </a:srgbClr>
            </a:outerShdw>
          </a:effectLst>
        </p:spPr>
      </p:sp>
      <p:sp>
        <p:nvSpPr>
          <p:cNvPr id="9" name="Text 7"/>
          <p:cNvSpPr/>
          <p:nvPr/>
        </p:nvSpPr>
        <p:spPr>
          <a:xfrm>
            <a:off x="4617720" y="1874520"/>
            <a:ext cx="1828800" cy="731520"/>
          </a:xfrm>
          <a:prstGeom prst="rect">
            <a:avLst/>
          </a:prstGeom>
          <a:noFill/>
          <a:ln/>
        </p:spPr>
        <p:txBody>
          <a:bodyPr wrap="square" rtlCol="0" anchor="ctr"/>
          <a:lstStyle/>
          <a:p>
            <a:pPr indent="0" marL="0">
              <a:buNone/>
            </a:pPr>
            <a:r>
              <a:rPr lang="en-US" sz="3400" b="1" dirty="0">
                <a:solidFill>
                  <a:srgbClr val="C0392B"/>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4617720" y="2651760"/>
            <a:ext cx="3017520" cy="457200"/>
          </a:xfrm>
          <a:prstGeom prst="rect">
            <a:avLst/>
          </a:prstGeom>
          <a:noFill/>
          <a:ln/>
        </p:spPr>
        <p:txBody>
          <a:bodyPr wrap="square" rtlCol="0" anchor="ctr"/>
          <a:lstStyle/>
          <a:p>
            <a:pPr indent="0" marL="0">
              <a:buNone/>
            </a:pPr>
            <a:r>
              <a:rPr lang="en-US" sz="1900" b="1" dirty="0">
                <a:solidFill>
                  <a:srgbClr val="13202B"/>
                </a:solidFill>
                <a:latin typeface="Cambria" pitchFamily="34" charset="0"/>
                <a:ea typeface="Cambria" pitchFamily="34" charset="-122"/>
                <a:cs typeface="Cambria" pitchFamily="34" charset="-120"/>
              </a:rPr>
              <a:t>Low-Level Vulnerabilities</a:t>
            </a:r>
            <a:endParaRPr lang="en-US" sz="1900" dirty="0"/>
          </a:p>
        </p:txBody>
      </p:sp>
      <p:sp>
        <p:nvSpPr>
          <p:cNvPr id="11" name="Text 9"/>
          <p:cNvSpPr/>
          <p:nvPr/>
        </p:nvSpPr>
        <p:spPr>
          <a:xfrm>
            <a:off x="4617720" y="3154680"/>
            <a:ext cx="3017520" cy="2286000"/>
          </a:xfrm>
          <a:prstGeom prst="rect">
            <a:avLst/>
          </a:prstGeom>
          <a:noFill/>
          <a:ln/>
        </p:spPr>
        <p:txBody>
          <a:bodyPr wrap="square" rtlCol="0" anchor="ctr"/>
          <a:lstStyle/>
          <a:p>
            <a:pPr indent="0" marL="0">
              <a:lnSpc>
                <a:spcPct val="130000"/>
              </a:lnSpc>
              <a:buNone/>
            </a:pPr>
            <a:r>
              <a:rPr lang="en-US" sz="1200" dirty="0">
                <a:solidFill>
                  <a:srgbClr val="5A6B7A"/>
                </a:solidFill>
                <a:latin typeface="Calibri" pitchFamily="34" charset="0"/>
                <a:ea typeface="Calibri" pitchFamily="34" charset="-122"/>
                <a:cs typeface="Calibri" pitchFamily="34" charset="-120"/>
              </a:rPr>
              <a:t>The main event: real code showing buffer overflows, use-after-free, format strings, integer overflow, and more.</a:t>
            </a:r>
            <a:endParaRPr lang="en-US" sz="1200" dirty="0"/>
          </a:p>
        </p:txBody>
      </p:sp>
      <p:sp>
        <p:nvSpPr>
          <p:cNvPr id="12" name="Shape 10"/>
          <p:cNvSpPr/>
          <p:nvPr/>
        </p:nvSpPr>
        <p:spPr>
          <a:xfrm>
            <a:off x="8138160" y="1691640"/>
            <a:ext cx="3566160" cy="3931920"/>
          </a:xfrm>
          <a:prstGeom prst="roundRect">
            <a:avLst>
              <a:gd name="adj" fmla="val 2051"/>
            </a:avLst>
          </a:prstGeom>
          <a:solidFill>
            <a:srgbClr val="FFFFFF"/>
          </a:solidFill>
          <a:ln/>
          <a:effectLst>
            <a:outerShdw sx="100000" sy="100000" kx="0" ky="0" algn="bl" rotWithShape="0" blurRad="101600" dist="38100" dir="5400000">
              <a:srgbClr val="1B2A41">
                <a:alpha val="16000"/>
              </a:srgbClr>
            </a:outerShdw>
          </a:effectLst>
        </p:spPr>
      </p:sp>
      <p:sp>
        <p:nvSpPr>
          <p:cNvPr id="13" name="Text 11"/>
          <p:cNvSpPr/>
          <p:nvPr/>
        </p:nvSpPr>
        <p:spPr>
          <a:xfrm>
            <a:off x="8412480" y="1874520"/>
            <a:ext cx="1828800" cy="731520"/>
          </a:xfrm>
          <a:prstGeom prst="rect">
            <a:avLst/>
          </a:prstGeom>
          <a:noFill/>
          <a:ln/>
        </p:spPr>
        <p:txBody>
          <a:bodyPr wrap="square" rtlCol="0" anchor="ctr"/>
          <a:lstStyle/>
          <a:p>
            <a:pPr indent="0" marL="0">
              <a:buNone/>
            </a:pPr>
            <a:r>
              <a:rPr lang="en-US" sz="3400" b="1" dirty="0">
                <a:solidFill>
                  <a:srgbClr val="00C896"/>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8412480" y="2651760"/>
            <a:ext cx="3017520" cy="457200"/>
          </a:xfrm>
          <a:prstGeom prst="rect">
            <a:avLst/>
          </a:prstGeom>
          <a:noFill/>
          <a:ln/>
        </p:spPr>
        <p:txBody>
          <a:bodyPr wrap="square" rtlCol="0" anchor="ctr"/>
          <a:lstStyle/>
          <a:p>
            <a:pPr indent="0" marL="0">
              <a:buNone/>
            </a:pPr>
            <a:r>
              <a:rPr lang="en-US" sz="1900" b="1" dirty="0">
                <a:solidFill>
                  <a:srgbClr val="13202B"/>
                </a:solidFill>
                <a:latin typeface="Cambria" pitchFamily="34" charset="0"/>
                <a:ea typeface="Cambria" pitchFamily="34" charset="-122"/>
                <a:cs typeface="Cambria" pitchFamily="34" charset="-120"/>
              </a:rPr>
              <a:t>Solutions</a:t>
            </a:r>
            <a:endParaRPr lang="en-US" sz="1900" dirty="0"/>
          </a:p>
        </p:txBody>
      </p:sp>
      <p:sp>
        <p:nvSpPr>
          <p:cNvPr id="15" name="Text 13"/>
          <p:cNvSpPr/>
          <p:nvPr/>
        </p:nvSpPr>
        <p:spPr>
          <a:xfrm>
            <a:off x="8412480" y="3154680"/>
            <a:ext cx="3017520" cy="2286000"/>
          </a:xfrm>
          <a:prstGeom prst="rect">
            <a:avLst/>
          </a:prstGeom>
          <a:noFill/>
          <a:ln/>
        </p:spPr>
        <p:txBody>
          <a:bodyPr wrap="square" rtlCol="0" anchor="ctr"/>
          <a:lstStyle/>
          <a:p>
            <a:pPr indent="0" marL="0">
              <a:lnSpc>
                <a:spcPct val="130000"/>
              </a:lnSpc>
              <a:buNone/>
            </a:pPr>
            <a:r>
              <a:rPr lang="en-US" sz="1200" dirty="0">
                <a:solidFill>
                  <a:srgbClr val="5A6B7A"/>
                </a:solidFill>
                <a:latin typeface="Calibri" pitchFamily="34" charset="0"/>
                <a:ea typeface="Calibri" pitchFamily="34" charset="-122"/>
                <a:cs typeface="Calibri" pitchFamily="34" charset="-120"/>
              </a:rPr>
              <a:t>Defensive coding, compiler/OS mitigations, analysis tooling, and memory-safe languages like Rust.</a:t>
            </a:r>
            <a:endParaRPr lang="en-US" sz="120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a:t>
            </a:r>
            <a:endParaRPr lang="en-US" sz="1000" dirty="0"/>
          </a:p>
        </p:txBody>
      </p:sp>
      <p:sp>
        <p:nvSpPr>
          <p:cNvPr id="17" name="Text 15"/>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522"/>
        </a:solidFill>
      </p:bgPr>
    </p:bg>
    <p:spTree>
      <p:nvGrpSpPr>
        <p:cNvPr id="1" name=""/>
        <p:cNvGrpSpPr/>
        <p:nvPr/>
      </p:nvGrpSpPr>
      <p:grpSpPr>
        <a:xfrm>
          <a:off x="0" y="0"/>
          <a:ext cx="0" cy="0"/>
          <a:chOff x="0" y="0"/>
          <a:chExt cx="0" cy="0"/>
        </a:xfrm>
      </p:grpSpPr>
      <p:sp>
        <p:nvSpPr>
          <p:cNvPr id="2" name="Shape 0"/>
          <p:cNvSpPr/>
          <p:nvPr/>
        </p:nvSpPr>
        <p:spPr>
          <a:xfrm>
            <a:off x="8778240" y="-1371600"/>
            <a:ext cx="5486400" cy="5486400"/>
          </a:xfrm>
          <a:prstGeom prst="ellipse">
            <a:avLst/>
          </a:prstGeom>
          <a:solidFill>
            <a:srgbClr val="5C6BC0">
              <a:alpha val="15000"/>
            </a:srgbClr>
          </a:solidFill>
          <a:ln/>
        </p:spPr>
      </p:sp>
      <p:sp>
        <p:nvSpPr>
          <p:cNvPr id="3" name="Text 1"/>
          <p:cNvSpPr/>
          <p:nvPr/>
        </p:nvSpPr>
        <p:spPr>
          <a:xfrm>
            <a:off x="731520" y="2468880"/>
            <a:ext cx="5486400" cy="457200"/>
          </a:xfrm>
          <a:prstGeom prst="rect">
            <a:avLst/>
          </a:prstGeom>
          <a:noFill/>
          <a:ln/>
        </p:spPr>
        <p:txBody>
          <a:bodyPr wrap="square" rtlCol="0" anchor="ctr"/>
          <a:lstStyle/>
          <a:p>
            <a:pPr indent="0" marL="0">
              <a:buNone/>
            </a:pPr>
            <a:r>
              <a:rPr lang="en-US" sz="1500" b="1" spc="400" kern="0" dirty="0">
                <a:solidFill>
                  <a:srgbClr val="00C896"/>
                </a:solidFill>
                <a:latin typeface="Calibri" pitchFamily="34" charset="0"/>
                <a:ea typeface="Calibri" pitchFamily="34" charset="-122"/>
                <a:cs typeface="Calibri" pitchFamily="34" charset="-120"/>
              </a:rPr>
              <a:t>PART ONE</a:t>
            </a:r>
            <a:endParaRPr lang="en-US" sz="1500" dirty="0"/>
          </a:p>
        </p:txBody>
      </p:sp>
      <p:sp>
        <p:nvSpPr>
          <p:cNvPr id="4" name="Text 2"/>
          <p:cNvSpPr/>
          <p:nvPr/>
        </p:nvSpPr>
        <p:spPr>
          <a:xfrm>
            <a:off x="713232" y="2880360"/>
            <a:ext cx="8229600" cy="118872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C Basics</a:t>
            </a:r>
            <a:endParaRPr lang="en-US" sz="5200" dirty="0"/>
          </a:p>
        </p:txBody>
      </p:sp>
      <p:sp>
        <p:nvSpPr>
          <p:cNvPr id="5" name="Text 3"/>
          <p:cNvSpPr/>
          <p:nvPr/>
        </p:nvSpPr>
        <p:spPr>
          <a:xfrm>
            <a:off x="749808" y="3931920"/>
            <a:ext cx="7315200" cy="548640"/>
          </a:xfrm>
          <a:prstGeom prst="rect">
            <a:avLst/>
          </a:prstGeom>
          <a:noFill/>
          <a:ln/>
        </p:spPr>
        <p:txBody>
          <a:bodyPr wrap="square" rtlCol="0" anchor="ctr"/>
          <a:lstStyle/>
          <a:p>
            <a:pPr indent="0" marL="0">
              <a:buNone/>
            </a:pPr>
            <a:r>
              <a:rPr lang="en-US" sz="1500" i="1" dirty="0">
                <a:solidFill>
                  <a:srgbClr val="AFC3D6"/>
                </a:solidFill>
                <a:latin typeface="Calibri" pitchFamily="34" charset="0"/>
                <a:ea typeface="Calibri" pitchFamily="34" charset="-122"/>
                <a:cs typeface="Calibri" pitchFamily="34" charset="-120"/>
              </a:rPr>
              <a:t>A quick refresher before we start breaking things</a:t>
            </a:r>
            <a:endParaRPr lang="en-US" sz="1500" dirty="0"/>
          </a:p>
        </p:txBody>
      </p:sp>
      <p:sp>
        <p:nvSpPr>
          <p:cNvPr id="6" name="Shape 4"/>
          <p:cNvSpPr/>
          <p:nvPr/>
        </p:nvSpPr>
        <p:spPr>
          <a:xfrm>
            <a:off x="749808" y="1554480"/>
            <a:ext cx="548640" cy="548640"/>
          </a:xfrm>
          <a:prstGeom prst="ellipse">
            <a:avLst/>
          </a:prstGeom>
          <a:solidFill>
            <a:srgbClr val="5C6BC0"/>
          </a:solidFill>
          <a:ln/>
        </p:spPr>
      </p:sp>
      <p:sp>
        <p:nvSpPr>
          <p:cNvPr id="7" name="Text 5"/>
          <p:cNvSpPr/>
          <p:nvPr/>
        </p:nvSpPr>
        <p:spPr>
          <a:xfrm>
            <a:off x="749808" y="1554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What Is C?</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A low-level, compiled language that trusts the programmer completely</a:t>
            </a:r>
            <a:endParaRPr lang="en-US" sz="1250" dirty="0"/>
          </a:p>
        </p:txBody>
      </p:sp>
      <p:sp>
        <p:nvSpPr>
          <p:cNvPr id="4" name="Shape 2"/>
          <p:cNvSpPr/>
          <p:nvPr/>
        </p:nvSpPr>
        <p:spPr>
          <a:xfrm>
            <a:off x="548640" y="1463040"/>
            <a:ext cx="6492240" cy="4709160"/>
          </a:xfrm>
          <a:prstGeom prst="roundRect">
            <a:avLst>
              <a:gd name="adj" fmla="val 1553"/>
            </a:avLst>
          </a:prstGeom>
          <a:solidFill>
            <a:srgbClr val="FFFFFF"/>
          </a:solidFill>
          <a:ln/>
          <a:effectLst>
            <a:outerShdw sx="100000" sy="100000" kx="0" ky="0" algn="bl" rotWithShape="0" blurRad="101600" dist="38100" dir="5400000">
              <a:srgbClr val="1B2A41">
                <a:alpha val="15000"/>
              </a:srgbClr>
            </a:outerShdw>
          </a:effectLst>
        </p:spPr>
      </p:sp>
      <p:sp>
        <p:nvSpPr>
          <p:cNvPr id="5" name="Shape 3"/>
          <p:cNvSpPr/>
          <p:nvPr/>
        </p:nvSpPr>
        <p:spPr>
          <a:xfrm>
            <a:off x="868680" y="1746504"/>
            <a:ext cx="109728" cy="109728"/>
          </a:xfrm>
          <a:prstGeom prst="ellipse">
            <a:avLst/>
          </a:prstGeom>
          <a:solidFill>
            <a:srgbClr val="5C6BC0"/>
          </a:solidFill>
          <a:ln/>
        </p:spPr>
      </p:sp>
      <p:sp>
        <p:nvSpPr>
          <p:cNvPr id="6" name="Text 4"/>
          <p:cNvSpPr/>
          <p:nvPr/>
        </p:nvSpPr>
        <p:spPr>
          <a:xfrm>
            <a:off x="1143000" y="1618488"/>
            <a:ext cx="5715000" cy="548640"/>
          </a:xfrm>
          <a:prstGeom prst="rect">
            <a:avLst/>
          </a:prstGeom>
          <a:noFill/>
          <a:ln/>
        </p:spPr>
        <p:txBody>
          <a:bodyPr wrap="square" rtlCol="0" anchor="ctr"/>
          <a:lstStyle/>
          <a:p>
            <a:pPr indent="0" marL="0">
              <a:lnSpc>
                <a:spcPct val="115000"/>
              </a:lnSpc>
              <a:buNone/>
            </a:pPr>
            <a:r>
              <a:rPr lang="en-US" sz="1250" b="1" dirty="0">
                <a:solidFill>
                  <a:srgbClr val="13202B"/>
                </a:solidFill>
                <a:latin typeface="Calibri" pitchFamily="34" charset="0"/>
                <a:ea typeface="Calibri" pitchFamily="34" charset="-122"/>
                <a:cs typeface="Calibri" pitchFamily="34" charset="-120"/>
              </a:rPr>
              <a:t>Created 1972 by Dennis Ritchie  </a:t>
            </a:r>
            <a:pPr indent="0" marL="0">
              <a:lnSpc>
                <a:spcPct val="115000"/>
              </a:lnSpc>
              <a:buNone/>
            </a:pPr>
            <a:r>
              <a:rPr lang="en-US" sz="1250" dirty="0">
                <a:solidFill>
                  <a:srgbClr val="5A6B7A"/>
                </a:solidFill>
                <a:latin typeface="Calibri" pitchFamily="34" charset="0"/>
                <a:ea typeface="Calibri" pitchFamily="34" charset="-122"/>
                <a:cs typeface="Calibri" pitchFamily="34" charset="-120"/>
              </a:rPr>
              <a:t>Built to write UNIX itself — still the language of most operating systems.</a:t>
            </a:r>
            <a:endParaRPr lang="en-US" sz="1250" dirty="0"/>
          </a:p>
        </p:txBody>
      </p:sp>
      <p:sp>
        <p:nvSpPr>
          <p:cNvPr id="7" name="Shape 5"/>
          <p:cNvSpPr/>
          <p:nvPr/>
        </p:nvSpPr>
        <p:spPr>
          <a:xfrm>
            <a:off x="868680" y="2532888"/>
            <a:ext cx="109728" cy="109728"/>
          </a:xfrm>
          <a:prstGeom prst="ellipse">
            <a:avLst/>
          </a:prstGeom>
          <a:solidFill>
            <a:srgbClr val="5C6BC0"/>
          </a:solidFill>
          <a:ln/>
        </p:spPr>
      </p:sp>
      <p:sp>
        <p:nvSpPr>
          <p:cNvPr id="8" name="Text 6"/>
          <p:cNvSpPr/>
          <p:nvPr/>
        </p:nvSpPr>
        <p:spPr>
          <a:xfrm>
            <a:off x="1143000" y="2404872"/>
            <a:ext cx="5715000" cy="548640"/>
          </a:xfrm>
          <a:prstGeom prst="rect">
            <a:avLst/>
          </a:prstGeom>
          <a:noFill/>
          <a:ln/>
        </p:spPr>
        <p:txBody>
          <a:bodyPr wrap="square" rtlCol="0" anchor="ctr"/>
          <a:lstStyle/>
          <a:p>
            <a:pPr indent="0" marL="0">
              <a:lnSpc>
                <a:spcPct val="115000"/>
              </a:lnSpc>
              <a:buNone/>
            </a:pPr>
            <a:r>
              <a:rPr lang="en-US" sz="1250" b="1" dirty="0">
                <a:solidFill>
                  <a:srgbClr val="13202B"/>
                </a:solidFill>
                <a:latin typeface="Calibri" pitchFamily="34" charset="0"/>
                <a:ea typeface="Calibri" pitchFamily="34" charset="-122"/>
                <a:cs typeface="Calibri" pitchFamily="34" charset="-120"/>
              </a:rPr>
              <a:t>Compiled, not interpreted  </a:t>
            </a:r>
            <a:pPr indent="0" marL="0">
              <a:lnSpc>
                <a:spcPct val="115000"/>
              </a:lnSpc>
              <a:buNone/>
            </a:pPr>
            <a:r>
              <a:rPr lang="en-US" sz="1250" dirty="0">
                <a:solidFill>
                  <a:srgbClr val="5A6B7A"/>
                </a:solidFill>
                <a:latin typeface="Calibri" pitchFamily="34" charset="0"/>
                <a:ea typeface="Calibri" pitchFamily="34" charset="-122"/>
                <a:cs typeface="Calibri" pitchFamily="34" charset="-120"/>
              </a:rPr>
              <a:t>Source becomes native machine code; no runtime interpreter or safety net.</a:t>
            </a:r>
            <a:endParaRPr lang="en-US" sz="1250" dirty="0"/>
          </a:p>
        </p:txBody>
      </p:sp>
      <p:sp>
        <p:nvSpPr>
          <p:cNvPr id="9" name="Shape 7"/>
          <p:cNvSpPr/>
          <p:nvPr/>
        </p:nvSpPr>
        <p:spPr>
          <a:xfrm>
            <a:off x="868680" y="3319272"/>
            <a:ext cx="109728" cy="109728"/>
          </a:xfrm>
          <a:prstGeom prst="ellipse">
            <a:avLst/>
          </a:prstGeom>
          <a:solidFill>
            <a:srgbClr val="5C6BC0"/>
          </a:solidFill>
          <a:ln/>
        </p:spPr>
      </p:sp>
      <p:sp>
        <p:nvSpPr>
          <p:cNvPr id="10" name="Text 8"/>
          <p:cNvSpPr/>
          <p:nvPr/>
        </p:nvSpPr>
        <p:spPr>
          <a:xfrm>
            <a:off x="1143000" y="3191256"/>
            <a:ext cx="5715000" cy="548640"/>
          </a:xfrm>
          <a:prstGeom prst="rect">
            <a:avLst/>
          </a:prstGeom>
          <a:noFill/>
          <a:ln/>
        </p:spPr>
        <p:txBody>
          <a:bodyPr wrap="square" rtlCol="0" anchor="ctr"/>
          <a:lstStyle/>
          <a:p>
            <a:pPr indent="0" marL="0">
              <a:lnSpc>
                <a:spcPct val="115000"/>
              </a:lnSpc>
              <a:buNone/>
            </a:pPr>
            <a:r>
              <a:rPr lang="en-US" sz="1250" b="1" dirty="0">
                <a:solidFill>
                  <a:srgbClr val="13202B"/>
                </a:solidFill>
                <a:latin typeface="Calibri" pitchFamily="34" charset="0"/>
                <a:ea typeface="Calibri" pitchFamily="34" charset="-122"/>
                <a:cs typeface="Calibri" pitchFamily="34" charset="-120"/>
              </a:rPr>
              <a:t>Manual memory management  </a:t>
            </a:r>
            <a:pPr indent="0" marL="0">
              <a:lnSpc>
                <a:spcPct val="115000"/>
              </a:lnSpc>
              <a:buNone/>
            </a:pPr>
            <a:r>
              <a:rPr lang="en-US" sz="1250" dirty="0">
                <a:solidFill>
                  <a:srgbClr val="5A6B7A"/>
                </a:solidFill>
                <a:latin typeface="Calibri" pitchFamily="34" charset="0"/>
                <a:ea typeface="Calibri" pitchFamily="34" charset="-122"/>
                <a:cs typeface="Calibri" pitchFamily="34" charset="-120"/>
              </a:rPr>
              <a:t>You call malloc()/free() yourself — full power, and full responsibility.</a:t>
            </a:r>
            <a:endParaRPr lang="en-US" sz="1250" dirty="0"/>
          </a:p>
        </p:txBody>
      </p:sp>
      <p:sp>
        <p:nvSpPr>
          <p:cNvPr id="11" name="Shape 9"/>
          <p:cNvSpPr/>
          <p:nvPr/>
        </p:nvSpPr>
        <p:spPr>
          <a:xfrm>
            <a:off x="868680" y="4105656"/>
            <a:ext cx="109728" cy="109728"/>
          </a:xfrm>
          <a:prstGeom prst="ellipse">
            <a:avLst/>
          </a:prstGeom>
          <a:solidFill>
            <a:srgbClr val="5C6BC0"/>
          </a:solidFill>
          <a:ln/>
        </p:spPr>
      </p:sp>
      <p:sp>
        <p:nvSpPr>
          <p:cNvPr id="12" name="Text 10"/>
          <p:cNvSpPr/>
          <p:nvPr/>
        </p:nvSpPr>
        <p:spPr>
          <a:xfrm>
            <a:off x="1143000" y="3977640"/>
            <a:ext cx="5715000" cy="548640"/>
          </a:xfrm>
          <a:prstGeom prst="rect">
            <a:avLst/>
          </a:prstGeom>
          <a:noFill/>
          <a:ln/>
        </p:spPr>
        <p:txBody>
          <a:bodyPr wrap="square" rtlCol="0" anchor="ctr"/>
          <a:lstStyle/>
          <a:p>
            <a:pPr indent="0" marL="0">
              <a:lnSpc>
                <a:spcPct val="115000"/>
              </a:lnSpc>
              <a:buNone/>
            </a:pPr>
            <a:r>
              <a:rPr lang="en-US" sz="1250" b="1" dirty="0">
                <a:solidFill>
                  <a:srgbClr val="13202B"/>
                </a:solidFill>
                <a:latin typeface="Calibri" pitchFamily="34" charset="0"/>
                <a:ea typeface="Calibri" pitchFamily="34" charset="-122"/>
                <a:cs typeface="Calibri" pitchFamily="34" charset="-120"/>
              </a:rPr>
              <a:t>No bounds checking  </a:t>
            </a:r>
            <a:pPr indent="0" marL="0">
              <a:lnSpc>
                <a:spcPct val="115000"/>
              </a:lnSpc>
              <a:buNone/>
            </a:pPr>
            <a:r>
              <a:rPr lang="en-US" sz="1250" dirty="0">
                <a:solidFill>
                  <a:srgbClr val="5A6B7A"/>
                </a:solidFill>
                <a:latin typeface="Calibri" pitchFamily="34" charset="0"/>
                <a:ea typeface="Calibri" pitchFamily="34" charset="-122"/>
                <a:cs typeface="Calibri" pitchFamily="34" charset="-120"/>
              </a:rPr>
              <a:t>Arrays don't know their own length at runtime; nothing stops an out-of-range write.</a:t>
            </a:r>
            <a:endParaRPr lang="en-US" sz="1250" dirty="0"/>
          </a:p>
        </p:txBody>
      </p:sp>
      <p:sp>
        <p:nvSpPr>
          <p:cNvPr id="13" name="Shape 11"/>
          <p:cNvSpPr/>
          <p:nvPr/>
        </p:nvSpPr>
        <p:spPr>
          <a:xfrm>
            <a:off x="868680" y="4892040"/>
            <a:ext cx="109728" cy="109728"/>
          </a:xfrm>
          <a:prstGeom prst="ellipse">
            <a:avLst/>
          </a:prstGeom>
          <a:solidFill>
            <a:srgbClr val="5C6BC0"/>
          </a:solidFill>
          <a:ln/>
        </p:spPr>
      </p:sp>
      <p:sp>
        <p:nvSpPr>
          <p:cNvPr id="14" name="Text 12"/>
          <p:cNvSpPr/>
          <p:nvPr/>
        </p:nvSpPr>
        <p:spPr>
          <a:xfrm>
            <a:off x="1143000" y="4764024"/>
            <a:ext cx="5715000" cy="548640"/>
          </a:xfrm>
          <a:prstGeom prst="rect">
            <a:avLst/>
          </a:prstGeom>
          <a:noFill/>
          <a:ln/>
        </p:spPr>
        <p:txBody>
          <a:bodyPr wrap="square" rtlCol="0" anchor="ctr"/>
          <a:lstStyle/>
          <a:p>
            <a:pPr indent="0" marL="0">
              <a:lnSpc>
                <a:spcPct val="115000"/>
              </a:lnSpc>
              <a:buNone/>
            </a:pPr>
            <a:r>
              <a:rPr lang="en-US" sz="1250" b="1" dirty="0">
                <a:solidFill>
                  <a:srgbClr val="13202B"/>
                </a:solidFill>
                <a:latin typeface="Calibri" pitchFamily="34" charset="0"/>
                <a:ea typeface="Calibri" pitchFamily="34" charset="-122"/>
                <a:cs typeface="Calibri" pitchFamily="34" charset="-120"/>
              </a:rPr>
              <a:t>Statically typed &amp; near-hardware  </a:t>
            </a:r>
            <a:pPr indent="0" marL="0">
              <a:lnSpc>
                <a:spcPct val="115000"/>
              </a:lnSpc>
              <a:buNone/>
            </a:pPr>
            <a:r>
              <a:rPr lang="en-US" sz="1250" dirty="0">
                <a:solidFill>
                  <a:srgbClr val="5A6B7A"/>
                </a:solidFill>
                <a:latin typeface="Calibri" pitchFamily="34" charset="0"/>
                <a:ea typeface="Calibri" pitchFamily="34" charset="-122"/>
                <a:cs typeface="Calibri" pitchFamily="34" charset="-120"/>
              </a:rPr>
              <a:t>Every type and size is fixed at compile time; you're close to the machine.</a:t>
            </a:r>
            <a:endParaRPr lang="en-US" sz="1250" dirty="0"/>
          </a:p>
        </p:txBody>
      </p:sp>
      <p:sp>
        <p:nvSpPr>
          <p:cNvPr id="15" name="Shape 13"/>
          <p:cNvSpPr/>
          <p:nvPr/>
        </p:nvSpPr>
        <p:spPr>
          <a:xfrm>
            <a:off x="7315200" y="1463040"/>
            <a:ext cx="4297680" cy="4709160"/>
          </a:xfrm>
          <a:prstGeom prst="roundRect">
            <a:avLst>
              <a:gd name="adj" fmla="val 1702"/>
            </a:avLst>
          </a:prstGeom>
          <a:solidFill>
            <a:srgbClr val="0D1522"/>
          </a:solidFill>
          <a:ln/>
        </p:spPr>
      </p:sp>
      <p:sp>
        <p:nvSpPr>
          <p:cNvPr id="16" name="Text 14"/>
          <p:cNvSpPr/>
          <p:nvPr/>
        </p:nvSpPr>
        <p:spPr>
          <a:xfrm>
            <a:off x="7589520" y="1691640"/>
            <a:ext cx="3749040" cy="365760"/>
          </a:xfrm>
          <a:prstGeom prst="rect">
            <a:avLst/>
          </a:prstGeom>
          <a:noFill/>
          <a:ln/>
        </p:spPr>
        <p:txBody>
          <a:bodyPr wrap="square" rtlCol="0" anchor="ctr"/>
          <a:lstStyle/>
          <a:p>
            <a:pPr indent="0" marL="0">
              <a:buNone/>
            </a:pPr>
            <a:r>
              <a:rPr lang="en-US" sz="1500" b="1" dirty="0">
                <a:solidFill>
                  <a:srgbClr val="00C896"/>
                </a:solidFill>
                <a:latin typeface="Cambria" pitchFamily="34" charset="0"/>
                <a:ea typeface="Cambria" pitchFamily="34" charset="-122"/>
                <a:cs typeface="Cambria" pitchFamily="34" charset="-120"/>
              </a:rPr>
              <a:t>The core tension</a:t>
            </a:r>
            <a:endParaRPr lang="en-US" sz="1500" dirty="0"/>
          </a:p>
        </p:txBody>
      </p:sp>
      <p:sp>
        <p:nvSpPr>
          <p:cNvPr id="17" name="Text 15"/>
          <p:cNvSpPr/>
          <p:nvPr/>
        </p:nvSpPr>
        <p:spPr>
          <a:xfrm>
            <a:off x="7589520" y="2103120"/>
            <a:ext cx="3749040" cy="1188720"/>
          </a:xfrm>
          <a:prstGeom prst="rect">
            <a:avLst/>
          </a:prstGeom>
          <a:noFill/>
          <a:ln/>
        </p:spPr>
        <p:txBody>
          <a:bodyPr wrap="square" rtlCol="0" anchor="ctr"/>
          <a:lstStyle/>
          <a:p>
            <a:pPr indent="0" marL="0">
              <a:lnSpc>
                <a:spcPct val="130000"/>
              </a:lnSpc>
              <a:buNone/>
            </a:pPr>
            <a:r>
              <a:rPr lang="en-US" sz="1200" dirty="0">
                <a:solidFill>
                  <a:srgbClr val="CBDCEC"/>
                </a:solidFill>
                <a:latin typeface="Calibri" pitchFamily="34" charset="0"/>
                <a:ea typeface="Calibri" pitchFamily="34" charset="-122"/>
                <a:cs typeface="Calibri" pitchFamily="34" charset="-120"/>
              </a:rPr>
              <a:t>C gives you total control over memory — no garbage collector, no runtime checks, nothing between your code and the hardware.</a:t>
            </a:r>
            <a:endParaRPr lang="en-US" sz="1200" dirty="0"/>
          </a:p>
        </p:txBody>
      </p:sp>
      <p:sp>
        <p:nvSpPr>
          <p:cNvPr id="18" name="Text 16"/>
          <p:cNvSpPr/>
          <p:nvPr/>
        </p:nvSpPr>
        <p:spPr>
          <a:xfrm>
            <a:off x="7589520" y="3520440"/>
            <a:ext cx="3749040" cy="2286000"/>
          </a:xfrm>
          <a:prstGeom prst="rect">
            <a:avLst/>
          </a:prstGeom>
          <a:noFill/>
          <a:ln/>
        </p:spPr>
        <p:txBody>
          <a:bodyPr wrap="square" rtlCol="0" anchor="ctr"/>
          <a:lstStyle/>
          <a:p>
            <a:pPr indent="0" marL="0">
              <a:lnSpc>
                <a:spcPct val="130000"/>
              </a:lnSpc>
              <a:buNone/>
            </a:pPr>
            <a:r>
              <a:rPr lang="en-US" sz="1200" i="1" dirty="0">
                <a:solidFill>
                  <a:srgbClr val="CBDCEC"/>
                </a:solidFill>
                <a:latin typeface="Calibri" pitchFamily="34" charset="0"/>
                <a:ea typeface="Calibri" pitchFamily="34" charset="-122"/>
                <a:cs typeface="Calibri" pitchFamily="34" charset="-120"/>
              </a:rPr>
              <a:t>That same control is exactly what makes C the birthplace of most memory-corruption vulnerabilities — which is where the rest of this deck lives.</a:t>
            </a:r>
            <a:endParaRPr lang="en-US" sz="120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2</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C Syntax Essentials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The core building blocks of any C program</a:t>
            </a:r>
            <a:endParaRPr lang="en-US" sz="1250" dirty="0"/>
          </a:p>
        </p:txBody>
      </p:sp>
      <p:sp>
        <p:nvSpPr>
          <p:cNvPr id="4" name="Shape 2"/>
          <p:cNvSpPr/>
          <p:nvPr/>
        </p:nvSpPr>
        <p:spPr>
          <a:xfrm>
            <a:off x="548640" y="1463040"/>
            <a:ext cx="5577840" cy="4709160"/>
          </a:xfrm>
          <a:prstGeom prst="roundRect">
            <a:avLst>
              <a:gd name="adj" fmla="val 1553"/>
            </a:avLst>
          </a:prstGeom>
          <a:solidFill>
            <a:srgbClr val="0D1522"/>
          </a:solidFill>
          <a:ln/>
        </p:spPr>
      </p:sp>
      <p:sp>
        <p:nvSpPr>
          <p:cNvPr id="5" name="Text 3"/>
          <p:cNvSpPr/>
          <p:nvPr/>
        </p:nvSpPr>
        <p:spPr>
          <a:xfrm>
            <a:off x="822960" y="1691640"/>
            <a:ext cx="5120640" cy="429768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&lt;stdio.h&gt;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add(int a, int b)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a + b;</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int x = 5;</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int total = add(x, 10);</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if (total &gt; 10)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printf("big: %d\n", total);</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else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printf("small: %d\n", total);</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for (int i = 0; i &lt; 3; i++)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printf("i = %d\n", i);</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400800" y="1463040"/>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7" name="Text 5"/>
          <p:cNvSpPr/>
          <p:nvPr/>
        </p:nvSpPr>
        <p:spPr>
          <a:xfrm>
            <a:off x="6629400" y="1517904"/>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Declarations</a:t>
            </a:r>
            <a:endParaRPr lang="en-US" sz="1200" dirty="0"/>
          </a:p>
        </p:txBody>
      </p:sp>
      <p:sp>
        <p:nvSpPr>
          <p:cNvPr id="8" name="Text 6"/>
          <p:cNvSpPr/>
          <p:nvPr/>
        </p:nvSpPr>
        <p:spPr>
          <a:xfrm>
            <a:off x="8366760" y="1517904"/>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int x = 5;  —  type comes before the name</a:t>
            </a:r>
            <a:endParaRPr lang="en-US" sz="980" dirty="0"/>
          </a:p>
        </p:txBody>
      </p:sp>
      <p:sp>
        <p:nvSpPr>
          <p:cNvPr id="9" name="Shape 7"/>
          <p:cNvSpPr/>
          <p:nvPr/>
        </p:nvSpPr>
        <p:spPr>
          <a:xfrm>
            <a:off x="6400800" y="2221992"/>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0" name="Text 8"/>
          <p:cNvSpPr/>
          <p:nvPr/>
        </p:nvSpPr>
        <p:spPr>
          <a:xfrm>
            <a:off x="6629400" y="2276856"/>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Functions</a:t>
            </a:r>
            <a:endParaRPr lang="en-US" sz="1200" dirty="0"/>
          </a:p>
        </p:txBody>
      </p:sp>
      <p:sp>
        <p:nvSpPr>
          <p:cNvPr id="11" name="Text 9"/>
          <p:cNvSpPr/>
          <p:nvPr/>
        </p:nvSpPr>
        <p:spPr>
          <a:xfrm>
            <a:off x="8366760" y="2276856"/>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returnType name(params) { ... }</a:t>
            </a:r>
            <a:endParaRPr lang="en-US" sz="980" dirty="0"/>
          </a:p>
        </p:txBody>
      </p:sp>
      <p:sp>
        <p:nvSpPr>
          <p:cNvPr id="12" name="Shape 10"/>
          <p:cNvSpPr/>
          <p:nvPr/>
        </p:nvSpPr>
        <p:spPr>
          <a:xfrm>
            <a:off x="6400800" y="2980944"/>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3" name="Text 11"/>
          <p:cNvSpPr/>
          <p:nvPr/>
        </p:nvSpPr>
        <p:spPr>
          <a:xfrm>
            <a:off x="6629400" y="3035808"/>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Braces = blocks</a:t>
            </a:r>
            <a:endParaRPr lang="en-US" sz="1200" dirty="0"/>
          </a:p>
        </p:txBody>
      </p:sp>
      <p:sp>
        <p:nvSpPr>
          <p:cNvPr id="14" name="Text 12"/>
          <p:cNvSpPr/>
          <p:nvPr/>
        </p:nvSpPr>
        <p:spPr>
          <a:xfrm>
            <a:off x="8366760" y="3035808"/>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 }  define scope, not indentation</a:t>
            </a:r>
            <a:endParaRPr lang="en-US" sz="980" dirty="0"/>
          </a:p>
        </p:txBody>
      </p:sp>
      <p:sp>
        <p:nvSpPr>
          <p:cNvPr id="15" name="Shape 13"/>
          <p:cNvSpPr/>
          <p:nvPr/>
        </p:nvSpPr>
        <p:spPr>
          <a:xfrm>
            <a:off x="6400800" y="3739896"/>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6" name="Text 14"/>
          <p:cNvSpPr/>
          <p:nvPr/>
        </p:nvSpPr>
        <p:spPr>
          <a:xfrm>
            <a:off x="6629400" y="3794760"/>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Conditionals</a:t>
            </a:r>
            <a:endParaRPr lang="en-US" sz="1200" dirty="0"/>
          </a:p>
        </p:txBody>
      </p:sp>
      <p:sp>
        <p:nvSpPr>
          <p:cNvPr id="17" name="Text 15"/>
          <p:cNvSpPr/>
          <p:nvPr/>
        </p:nvSpPr>
        <p:spPr>
          <a:xfrm>
            <a:off x="8366760" y="3794760"/>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if / else if / else  — branch on a condition</a:t>
            </a:r>
            <a:endParaRPr lang="en-US" sz="980" dirty="0"/>
          </a:p>
        </p:txBody>
      </p:sp>
      <p:sp>
        <p:nvSpPr>
          <p:cNvPr id="18" name="Shape 16"/>
          <p:cNvSpPr/>
          <p:nvPr/>
        </p:nvSpPr>
        <p:spPr>
          <a:xfrm>
            <a:off x="6400800" y="4498848"/>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9" name="Text 17"/>
          <p:cNvSpPr/>
          <p:nvPr/>
        </p:nvSpPr>
        <p:spPr>
          <a:xfrm>
            <a:off x="6629400" y="4553712"/>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Loops</a:t>
            </a:r>
            <a:endParaRPr lang="en-US" sz="1200" dirty="0"/>
          </a:p>
        </p:txBody>
      </p:sp>
      <p:sp>
        <p:nvSpPr>
          <p:cNvPr id="20" name="Text 18"/>
          <p:cNvSpPr/>
          <p:nvPr/>
        </p:nvSpPr>
        <p:spPr>
          <a:xfrm>
            <a:off x="8366760" y="4553712"/>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for(;;), while(), do-while()</a:t>
            </a:r>
            <a:endParaRPr lang="en-US" sz="980" dirty="0"/>
          </a:p>
        </p:txBody>
      </p:sp>
      <p:sp>
        <p:nvSpPr>
          <p:cNvPr id="21" name="Shape 19"/>
          <p:cNvSpPr/>
          <p:nvPr/>
        </p:nvSpPr>
        <p:spPr>
          <a:xfrm>
            <a:off x="6400800" y="5257800"/>
            <a:ext cx="5212080"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22" name="Text 20"/>
          <p:cNvSpPr/>
          <p:nvPr/>
        </p:nvSpPr>
        <p:spPr>
          <a:xfrm>
            <a:off x="6629400" y="5312664"/>
            <a:ext cx="1828800" cy="548640"/>
          </a:xfrm>
          <a:prstGeom prst="rect">
            <a:avLst/>
          </a:prstGeom>
          <a:noFill/>
          <a:ln/>
        </p:spPr>
        <p:txBody>
          <a:bodyPr wrap="square" rtlCol="0" anchor="ctr"/>
          <a:lstStyle/>
          <a:p>
            <a:pPr indent="0" marL="0">
              <a:buNone/>
            </a:pPr>
            <a:r>
              <a:rPr lang="en-US" sz="1200" b="1" dirty="0">
                <a:solidFill>
                  <a:srgbClr val="5C6BC0"/>
                </a:solidFill>
                <a:latin typeface="Calibri" pitchFamily="34" charset="0"/>
                <a:ea typeface="Calibri" pitchFamily="34" charset="-122"/>
                <a:cs typeface="Calibri" pitchFamily="34" charset="-120"/>
              </a:rPr>
              <a:t>Semicolons required</a:t>
            </a:r>
            <a:endParaRPr lang="en-US" sz="1200" dirty="0"/>
          </a:p>
        </p:txBody>
      </p:sp>
      <p:sp>
        <p:nvSpPr>
          <p:cNvPr id="23" name="Text 21"/>
          <p:cNvSpPr/>
          <p:nvPr/>
        </p:nvSpPr>
        <p:spPr>
          <a:xfrm>
            <a:off x="8366760" y="5312664"/>
            <a:ext cx="3108960" cy="548640"/>
          </a:xfrm>
          <a:prstGeom prst="rect">
            <a:avLst/>
          </a:prstGeom>
          <a:noFill/>
          <a:ln/>
        </p:spPr>
        <p:txBody>
          <a:bodyPr wrap="square" rtlCol="0" anchor="ctr"/>
          <a:lstStyle/>
          <a:p>
            <a:pPr indent="0" marL="0">
              <a:buNone/>
            </a:pPr>
            <a:r>
              <a:rPr lang="en-US" sz="980" dirty="0">
                <a:solidFill>
                  <a:srgbClr val="5A6B7A"/>
                </a:solidFill>
                <a:latin typeface="Courier New" pitchFamily="34" charset="0"/>
                <a:ea typeface="Courier New" pitchFamily="34" charset="-122"/>
                <a:cs typeface="Courier New" pitchFamily="34" charset="-120"/>
              </a:rPr>
              <a:t>every statement ends in  ;</a:t>
            </a:r>
            <a:endParaRPr lang="en-US" sz="980" dirty="0"/>
          </a:p>
        </p:txBody>
      </p:sp>
      <p:sp>
        <p:nvSpPr>
          <p:cNvPr id="24" name="Text 2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Pointers, In Depth</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A pointer is just a variable that stores a memory address — everything else follows from that</a:t>
            </a:r>
            <a:endParaRPr lang="en-US" sz="1250" dirty="0"/>
          </a:p>
        </p:txBody>
      </p:sp>
      <p:sp>
        <p:nvSpPr>
          <p:cNvPr id="4" name="Shape 2"/>
          <p:cNvSpPr/>
          <p:nvPr/>
        </p:nvSpPr>
        <p:spPr>
          <a:xfrm>
            <a:off x="548640" y="1463040"/>
            <a:ext cx="5486400" cy="4709160"/>
          </a:xfrm>
          <a:prstGeom prst="roundRect">
            <a:avLst>
              <a:gd name="adj" fmla="val 1553"/>
            </a:avLst>
          </a:prstGeom>
          <a:solidFill>
            <a:srgbClr val="0D1522"/>
          </a:solidFill>
          <a:ln/>
        </p:spPr>
      </p:sp>
      <p:sp>
        <p:nvSpPr>
          <p:cNvPr id="5" name="Text 3"/>
          <p:cNvSpPr/>
          <p:nvPr/>
        </p:nvSpPr>
        <p:spPr>
          <a:xfrm>
            <a:off x="822960" y="1691640"/>
            <a:ext cx="5120640" cy="4297680"/>
          </a:xfrm>
          <a:prstGeom prst="rect">
            <a:avLst/>
          </a:prstGeom>
          <a:noFill/>
          <a:ln/>
        </p:spPr>
        <p:txBody>
          <a:bodyPr wrap="square" rtlCol="0" anchor="t"/>
          <a:lstStyle/>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int x = 42;</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int *p = &amp;x;      // p holds x's address</a:t>
            </a:r>
            <a:endParaRPr lang="en-US" sz="1050" dirty="0"/>
          </a:p>
          <a:p>
            <a:pPr indent="0" marL="0">
              <a:lnSpc>
                <a:spcPct val="116000"/>
              </a:lnSpc>
              <a:buNone/>
            </a:pP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printf("%d\n", x);          // 42</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printf("%p\n", (void*)p);   // e.g. 0x7ffcf...</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printf("%d\n", *p);         // 42 (dereferenced)</a:t>
            </a:r>
            <a:endParaRPr lang="en-US" sz="1050" dirty="0"/>
          </a:p>
          <a:p>
            <a:pPr indent="0" marL="0">
              <a:lnSpc>
                <a:spcPct val="116000"/>
              </a:lnSpc>
              <a:buNone/>
            </a:pP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 = 100;                    // writes through p</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printf("%d\n", x);          // 100 — x changed!</a:t>
            </a:r>
            <a:endParaRPr lang="en-US" sz="1050" dirty="0"/>
          </a:p>
          <a:p>
            <a:pPr indent="0" marL="0">
              <a:lnSpc>
                <a:spcPct val="116000"/>
              </a:lnSpc>
              <a:buNone/>
            </a:pP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int arr[3] = {1, 2, 3};</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int *a = arr;      // array decays to pointer</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printf("%d\n", *(a + 1));   // 2 (pointer arithmetic)</a:t>
            </a:r>
            <a:endParaRPr lang="en-US" sz="1050" dirty="0"/>
          </a:p>
          <a:p>
            <a:pPr indent="0" marL="0">
              <a:lnSpc>
                <a:spcPct val="116000"/>
              </a:lnSpc>
              <a:buNone/>
            </a:pP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int **pp = &amp;p;      // pointer to a pointer</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char *np = NULL;     // points at nothing — check</a:t>
            </a:r>
            <a:endParaRPr lang="en-US" sz="1050" dirty="0"/>
          </a:p>
          <a:p>
            <a:pPr indent="0" marL="0">
              <a:lnSpc>
                <a:spcPct val="116000"/>
              </a:lnSpc>
              <a:buNone/>
            </a:pPr>
            <a:r>
              <a:rPr lang="en-US" sz="1050" dirty="0">
                <a:solidFill>
                  <a:srgbClr val="D7F5EA"/>
                </a:solidFill>
                <a:latin typeface="Courier New" pitchFamily="34" charset="0"/>
                <a:ea typeface="Courier New" pitchFamily="34" charset="-122"/>
                <a:cs typeface="Courier New" pitchFamily="34" charset="-120"/>
              </a:rPr>
              <a:t>                      // before you dereference it</a:t>
            </a:r>
            <a:endParaRPr lang="en-US" sz="1050" dirty="0"/>
          </a:p>
        </p:txBody>
      </p:sp>
      <p:sp>
        <p:nvSpPr>
          <p:cNvPr id="6" name="Shape 4"/>
          <p:cNvSpPr/>
          <p:nvPr/>
        </p:nvSpPr>
        <p:spPr>
          <a:xfrm>
            <a:off x="6355080" y="1463040"/>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7" name="Text 5"/>
          <p:cNvSpPr/>
          <p:nvPr/>
        </p:nvSpPr>
        <p:spPr>
          <a:xfrm>
            <a:off x="6537960" y="1517904"/>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&amp;x</a:t>
            </a:r>
            <a:endParaRPr lang="en-US" sz="1250" dirty="0"/>
          </a:p>
        </p:txBody>
      </p:sp>
      <p:sp>
        <p:nvSpPr>
          <p:cNvPr id="8" name="Text 6"/>
          <p:cNvSpPr/>
          <p:nvPr/>
        </p:nvSpPr>
        <p:spPr>
          <a:xfrm>
            <a:off x="7772400" y="1508760"/>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address-of</a:t>
            </a:r>
            <a:endParaRPr lang="en-US" sz="1000" dirty="0"/>
          </a:p>
        </p:txBody>
      </p:sp>
      <p:sp>
        <p:nvSpPr>
          <p:cNvPr id="9" name="Text 7"/>
          <p:cNvSpPr/>
          <p:nvPr/>
        </p:nvSpPr>
        <p:spPr>
          <a:xfrm>
            <a:off x="7772400" y="1773936"/>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"give me where x lives in memory"</a:t>
            </a:r>
            <a:endParaRPr lang="en-US" sz="920" dirty="0"/>
          </a:p>
        </p:txBody>
      </p:sp>
      <p:sp>
        <p:nvSpPr>
          <p:cNvPr id="10" name="Shape 8"/>
          <p:cNvSpPr/>
          <p:nvPr/>
        </p:nvSpPr>
        <p:spPr>
          <a:xfrm>
            <a:off x="6355080" y="2221992"/>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1" name="Text 9"/>
          <p:cNvSpPr/>
          <p:nvPr/>
        </p:nvSpPr>
        <p:spPr>
          <a:xfrm>
            <a:off x="6537960" y="2276856"/>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*p</a:t>
            </a:r>
            <a:endParaRPr lang="en-US" sz="1250" dirty="0"/>
          </a:p>
        </p:txBody>
      </p:sp>
      <p:sp>
        <p:nvSpPr>
          <p:cNvPr id="12" name="Text 10"/>
          <p:cNvSpPr/>
          <p:nvPr/>
        </p:nvSpPr>
        <p:spPr>
          <a:xfrm>
            <a:off x="7772400" y="2267712"/>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dereference</a:t>
            </a:r>
            <a:endParaRPr lang="en-US" sz="1000" dirty="0"/>
          </a:p>
        </p:txBody>
      </p:sp>
      <p:sp>
        <p:nvSpPr>
          <p:cNvPr id="13" name="Text 11"/>
          <p:cNvSpPr/>
          <p:nvPr/>
        </p:nvSpPr>
        <p:spPr>
          <a:xfrm>
            <a:off x="7772400" y="2532888"/>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"go to that address and read/write it"</a:t>
            </a:r>
            <a:endParaRPr lang="en-US" sz="920" dirty="0"/>
          </a:p>
        </p:txBody>
      </p:sp>
      <p:sp>
        <p:nvSpPr>
          <p:cNvPr id="14" name="Shape 12"/>
          <p:cNvSpPr/>
          <p:nvPr/>
        </p:nvSpPr>
        <p:spPr>
          <a:xfrm>
            <a:off x="6355080" y="2980944"/>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5" name="Text 13"/>
          <p:cNvSpPr/>
          <p:nvPr/>
        </p:nvSpPr>
        <p:spPr>
          <a:xfrm>
            <a:off x="6537960" y="3035808"/>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int *p</a:t>
            </a:r>
            <a:endParaRPr lang="en-US" sz="1250" dirty="0"/>
          </a:p>
        </p:txBody>
      </p:sp>
      <p:sp>
        <p:nvSpPr>
          <p:cNvPr id="16" name="Text 14"/>
          <p:cNvSpPr/>
          <p:nvPr/>
        </p:nvSpPr>
        <p:spPr>
          <a:xfrm>
            <a:off x="7772400" y="3026664"/>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pointer declaration</a:t>
            </a:r>
            <a:endParaRPr lang="en-US" sz="1000" dirty="0"/>
          </a:p>
        </p:txBody>
      </p:sp>
      <p:sp>
        <p:nvSpPr>
          <p:cNvPr id="17" name="Text 15"/>
          <p:cNvSpPr/>
          <p:nvPr/>
        </p:nvSpPr>
        <p:spPr>
          <a:xfrm>
            <a:off x="7772400" y="3291840"/>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p stores an address, not a value</a:t>
            </a:r>
            <a:endParaRPr lang="en-US" sz="920" dirty="0"/>
          </a:p>
        </p:txBody>
      </p:sp>
      <p:sp>
        <p:nvSpPr>
          <p:cNvPr id="18" name="Shape 16"/>
          <p:cNvSpPr/>
          <p:nvPr/>
        </p:nvSpPr>
        <p:spPr>
          <a:xfrm>
            <a:off x="6355080" y="3739896"/>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19" name="Text 17"/>
          <p:cNvSpPr/>
          <p:nvPr/>
        </p:nvSpPr>
        <p:spPr>
          <a:xfrm>
            <a:off x="6537960" y="3794760"/>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p + 1</a:t>
            </a:r>
            <a:endParaRPr lang="en-US" sz="1250" dirty="0"/>
          </a:p>
        </p:txBody>
      </p:sp>
      <p:sp>
        <p:nvSpPr>
          <p:cNvPr id="20" name="Text 18"/>
          <p:cNvSpPr/>
          <p:nvPr/>
        </p:nvSpPr>
        <p:spPr>
          <a:xfrm>
            <a:off x="7772400" y="3785616"/>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pointer arithmetic</a:t>
            </a:r>
            <a:endParaRPr lang="en-US" sz="1000" dirty="0"/>
          </a:p>
        </p:txBody>
      </p:sp>
      <p:sp>
        <p:nvSpPr>
          <p:cNvPr id="21" name="Text 19"/>
          <p:cNvSpPr/>
          <p:nvPr/>
        </p:nvSpPr>
        <p:spPr>
          <a:xfrm>
            <a:off x="7772400" y="4050792"/>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moves by sizeof(type), not by 1 byte</a:t>
            </a:r>
            <a:endParaRPr lang="en-US" sz="920" dirty="0"/>
          </a:p>
        </p:txBody>
      </p:sp>
      <p:sp>
        <p:nvSpPr>
          <p:cNvPr id="22" name="Shape 20"/>
          <p:cNvSpPr/>
          <p:nvPr/>
        </p:nvSpPr>
        <p:spPr>
          <a:xfrm>
            <a:off x="6355080" y="4498848"/>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23" name="Text 21"/>
          <p:cNvSpPr/>
          <p:nvPr/>
        </p:nvSpPr>
        <p:spPr>
          <a:xfrm>
            <a:off x="6537960" y="4553712"/>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arr[i]</a:t>
            </a:r>
            <a:endParaRPr lang="en-US" sz="1250" dirty="0"/>
          </a:p>
        </p:txBody>
      </p:sp>
      <p:sp>
        <p:nvSpPr>
          <p:cNvPr id="24" name="Text 22"/>
          <p:cNvSpPr/>
          <p:nvPr/>
        </p:nvSpPr>
        <p:spPr>
          <a:xfrm>
            <a:off x="7772400" y="4544568"/>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sugar for</a:t>
            </a:r>
            <a:endParaRPr lang="en-US" sz="1000" dirty="0"/>
          </a:p>
        </p:txBody>
      </p:sp>
      <p:sp>
        <p:nvSpPr>
          <p:cNvPr id="25" name="Text 23"/>
          <p:cNvSpPr/>
          <p:nvPr/>
        </p:nvSpPr>
        <p:spPr>
          <a:xfrm>
            <a:off x="7772400" y="4809744"/>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*(arr + i) — arrays and pointers are close cousins</a:t>
            </a:r>
            <a:endParaRPr lang="en-US" sz="920" dirty="0"/>
          </a:p>
        </p:txBody>
      </p:sp>
      <p:sp>
        <p:nvSpPr>
          <p:cNvPr id="26" name="Shape 24"/>
          <p:cNvSpPr/>
          <p:nvPr/>
        </p:nvSpPr>
        <p:spPr>
          <a:xfrm>
            <a:off x="6355080" y="5257800"/>
            <a:ext cx="5285232" cy="658368"/>
          </a:xfrm>
          <a:prstGeom prst="roundRect">
            <a:avLst>
              <a:gd name="adj" fmla="val 8333"/>
            </a:avLst>
          </a:prstGeom>
          <a:solidFill>
            <a:srgbClr val="FFFFFF"/>
          </a:solidFill>
          <a:ln/>
          <a:effectLst>
            <a:outerShdw sx="100000" sy="100000" kx="0" ky="0" algn="bl" rotWithShape="0" blurRad="63500" dist="25400" dir="5400000">
              <a:srgbClr val="1B2A41">
                <a:alpha val="12000"/>
              </a:srgbClr>
            </a:outerShdw>
          </a:effectLst>
        </p:spPr>
      </p:sp>
      <p:sp>
        <p:nvSpPr>
          <p:cNvPr id="27" name="Text 25"/>
          <p:cNvSpPr/>
          <p:nvPr/>
        </p:nvSpPr>
        <p:spPr>
          <a:xfrm>
            <a:off x="6537960" y="5312664"/>
            <a:ext cx="1188720" cy="548640"/>
          </a:xfrm>
          <a:prstGeom prst="rect">
            <a:avLst/>
          </a:prstGeom>
          <a:noFill/>
          <a:ln/>
        </p:spPr>
        <p:txBody>
          <a:bodyPr wrap="square" rtlCol="0" anchor="ctr"/>
          <a:lstStyle/>
          <a:p>
            <a:pPr indent="0" marL="0">
              <a:buNone/>
            </a:pPr>
            <a:r>
              <a:rPr lang="en-US" sz="1250" b="1" dirty="0">
                <a:solidFill>
                  <a:srgbClr val="5C6BC0"/>
                </a:solidFill>
                <a:latin typeface="Courier New" pitchFamily="34" charset="0"/>
                <a:ea typeface="Courier New" pitchFamily="34" charset="-122"/>
                <a:cs typeface="Courier New" pitchFamily="34" charset="-120"/>
              </a:rPr>
              <a:t>NULL</a:t>
            </a:r>
            <a:endParaRPr lang="en-US" sz="1250" dirty="0"/>
          </a:p>
        </p:txBody>
      </p:sp>
      <p:sp>
        <p:nvSpPr>
          <p:cNvPr id="28" name="Text 26"/>
          <p:cNvSpPr/>
          <p:nvPr/>
        </p:nvSpPr>
        <p:spPr>
          <a:xfrm>
            <a:off x="7772400" y="5303520"/>
            <a:ext cx="3749040" cy="256032"/>
          </a:xfrm>
          <a:prstGeom prst="rect">
            <a:avLst/>
          </a:prstGeom>
          <a:noFill/>
          <a:ln/>
        </p:spPr>
        <p:txBody>
          <a:bodyPr wrap="square" rtlCol="0" anchor="ctr"/>
          <a:lstStyle/>
          <a:p>
            <a:pPr indent="0" marL="0">
              <a:buNone/>
            </a:pPr>
            <a:r>
              <a:rPr lang="en-US" sz="1000" b="1" dirty="0">
                <a:solidFill>
                  <a:srgbClr val="13202B"/>
                </a:solidFill>
                <a:latin typeface="Calibri" pitchFamily="34" charset="0"/>
                <a:ea typeface="Calibri" pitchFamily="34" charset="-122"/>
                <a:cs typeface="Calibri" pitchFamily="34" charset="-120"/>
              </a:rPr>
              <a:t>the empty pointer</a:t>
            </a:r>
            <a:endParaRPr lang="en-US" sz="1000" dirty="0"/>
          </a:p>
        </p:txBody>
      </p:sp>
      <p:sp>
        <p:nvSpPr>
          <p:cNvPr id="29" name="Text 27"/>
          <p:cNvSpPr/>
          <p:nvPr/>
        </p:nvSpPr>
        <p:spPr>
          <a:xfrm>
            <a:off x="7772400" y="5568696"/>
            <a:ext cx="3749040" cy="320040"/>
          </a:xfrm>
          <a:prstGeom prst="rect">
            <a:avLst/>
          </a:prstGeom>
          <a:noFill/>
          <a:ln/>
        </p:spPr>
        <p:txBody>
          <a:bodyPr wrap="square" rtlCol="0" anchor="ctr"/>
          <a:lstStyle/>
          <a:p>
            <a:pPr indent="0" marL="0">
              <a:buNone/>
            </a:pPr>
            <a:r>
              <a:rPr lang="en-US" sz="920" i="1" dirty="0">
                <a:solidFill>
                  <a:srgbClr val="5A6B7A"/>
                </a:solidFill>
                <a:latin typeface="Calibri" pitchFamily="34" charset="0"/>
                <a:ea typeface="Calibri" pitchFamily="34" charset="-122"/>
                <a:cs typeface="Calibri" pitchFamily="34" charset="-120"/>
              </a:rPr>
              <a:t>always check before dereferencing — or crash</a:t>
            </a:r>
            <a:endParaRPr lang="en-US" sz="920" dirty="0"/>
          </a:p>
        </p:txBody>
      </p:sp>
      <p:sp>
        <p:nvSpPr>
          <p:cNvPr id="30" name="Text 2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Dynamic Memory: malloc() vs. calloc()</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Both hand you heap memory — they differ in what that memory contains and how you ask for it</a:t>
            </a:r>
            <a:endParaRPr lang="en-US" sz="1250" dirty="0"/>
          </a:p>
        </p:txBody>
      </p:sp>
      <p:sp>
        <p:nvSpPr>
          <p:cNvPr id="4" name="Shape 2"/>
          <p:cNvSpPr/>
          <p:nvPr/>
        </p:nvSpPr>
        <p:spPr>
          <a:xfrm>
            <a:off x="548640" y="1463040"/>
            <a:ext cx="5486400" cy="3246120"/>
          </a:xfrm>
          <a:prstGeom prst="roundRect">
            <a:avLst>
              <a:gd name="adj" fmla="val 2254"/>
            </a:avLst>
          </a:prstGeom>
          <a:solidFill>
            <a:srgbClr val="0D1522"/>
          </a:solidFill>
          <a:ln/>
        </p:spPr>
      </p:sp>
      <p:sp>
        <p:nvSpPr>
          <p:cNvPr id="5" name="Text 3"/>
          <p:cNvSpPr/>
          <p:nvPr/>
        </p:nvSpPr>
        <p:spPr>
          <a:xfrm>
            <a:off x="822960" y="1645920"/>
            <a:ext cx="5120640" cy="297180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malloc: raw, UNINITIALIZED memory</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*a = malloc(5 * sizeof(int));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a[0..4] contain garbage values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whatever was left in that memory</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calloc: zero-initialized memory</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*b = calloc(5, sizeof(int));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b[0..4] are guaranteed to be 0</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if (a == NULL || b == NULL)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both can fail — always check</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free(a);</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free(b);</a:t>
            </a:r>
            <a:endParaRPr lang="en-US" sz="1100" dirty="0"/>
          </a:p>
        </p:txBody>
      </p:sp>
      <p:sp>
        <p:nvSpPr>
          <p:cNvPr id="6" name="Shape 4"/>
          <p:cNvSpPr/>
          <p:nvPr/>
        </p:nvSpPr>
        <p:spPr>
          <a:xfrm>
            <a:off x="548640" y="4846320"/>
            <a:ext cx="5486400" cy="1280160"/>
          </a:xfrm>
          <a:prstGeom prst="roundRect">
            <a:avLst>
              <a:gd name="adj" fmla="val 5714"/>
            </a:avLst>
          </a:prstGeom>
          <a:solidFill>
            <a:srgbClr val="E9EEF3"/>
          </a:solidFill>
          <a:ln/>
        </p:spPr>
      </p:sp>
      <p:sp>
        <p:nvSpPr>
          <p:cNvPr id="7" name="Text 5"/>
          <p:cNvSpPr/>
          <p:nvPr/>
        </p:nvSpPr>
        <p:spPr>
          <a:xfrm>
            <a:off x="777240" y="4956048"/>
            <a:ext cx="5029200" cy="27432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Why it matters for security</a:t>
            </a:r>
            <a:endParaRPr lang="en-US" sz="1150" dirty="0"/>
          </a:p>
        </p:txBody>
      </p:sp>
      <p:sp>
        <p:nvSpPr>
          <p:cNvPr id="8" name="Text 6"/>
          <p:cNvSpPr/>
          <p:nvPr/>
        </p:nvSpPr>
        <p:spPr>
          <a:xfrm>
            <a:off x="777240" y="5230368"/>
            <a:ext cx="5029200" cy="82296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Reading uninitialized malloc() memory before writing to it is its own bug class — it can leak whatever sensitive data happened to be there before.</a:t>
            </a:r>
            <a:endParaRPr lang="en-US" sz="1030" dirty="0"/>
          </a:p>
        </p:txBody>
      </p:sp>
      <p:sp>
        <p:nvSpPr>
          <p:cNvPr id="9" name="Shape 7"/>
          <p:cNvSpPr/>
          <p:nvPr/>
        </p:nvSpPr>
        <p:spPr>
          <a:xfrm>
            <a:off x="6355080" y="1463040"/>
            <a:ext cx="5285232" cy="457200"/>
          </a:xfrm>
          <a:prstGeom prst="roundRect">
            <a:avLst>
              <a:gd name="adj" fmla="val 10000"/>
            </a:avLst>
          </a:prstGeom>
          <a:solidFill>
            <a:srgbClr val="0D1522"/>
          </a:solidFill>
          <a:ln/>
        </p:spPr>
      </p:sp>
      <p:sp>
        <p:nvSpPr>
          <p:cNvPr id="10" name="Text 8"/>
          <p:cNvSpPr/>
          <p:nvPr/>
        </p:nvSpPr>
        <p:spPr>
          <a:xfrm>
            <a:off x="6355080" y="1463040"/>
            <a:ext cx="1600200" cy="457200"/>
          </a:xfrm>
          <a:prstGeom prst="rect">
            <a:avLst/>
          </a:prstGeom>
          <a:noFill/>
          <a:ln/>
        </p:spPr>
        <p:txBody>
          <a:bodyPr wrap="square" rtlCol="0" anchor="ctr"/>
          <a:lstStyle/>
          <a:p>
            <a:pPr indent="0" marL="0">
              <a:buNone/>
            </a:pPr>
            <a:endParaRPr lang="en-US" dirty="0"/>
          </a:p>
        </p:txBody>
      </p:sp>
      <p:sp>
        <p:nvSpPr>
          <p:cNvPr id="11" name="Text 9"/>
          <p:cNvSpPr/>
          <p:nvPr/>
        </p:nvSpPr>
        <p:spPr>
          <a:xfrm>
            <a:off x="7909560" y="1463040"/>
            <a:ext cx="1920240" cy="457200"/>
          </a:xfrm>
          <a:prstGeom prst="rect">
            <a:avLst/>
          </a:prstGeom>
          <a:noFill/>
          <a:ln/>
        </p:spPr>
        <p:txBody>
          <a:bodyPr wrap="square" rtlCol="0" anchor="ctr"/>
          <a:lstStyle/>
          <a:p>
            <a:pPr indent="0" marL="0">
              <a:buNone/>
            </a:pPr>
            <a:r>
              <a:rPr lang="en-US" sz="1200" b="1" dirty="0">
                <a:solidFill>
                  <a:srgbClr val="F7D774"/>
                </a:solidFill>
                <a:latin typeface="Courier New" pitchFamily="34" charset="0"/>
                <a:ea typeface="Courier New" pitchFamily="34" charset="-122"/>
                <a:cs typeface="Courier New" pitchFamily="34" charset="-120"/>
              </a:rPr>
              <a:t>malloc()</a:t>
            </a:r>
            <a:endParaRPr lang="en-US" sz="1200" dirty="0"/>
          </a:p>
        </p:txBody>
      </p:sp>
      <p:sp>
        <p:nvSpPr>
          <p:cNvPr id="12" name="Text 10"/>
          <p:cNvSpPr/>
          <p:nvPr/>
        </p:nvSpPr>
        <p:spPr>
          <a:xfrm>
            <a:off x="9829800" y="1463040"/>
            <a:ext cx="2011680" cy="457200"/>
          </a:xfrm>
          <a:prstGeom prst="rect">
            <a:avLst/>
          </a:prstGeom>
          <a:noFill/>
          <a:ln/>
        </p:spPr>
        <p:txBody>
          <a:bodyPr wrap="square" rtlCol="0" anchor="ctr"/>
          <a:lstStyle/>
          <a:p>
            <a:pPr indent="0" marL="0">
              <a:buNone/>
            </a:pPr>
            <a:r>
              <a:rPr lang="en-US" sz="1200" b="1" dirty="0">
                <a:solidFill>
                  <a:srgbClr val="00C896"/>
                </a:solidFill>
                <a:latin typeface="Courier New" pitchFamily="34" charset="0"/>
                <a:ea typeface="Courier New" pitchFamily="34" charset="-122"/>
                <a:cs typeface="Courier New" pitchFamily="34" charset="-120"/>
              </a:rPr>
              <a:t>calloc()</a:t>
            </a:r>
            <a:endParaRPr lang="en-US" sz="1200" dirty="0"/>
          </a:p>
        </p:txBody>
      </p:sp>
      <p:sp>
        <p:nvSpPr>
          <p:cNvPr id="13" name="Shape 11"/>
          <p:cNvSpPr/>
          <p:nvPr/>
        </p:nvSpPr>
        <p:spPr>
          <a:xfrm>
            <a:off x="6355080" y="1920240"/>
            <a:ext cx="5285232" cy="566928"/>
          </a:xfrm>
          <a:prstGeom prst="rect">
            <a:avLst/>
          </a:prstGeom>
          <a:solidFill>
            <a:srgbClr val="FFFFFF"/>
          </a:solidFill>
          <a:ln/>
        </p:spPr>
      </p:sp>
      <p:sp>
        <p:nvSpPr>
          <p:cNvPr id="14" name="Text 12"/>
          <p:cNvSpPr/>
          <p:nvPr/>
        </p:nvSpPr>
        <p:spPr>
          <a:xfrm>
            <a:off x="6492240" y="1920240"/>
            <a:ext cx="1508760" cy="566928"/>
          </a:xfrm>
          <a:prstGeom prst="rect">
            <a:avLst/>
          </a:prstGeom>
          <a:noFill/>
          <a:ln/>
        </p:spPr>
        <p:txBody>
          <a:bodyPr wrap="square" rtlCol="0" anchor="ctr"/>
          <a:lstStyle/>
          <a:p>
            <a:pPr indent="0" marL="0">
              <a:buNone/>
            </a:pPr>
            <a:r>
              <a:rPr lang="en-US" sz="950" b="1" dirty="0">
                <a:solidFill>
                  <a:srgbClr val="13202B"/>
                </a:solidFill>
                <a:latin typeface="Calibri" pitchFamily="34" charset="0"/>
                <a:ea typeface="Calibri" pitchFamily="34" charset="-122"/>
                <a:cs typeface="Calibri" pitchFamily="34" charset="-120"/>
              </a:rPr>
              <a:t>Signature</a:t>
            </a:r>
            <a:endParaRPr lang="en-US" sz="950" dirty="0"/>
          </a:p>
        </p:txBody>
      </p:sp>
      <p:sp>
        <p:nvSpPr>
          <p:cNvPr id="15" name="Text 13"/>
          <p:cNvSpPr/>
          <p:nvPr/>
        </p:nvSpPr>
        <p:spPr>
          <a:xfrm>
            <a:off x="7909560" y="1920240"/>
            <a:ext cx="224028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malloc(size_t size)</a:t>
            </a:r>
            <a:endParaRPr lang="en-US" sz="880" dirty="0"/>
          </a:p>
        </p:txBody>
      </p:sp>
      <p:sp>
        <p:nvSpPr>
          <p:cNvPr id="16" name="Text 14"/>
          <p:cNvSpPr/>
          <p:nvPr/>
        </p:nvSpPr>
        <p:spPr>
          <a:xfrm>
            <a:off x="10149840" y="1920240"/>
            <a:ext cx="196596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calloc(size_t n, size_t size)</a:t>
            </a:r>
            <a:endParaRPr lang="en-US" sz="880" dirty="0"/>
          </a:p>
        </p:txBody>
      </p:sp>
      <p:sp>
        <p:nvSpPr>
          <p:cNvPr id="17" name="Shape 15"/>
          <p:cNvSpPr/>
          <p:nvPr/>
        </p:nvSpPr>
        <p:spPr>
          <a:xfrm>
            <a:off x="6355080" y="2487168"/>
            <a:ext cx="5285232" cy="566928"/>
          </a:xfrm>
          <a:prstGeom prst="rect">
            <a:avLst/>
          </a:prstGeom>
          <a:solidFill>
            <a:srgbClr val="E9EEF3"/>
          </a:solidFill>
          <a:ln/>
        </p:spPr>
      </p:sp>
      <p:sp>
        <p:nvSpPr>
          <p:cNvPr id="18" name="Text 16"/>
          <p:cNvSpPr/>
          <p:nvPr/>
        </p:nvSpPr>
        <p:spPr>
          <a:xfrm>
            <a:off x="6492240" y="2487168"/>
            <a:ext cx="1508760" cy="566928"/>
          </a:xfrm>
          <a:prstGeom prst="rect">
            <a:avLst/>
          </a:prstGeom>
          <a:noFill/>
          <a:ln/>
        </p:spPr>
        <p:txBody>
          <a:bodyPr wrap="square" rtlCol="0" anchor="ctr"/>
          <a:lstStyle/>
          <a:p>
            <a:pPr indent="0" marL="0">
              <a:buNone/>
            </a:pPr>
            <a:r>
              <a:rPr lang="en-US" sz="950" b="1" dirty="0">
                <a:solidFill>
                  <a:srgbClr val="13202B"/>
                </a:solidFill>
                <a:latin typeface="Calibri" pitchFamily="34" charset="0"/>
                <a:ea typeface="Calibri" pitchFamily="34" charset="-122"/>
                <a:cs typeface="Calibri" pitchFamily="34" charset="-120"/>
              </a:rPr>
              <a:t>Initialization</a:t>
            </a:r>
            <a:endParaRPr lang="en-US" sz="950" dirty="0"/>
          </a:p>
        </p:txBody>
      </p:sp>
      <p:sp>
        <p:nvSpPr>
          <p:cNvPr id="19" name="Text 17"/>
          <p:cNvSpPr/>
          <p:nvPr/>
        </p:nvSpPr>
        <p:spPr>
          <a:xfrm>
            <a:off x="7909560" y="2487168"/>
            <a:ext cx="224028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Uninitialized — contains garbage</a:t>
            </a:r>
            <a:endParaRPr lang="en-US" sz="880" dirty="0"/>
          </a:p>
        </p:txBody>
      </p:sp>
      <p:sp>
        <p:nvSpPr>
          <p:cNvPr id="20" name="Text 18"/>
          <p:cNvSpPr/>
          <p:nvPr/>
        </p:nvSpPr>
        <p:spPr>
          <a:xfrm>
            <a:off x="10149840" y="2487168"/>
            <a:ext cx="196596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Zero-initialized — every byte is 0</a:t>
            </a:r>
            <a:endParaRPr lang="en-US" sz="880" dirty="0"/>
          </a:p>
        </p:txBody>
      </p:sp>
      <p:sp>
        <p:nvSpPr>
          <p:cNvPr id="21" name="Shape 19"/>
          <p:cNvSpPr/>
          <p:nvPr/>
        </p:nvSpPr>
        <p:spPr>
          <a:xfrm>
            <a:off x="6355080" y="3054096"/>
            <a:ext cx="5285232" cy="566928"/>
          </a:xfrm>
          <a:prstGeom prst="rect">
            <a:avLst/>
          </a:prstGeom>
          <a:solidFill>
            <a:srgbClr val="FFFFFF"/>
          </a:solidFill>
          <a:ln/>
        </p:spPr>
      </p:sp>
      <p:sp>
        <p:nvSpPr>
          <p:cNvPr id="22" name="Text 20"/>
          <p:cNvSpPr/>
          <p:nvPr/>
        </p:nvSpPr>
        <p:spPr>
          <a:xfrm>
            <a:off x="6492240" y="3054096"/>
            <a:ext cx="1508760" cy="566928"/>
          </a:xfrm>
          <a:prstGeom prst="rect">
            <a:avLst/>
          </a:prstGeom>
          <a:noFill/>
          <a:ln/>
        </p:spPr>
        <p:txBody>
          <a:bodyPr wrap="square" rtlCol="0" anchor="ctr"/>
          <a:lstStyle/>
          <a:p>
            <a:pPr indent="0" marL="0">
              <a:buNone/>
            </a:pPr>
            <a:r>
              <a:rPr lang="en-US" sz="950" b="1" dirty="0">
                <a:solidFill>
                  <a:srgbClr val="13202B"/>
                </a:solidFill>
                <a:latin typeface="Calibri" pitchFamily="34" charset="0"/>
                <a:ea typeface="Calibri" pitchFamily="34" charset="-122"/>
                <a:cs typeface="Calibri" pitchFamily="34" charset="-120"/>
              </a:rPr>
              <a:t>Arguments</a:t>
            </a:r>
            <a:endParaRPr lang="en-US" sz="950" dirty="0"/>
          </a:p>
        </p:txBody>
      </p:sp>
      <p:sp>
        <p:nvSpPr>
          <p:cNvPr id="23" name="Text 21"/>
          <p:cNvSpPr/>
          <p:nvPr/>
        </p:nvSpPr>
        <p:spPr>
          <a:xfrm>
            <a:off x="7909560" y="3054096"/>
            <a:ext cx="224028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Total byte count, one argument</a:t>
            </a:r>
            <a:endParaRPr lang="en-US" sz="880" dirty="0"/>
          </a:p>
        </p:txBody>
      </p:sp>
      <p:sp>
        <p:nvSpPr>
          <p:cNvPr id="24" name="Text 22"/>
          <p:cNvSpPr/>
          <p:nvPr/>
        </p:nvSpPr>
        <p:spPr>
          <a:xfrm>
            <a:off x="10149840" y="3054096"/>
            <a:ext cx="196596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Element count × element size, two arguments</a:t>
            </a:r>
            <a:endParaRPr lang="en-US" sz="880" dirty="0"/>
          </a:p>
        </p:txBody>
      </p:sp>
      <p:sp>
        <p:nvSpPr>
          <p:cNvPr id="25" name="Shape 23"/>
          <p:cNvSpPr/>
          <p:nvPr/>
        </p:nvSpPr>
        <p:spPr>
          <a:xfrm>
            <a:off x="6355080" y="3621024"/>
            <a:ext cx="5285232" cy="566928"/>
          </a:xfrm>
          <a:prstGeom prst="rect">
            <a:avLst/>
          </a:prstGeom>
          <a:solidFill>
            <a:srgbClr val="E9EEF3"/>
          </a:solidFill>
          <a:ln/>
        </p:spPr>
      </p:sp>
      <p:sp>
        <p:nvSpPr>
          <p:cNvPr id="26" name="Text 24"/>
          <p:cNvSpPr/>
          <p:nvPr/>
        </p:nvSpPr>
        <p:spPr>
          <a:xfrm>
            <a:off x="6492240" y="3621024"/>
            <a:ext cx="1508760" cy="566928"/>
          </a:xfrm>
          <a:prstGeom prst="rect">
            <a:avLst/>
          </a:prstGeom>
          <a:noFill/>
          <a:ln/>
        </p:spPr>
        <p:txBody>
          <a:bodyPr wrap="square" rtlCol="0" anchor="ctr"/>
          <a:lstStyle/>
          <a:p>
            <a:pPr indent="0" marL="0">
              <a:buNone/>
            </a:pPr>
            <a:r>
              <a:rPr lang="en-US" sz="950" b="1" dirty="0">
                <a:solidFill>
                  <a:srgbClr val="13202B"/>
                </a:solidFill>
                <a:latin typeface="Calibri" pitchFamily="34" charset="0"/>
                <a:ea typeface="Calibri" pitchFamily="34" charset="-122"/>
                <a:cs typeface="Calibri" pitchFamily="34" charset="-120"/>
              </a:rPr>
              <a:t>Speed</a:t>
            </a:r>
            <a:endParaRPr lang="en-US" sz="950" dirty="0"/>
          </a:p>
        </p:txBody>
      </p:sp>
      <p:sp>
        <p:nvSpPr>
          <p:cNvPr id="27" name="Text 25"/>
          <p:cNvSpPr/>
          <p:nvPr/>
        </p:nvSpPr>
        <p:spPr>
          <a:xfrm>
            <a:off x="7909560" y="3621024"/>
            <a:ext cx="224028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Slightly faster — no zeroing step</a:t>
            </a:r>
            <a:endParaRPr lang="en-US" sz="880" dirty="0"/>
          </a:p>
        </p:txBody>
      </p:sp>
      <p:sp>
        <p:nvSpPr>
          <p:cNvPr id="28" name="Text 26"/>
          <p:cNvSpPr/>
          <p:nvPr/>
        </p:nvSpPr>
        <p:spPr>
          <a:xfrm>
            <a:off x="10149840" y="3621024"/>
            <a:ext cx="196596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Slightly slower — must zero the memory</a:t>
            </a:r>
            <a:endParaRPr lang="en-US" sz="880" dirty="0"/>
          </a:p>
        </p:txBody>
      </p:sp>
      <p:sp>
        <p:nvSpPr>
          <p:cNvPr id="29" name="Shape 27"/>
          <p:cNvSpPr/>
          <p:nvPr/>
        </p:nvSpPr>
        <p:spPr>
          <a:xfrm>
            <a:off x="6355080" y="4187952"/>
            <a:ext cx="5285232" cy="566928"/>
          </a:xfrm>
          <a:prstGeom prst="rect">
            <a:avLst/>
          </a:prstGeom>
          <a:solidFill>
            <a:srgbClr val="FFFFFF"/>
          </a:solidFill>
          <a:ln/>
        </p:spPr>
      </p:sp>
      <p:sp>
        <p:nvSpPr>
          <p:cNvPr id="30" name="Text 28"/>
          <p:cNvSpPr/>
          <p:nvPr/>
        </p:nvSpPr>
        <p:spPr>
          <a:xfrm>
            <a:off x="6492240" y="4187952"/>
            <a:ext cx="1508760" cy="566928"/>
          </a:xfrm>
          <a:prstGeom prst="rect">
            <a:avLst/>
          </a:prstGeom>
          <a:noFill/>
          <a:ln/>
        </p:spPr>
        <p:txBody>
          <a:bodyPr wrap="square" rtlCol="0" anchor="ctr"/>
          <a:lstStyle/>
          <a:p>
            <a:pPr indent="0" marL="0">
              <a:buNone/>
            </a:pPr>
            <a:r>
              <a:rPr lang="en-US" sz="950" b="1" dirty="0">
                <a:solidFill>
                  <a:srgbClr val="13202B"/>
                </a:solidFill>
                <a:latin typeface="Calibri" pitchFamily="34" charset="0"/>
                <a:ea typeface="Calibri" pitchFamily="34" charset="-122"/>
                <a:cs typeface="Calibri" pitchFamily="34" charset="-120"/>
              </a:rPr>
              <a:t>Typical use</a:t>
            </a:r>
            <a:endParaRPr lang="en-US" sz="950" dirty="0"/>
          </a:p>
        </p:txBody>
      </p:sp>
      <p:sp>
        <p:nvSpPr>
          <p:cNvPr id="31" name="Text 29"/>
          <p:cNvSpPr/>
          <p:nvPr/>
        </p:nvSpPr>
        <p:spPr>
          <a:xfrm>
            <a:off x="7909560" y="4187952"/>
            <a:ext cx="224028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Buffers you'll fill immediately</a:t>
            </a:r>
            <a:endParaRPr lang="en-US" sz="880" dirty="0"/>
          </a:p>
        </p:txBody>
      </p:sp>
      <p:sp>
        <p:nvSpPr>
          <p:cNvPr id="32" name="Text 30"/>
          <p:cNvSpPr/>
          <p:nvPr/>
        </p:nvSpPr>
        <p:spPr>
          <a:xfrm>
            <a:off x="10149840" y="4187952"/>
            <a:ext cx="1965960" cy="566928"/>
          </a:xfrm>
          <a:prstGeom prst="rect">
            <a:avLst/>
          </a:prstGeom>
          <a:noFill/>
          <a:ln/>
        </p:spPr>
        <p:txBody>
          <a:bodyPr wrap="square" rtlCol="0" anchor="ctr"/>
          <a:lstStyle/>
          <a:p>
            <a:pPr indent="0" marL="0">
              <a:lnSpc>
                <a:spcPct val="105000"/>
              </a:lnSpc>
              <a:buNone/>
            </a:pPr>
            <a:r>
              <a:rPr lang="en-US" sz="880" dirty="0">
                <a:solidFill>
                  <a:srgbClr val="5A6B7A"/>
                </a:solidFill>
                <a:latin typeface="Calibri" pitchFamily="34" charset="0"/>
                <a:ea typeface="Calibri" pitchFamily="34" charset="-122"/>
                <a:cs typeface="Calibri" pitchFamily="34" charset="-120"/>
              </a:rPr>
              <a:t>Arrays/structs where zero is a meaningful default</a:t>
            </a:r>
            <a:endParaRPr lang="en-US" sz="880" dirty="0"/>
          </a:p>
        </p:txBody>
      </p:sp>
      <p:sp>
        <p:nvSpPr>
          <p:cNvPr id="33" name="Text 31"/>
          <p:cNvSpPr/>
          <p:nvPr/>
        </p:nvSpPr>
        <p:spPr>
          <a:xfrm>
            <a:off x="6355080" y="4846320"/>
            <a:ext cx="5285232" cy="502920"/>
          </a:xfrm>
          <a:prstGeom prst="rect">
            <a:avLst/>
          </a:prstGeom>
          <a:noFill/>
          <a:ln/>
        </p:spPr>
        <p:txBody>
          <a:bodyPr wrap="square" rtlCol="0" anchor="ctr"/>
          <a:lstStyle/>
          <a:p>
            <a:pPr indent="0" marL="0">
              <a:lnSpc>
                <a:spcPct val="115000"/>
              </a:lnSpc>
              <a:buNone/>
            </a:pPr>
            <a:r>
              <a:rPr lang="en-US" sz="930" i="1" dirty="0">
                <a:solidFill>
                  <a:srgbClr val="5A6B7A"/>
                </a:solidFill>
                <a:latin typeface="Calibri" pitchFamily="34" charset="0"/>
                <a:ea typeface="Calibri" pitchFamily="34" charset="-122"/>
                <a:cs typeface="Calibri" pitchFamily="34" charset="-120"/>
              </a:rPr>
              <a:t>realloc(ptr, newSize) resizes memory from either one; free(ptr) releases memory from either one — the same rules from Part Two apply to both.</a:t>
            </a:r>
            <a:endParaRPr lang="en-US" sz="930" dirty="0"/>
          </a:p>
        </p:txBody>
      </p:sp>
      <p:sp>
        <p:nvSpPr>
          <p:cNvPr id="34" name="Text 3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The Memory Model, Briefly</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Everything that follows is about what happens when these rules get broken</a:t>
            </a:r>
            <a:endParaRPr lang="en-US" sz="1250" dirty="0"/>
          </a:p>
        </p:txBody>
      </p:sp>
      <p:sp>
        <p:nvSpPr>
          <p:cNvPr id="4" name="Shape 2"/>
          <p:cNvSpPr/>
          <p:nvPr/>
        </p:nvSpPr>
        <p:spPr>
          <a:xfrm>
            <a:off x="548640" y="1463040"/>
            <a:ext cx="5440680" cy="2834640"/>
          </a:xfrm>
          <a:prstGeom prst="roundRect">
            <a:avLst>
              <a:gd name="adj" fmla="val 2581"/>
            </a:avLst>
          </a:prstGeom>
          <a:solidFill>
            <a:srgbClr val="FFFFFF"/>
          </a:solidFill>
          <a:ln/>
          <a:effectLst>
            <a:outerShdw sx="100000" sy="100000" kx="0" ky="0" algn="bl" rotWithShape="0" blurRad="76200" dist="25400" dir="5400000">
              <a:srgbClr val="1B2A41">
                <a:alpha val="14000"/>
              </a:srgbClr>
            </a:outerShdw>
          </a:effectLst>
        </p:spPr>
      </p:sp>
      <p:sp>
        <p:nvSpPr>
          <p:cNvPr id="5" name="Text 3"/>
          <p:cNvSpPr/>
          <p:nvPr/>
        </p:nvSpPr>
        <p:spPr>
          <a:xfrm>
            <a:off x="822960" y="1645920"/>
            <a:ext cx="4572000" cy="457200"/>
          </a:xfrm>
          <a:prstGeom prst="rect">
            <a:avLst/>
          </a:prstGeom>
          <a:noFill/>
          <a:ln/>
        </p:spPr>
        <p:txBody>
          <a:bodyPr wrap="square" rtlCol="0" anchor="ctr"/>
          <a:lstStyle/>
          <a:p>
            <a:pPr indent="0" marL="0">
              <a:buNone/>
            </a:pPr>
            <a:r>
              <a:rPr lang="en-US" sz="1800" b="1" dirty="0">
                <a:solidFill>
                  <a:srgbClr val="5C6BC0"/>
                </a:solidFill>
                <a:latin typeface="Cambria" pitchFamily="34" charset="0"/>
                <a:ea typeface="Cambria" pitchFamily="34" charset="-122"/>
                <a:cs typeface="Cambria" pitchFamily="34" charset="-120"/>
              </a:rPr>
              <a:t>Stack</a:t>
            </a:r>
            <a:endParaRPr lang="en-US" sz="1800" dirty="0"/>
          </a:p>
        </p:txBody>
      </p:sp>
      <p:sp>
        <p:nvSpPr>
          <p:cNvPr id="6" name="Shape 4"/>
          <p:cNvSpPr/>
          <p:nvPr/>
        </p:nvSpPr>
        <p:spPr>
          <a:xfrm>
            <a:off x="841248" y="2249424"/>
            <a:ext cx="91440" cy="91440"/>
          </a:xfrm>
          <a:prstGeom prst="ellipse">
            <a:avLst/>
          </a:prstGeom>
          <a:solidFill>
            <a:srgbClr val="5C6BC0"/>
          </a:solidFill>
          <a:ln/>
        </p:spPr>
      </p:sp>
      <p:sp>
        <p:nvSpPr>
          <p:cNvPr id="7" name="Text 5"/>
          <p:cNvSpPr/>
          <p:nvPr/>
        </p:nvSpPr>
        <p:spPr>
          <a:xfrm>
            <a:off x="1078992" y="2103120"/>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Local variables &amp; function call frames</a:t>
            </a:r>
            <a:endParaRPr lang="en-US" sz="1200" dirty="0"/>
          </a:p>
        </p:txBody>
      </p:sp>
      <p:sp>
        <p:nvSpPr>
          <p:cNvPr id="8" name="Shape 6"/>
          <p:cNvSpPr/>
          <p:nvPr/>
        </p:nvSpPr>
        <p:spPr>
          <a:xfrm>
            <a:off x="841248" y="2907792"/>
            <a:ext cx="91440" cy="91440"/>
          </a:xfrm>
          <a:prstGeom prst="ellipse">
            <a:avLst/>
          </a:prstGeom>
          <a:solidFill>
            <a:srgbClr val="5C6BC0"/>
          </a:solidFill>
          <a:ln/>
        </p:spPr>
      </p:sp>
      <p:sp>
        <p:nvSpPr>
          <p:cNvPr id="9" name="Text 7"/>
          <p:cNvSpPr/>
          <p:nvPr/>
        </p:nvSpPr>
        <p:spPr>
          <a:xfrm>
            <a:off x="1078992" y="2761488"/>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Fast, automatic — freed when a function returns</a:t>
            </a:r>
            <a:endParaRPr lang="en-US" sz="1200" dirty="0"/>
          </a:p>
        </p:txBody>
      </p:sp>
      <p:sp>
        <p:nvSpPr>
          <p:cNvPr id="10" name="Shape 8"/>
          <p:cNvSpPr/>
          <p:nvPr/>
        </p:nvSpPr>
        <p:spPr>
          <a:xfrm>
            <a:off x="841248" y="3566160"/>
            <a:ext cx="91440" cy="91440"/>
          </a:xfrm>
          <a:prstGeom prst="ellipse">
            <a:avLst/>
          </a:prstGeom>
          <a:solidFill>
            <a:srgbClr val="5C6BC0"/>
          </a:solidFill>
          <a:ln/>
        </p:spPr>
      </p:sp>
      <p:sp>
        <p:nvSpPr>
          <p:cNvPr id="11" name="Text 9"/>
          <p:cNvSpPr/>
          <p:nvPr/>
        </p:nvSpPr>
        <p:spPr>
          <a:xfrm>
            <a:off x="1078992" y="3419856"/>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Fixed size — overflow it and you hit adjacent data</a:t>
            </a:r>
            <a:endParaRPr lang="en-US" sz="1200" dirty="0"/>
          </a:p>
        </p:txBody>
      </p:sp>
      <p:sp>
        <p:nvSpPr>
          <p:cNvPr id="12" name="Shape 10"/>
          <p:cNvSpPr/>
          <p:nvPr/>
        </p:nvSpPr>
        <p:spPr>
          <a:xfrm>
            <a:off x="6172200" y="1463040"/>
            <a:ext cx="5440680" cy="2834640"/>
          </a:xfrm>
          <a:prstGeom prst="roundRect">
            <a:avLst>
              <a:gd name="adj" fmla="val 2581"/>
            </a:avLst>
          </a:prstGeom>
          <a:solidFill>
            <a:srgbClr val="FFFFFF"/>
          </a:solidFill>
          <a:ln/>
          <a:effectLst>
            <a:outerShdw sx="100000" sy="100000" kx="0" ky="0" algn="bl" rotWithShape="0" blurRad="76200" dist="25400" dir="5400000">
              <a:srgbClr val="1B2A41">
                <a:alpha val="14000"/>
              </a:srgbClr>
            </a:outerShdw>
          </a:effectLst>
        </p:spPr>
      </p:sp>
      <p:sp>
        <p:nvSpPr>
          <p:cNvPr id="13" name="Text 11"/>
          <p:cNvSpPr/>
          <p:nvPr/>
        </p:nvSpPr>
        <p:spPr>
          <a:xfrm>
            <a:off x="6446520" y="1645920"/>
            <a:ext cx="4572000" cy="457200"/>
          </a:xfrm>
          <a:prstGeom prst="rect">
            <a:avLst/>
          </a:prstGeom>
          <a:noFill/>
          <a:ln/>
        </p:spPr>
        <p:txBody>
          <a:bodyPr wrap="square" rtlCol="0" anchor="ctr"/>
          <a:lstStyle/>
          <a:p>
            <a:pPr indent="0" marL="0">
              <a:buNone/>
            </a:pPr>
            <a:r>
              <a:rPr lang="en-US" sz="1800" b="1" dirty="0">
                <a:solidFill>
                  <a:srgbClr val="00C896"/>
                </a:solidFill>
                <a:latin typeface="Cambria" pitchFamily="34" charset="0"/>
                <a:ea typeface="Cambria" pitchFamily="34" charset="-122"/>
                <a:cs typeface="Cambria" pitchFamily="34" charset="-120"/>
              </a:rPr>
              <a:t>Heap</a:t>
            </a:r>
            <a:endParaRPr lang="en-US" sz="1800" dirty="0"/>
          </a:p>
        </p:txBody>
      </p:sp>
      <p:sp>
        <p:nvSpPr>
          <p:cNvPr id="14" name="Shape 12"/>
          <p:cNvSpPr/>
          <p:nvPr/>
        </p:nvSpPr>
        <p:spPr>
          <a:xfrm>
            <a:off x="6464808" y="2249424"/>
            <a:ext cx="91440" cy="91440"/>
          </a:xfrm>
          <a:prstGeom prst="ellipse">
            <a:avLst/>
          </a:prstGeom>
          <a:solidFill>
            <a:srgbClr val="00C896"/>
          </a:solidFill>
          <a:ln/>
        </p:spPr>
      </p:sp>
      <p:sp>
        <p:nvSpPr>
          <p:cNvPr id="15" name="Text 13"/>
          <p:cNvSpPr/>
          <p:nvPr/>
        </p:nvSpPr>
        <p:spPr>
          <a:xfrm>
            <a:off x="6702552" y="2103120"/>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Memory you explicitly request with malloc()</a:t>
            </a:r>
            <a:endParaRPr lang="en-US" sz="1200" dirty="0"/>
          </a:p>
        </p:txBody>
      </p:sp>
      <p:sp>
        <p:nvSpPr>
          <p:cNvPr id="16" name="Shape 14"/>
          <p:cNvSpPr/>
          <p:nvPr/>
        </p:nvSpPr>
        <p:spPr>
          <a:xfrm>
            <a:off x="6464808" y="2907792"/>
            <a:ext cx="91440" cy="91440"/>
          </a:xfrm>
          <a:prstGeom prst="ellipse">
            <a:avLst/>
          </a:prstGeom>
          <a:solidFill>
            <a:srgbClr val="00C896"/>
          </a:solidFill>
          <a:ln/>
        </p:spPr>
      </p:sp>
      <p:sp>
        <p:nvSpPr>
          <p:cNvPr id="17" name="Text 15"/>
          <p:cNvSpPr/>
          <p:nvPr/>
        </p:nvSpPr>
        <p:spPr>
          <a:xfrm>
            <a:off x="6702552" y="2761488"/>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Persists until you call free() yourself</a:t>
            </a:r>
            <a:endParaRPr lang="en-US" sz="1200" dirty="0"/>
          </a:p>
        </p:txBody>
      </p:sp>
      <p:sp>
        <p:nvSpPr>
          <p:cNvPr id="18" name="Shape 16"/>
          <p:cNvSpPr/>
          <p:nvPr/>
        </p:nvSpPr>
        <p:spPr>
          <a:xfrm>
            <a:off x="6464808" y="3566160"/>
            <a:ext cx="91440" cy="91440"/>
          </a:xfrm>
          <a:prstGeom prst="ellipse">
            <a:avLst/>
          </a:prstGeom>
          <a:solidFill>
            <a:srgbClr val="00C896"/>
          </a:solidFill>
          <a:ln/>
        </p:spPr>
      </p:sp>
      <p:sp>
        <p:nvSpPr>
          <p:cNvPr id="19" name="Text 17"/>
          <p:cNvSpPr/>
          <p:nvPr/>
        </p:nvSpPr>
        <p:spPr>
          <a:xfrm>
            <a:off x="6702552" y="3419856"/>
            <a:ext cx="4663440" cy="548640"/>
          </a:xfrm>
          <a:prstGeom prst="rect">
            <a:avLst/>
          </a:prstGeom>
          <a:noFill/>
          <a:ln/>
        </p:spPr>
        <p:txBody>
          <a:bodyPr wrap="square" rtlCol="0" anchor="ctr"/>
          <a:lstStyle/>
          <a:p>
            <a:pPr indent="0" marL="0">
              <a:lnSpc>
                <a:spcPct val="115000"/>
              </a:lnSpc>
              <a:buNone/>
            </a:pPr>
            <a:r>
              <a:rPr lang="en-US" sz="1200" dirty="0">
                <a:solidFill>
                  <a:srgbClr val="13202B"/>
                </a:solidFill>
                <a:latin typeface="Calibri" pitchFamily="34" charset="0"/>
                <a:ea typeface="Calibri" pitchFamily="34" charset="-122"/>
                <a:cs typeface="Calibri" pitchFamily="34" charset="-120"/>
              </a:rPr>
              <a:t>You own the full lifecycle — mistakes here are common</a:t>
            </a:r>
            <a:endParaRPr lang="en-US" sz="1200" dirty="0"/>
          </a:p>
        </p:txBody>
      </p:sp>
      <p:sp>
        <p:nvSpPr>
          <p:cNvPr id="20" name="Shape 18"/>
          <p:cNvSpPr/>
          <p:nvPr/>
        </p:nvSpPr>
        <p:spPr>
          <a:xfrm>
            <a:off x="548640" y="4526280"/>
            <a:ext cx="11064240" cy="1645920"/>
          </a:xfrm>
          <a:prstGeom prst="roundRect">
            <a:avLst>
              <a:gd name="adj" fmla="val 4444"/>
            </a:avLst>
          </a:prstGeom>
          <a:solidFill>
            <a:srgbClr val="0D1522"/>
          </a:solidFill>
          <a:ln/>
        </p:spPr>
      </p:sp>
      <p:sp>
        <p:nvSpPr>
          <p:cNvPr id="21" name="Text 19"/>
          <p:cNvSpPr/>
          <p:nvPr/>
        </p:nvSpPr>
        <p:spPr>
          <a:xfrm>
            <a:off x="822960" y="4709160"/>
            <a:ext cx="10332720" cy="365760"/>
          </a:xfrm>
          <a:prstGeom prst="rect">
            <a:avLst/>
          </a:prstGeom>
          <a:noFill/>
          <a:ln/>
        </p:spPr>
        <p:txBody>
          <a:bodyPr wrap="square" rtlCol="0" anchor="ctr"/>
          <a:lstStyle/>
          <a:p>
            <a:pPr indent="0" marL="0">
              <a:buNone/>
            </a:pPr>
            <a:r>
              <a:rPr lang="en-US" sz="1400" b="1" dirty="0">
                <a:solidFill>
                  <a:srgbClr val="C0392B"/>
                </a:solidFill>
                <a:latin typeface="Cambria" pitchFamily="34" charset="0"/>
                <a:ea typeface="Cambria" pitchFamily="34" charset="-122"/>
                <a:cs typeface="Cambria" pitchFamily="34" charset="-120"/>
              </a:rPr>
              <a:t>The rule that gets broken, over and over</a:t>
            </a:r>
            <a:endParaRPr lang="en-US" sz="1400" dirty="0"/>
          </a:p>
        </p:txBody>
      </p:sp>
      <p:sp>
        <p:nvSpPr>
          <p:cNvPr id="22" name="Text 20"/>
          <p:cNvSpPr/>
          <p:nvPr/>
        </p:nvSpPr>
        <p:spPr>
          <a:xfrm>
            <a:off x="822960" y="5074920"/>
            <a:ext cx="10332720" cy="1005840"/>
          </a:xfrm>
          <a:prstGeom prst="rect">
            <a:avLst/>
          </a:prstGeom>
          <a:noFill/>
          <a:ln/>
        </p:spPr>
        <p:txBody>
          <a:bodyPr wrap="square" rtlCol="0" anchor="ctr"/>
          <a:lstStyle/>
          <a:p>
            <a:pPr indent="0" marL="0">
              <a:lnSpc>
                <a:spcPct val="130000"/>
              </a:lnSpc>
              <a:buNone/>
            </a:pPr>
            <a:r>
              <a:rPr lang="en-US" sz="1250" dirty="0">
                <a:solidFill>
                  <a:srgbClr val="CBDCEC"/>
                </a:solidFill>
                <a:latin typeface="Calibri" pitchFamily="34" charset="0"/>
                <a:ea typeface="Calibri" pitchFamily="34" charset="-122"/>
                <a:cs typeface="Calibri" pitchFamily="34" charset="-120"/>
              </a:rPr>
              <a:t>C never asks "does this write actually fit?" or "is this memory still mine to use?" It trusts the programmer to track sizes and lifetimes correctly, every single time. Part Two is what happens when that trust breaks down.</a:t>
            </a:r>
            <a:endParaRPr lang="en-US" sz="1250" dirty="0"/>
          </a:p>
        </p:txBody>
      </p:sp>
      <p:sp>
        <p:nvSpPr>
          <p:cNvPr id="23"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6</a:t>
            </a:r>
            <a:endParaRPr lang="en-US" sz="1000" dirty="0"/>
          </a:p>
        </p:txBody>
      </p:sp>
      <p:sp>
        <p:nvSpPr>
          <p:cNvPr id="24" name="Text 22"/>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522"/>
        </a:solidFill>
      </p:bgPr>
    </p:bg>
    <p:spTree>
      <p:nvGrpSpPr>
        <p:cNvPr id="1" name=""/>
        <p:cNvGrpSpPr/>
        <p:nvPr/>
      </p:nvGrpSpPr>
      <p:grpSpPr>
        <a:xfrm>
          <a:off x="0" y="0"/>
          <a:ext cx="0" cy="0"/>
          <a:chOff x="0" y="0"/>
          <a:chExt cx="0" cy="0"/>
        </a:xfrm>
      </p:grpSpPr>
      <p:sp>
        <p:nvSpPr>
          <p:cNvPr id="2" name="Shape 0"/>
          <p:cNvSpPr/>
          <p:nvPr/>
        </p:nvSpPr>
        <p:spPr>
          <a:xfrm>
            <a:off x="8778240" y="-1371600"/>
            <a:ext cx="5486400" cy="5486400"/>
          </a:xfrm>
          <a:prstGeom prst="ellipse">
            <a:avLst/>
          </a:prstGeom>
          <a:solidFill>
            <a:srgbClr val="C0392B">
              <a:alpha val="15000"/>
            </a:srgbClr>
          </a:solidFill>
          <a:ln/>
        </p:spPr>
      </p:sp>
      <p:sp>
        <p:nvSpPr>
          <p:cNvPr id="3" name="Text 1"/>
          <p:cNvSpPr/>
          <p:nvPr/>
        </p:nvSpPr>
        <p:spPr>
          <a:xfrm>
            <a:off x="731520" y="2468880"/>
            <a:ext cx="5486400" cy="457200"/>
          </a:xfrm>
          <a:prstGeom prst="rect">
            <a:avLst/>
          </a:prstGeom>
          <a:noFill/>
          <a:ln/>
        </p:spPr>
        <p:txBody>
          <a:bodyPr wrap="square" rtlCol="0" anchor="ctr"/>
          <a:lstStyle/>
          <a:p>
            <a:pPr indent="0" marL="0">
              <a:buNone/>
            </a:pPr>
            <a:r>
              <a:rPr lang="en-US" sz="1500" b="1" spc="400" kern="0" dirty="0">
                <a:solidFill>
                  <a:srgbClr val="00C896"/>
                </a:solidFill>
                <a:latin typeface="Calibri" pitchFamily="34" charset="0"/>
                <a:ea typeface="Calibri" pitchFamily="34" charset="-122"/>
                <a:cs typeface="Calibri" pitchFamily="34" charset="-120"/>
              </a:rPr>
              <a:t>PART TWO</a:t>
            </a:r>
            <a:endParaRPr lang="en-US" sz="1500" dirty="0"/>
          </a:p>
        </p:txBody>
      </p:sp>
      <p:sp>
        <p:nvSpPr>
          <p:cNvPr id="4" name="Text 2"/>
          <p:cNvSpPr/>
          <p:nvPr/>
        </p:nvSpPr>
        <p:spPr>
          <a:xfrm>
            <a:off x="713232" y="2880360"/>
            <a:ext cx="10058400" cy="11887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Low-Level Vulnerabilities</a:t>
            </a:r>
            <a:endParaRPr lang="en-US" sz="4200" dirty="0"/>
          </a:p>
        </p:txBody>
      </p:sp>
      <p:sp>
        <p:nvSpPr>
          <p:cNvPr id="5" name="Text 3"/>
          <p:cNvSpPr/>
          <p:nvPr/>
        </p:nvSpPr>
        <p:spPr>
          <a:xfrm>
            <a:off x="749808" y="3931920"/>
            <a:ext cx="9144000" cy="548640"/>
          </a:xfrm>
          <a:prstGeom prst="rect">
            <a:avLst/>
          </a:prstGeom>
          <a:noFill/>
          <a:ln/>
        </p:spPr>
        <p:txBody>
          <a:bodyPr wrap="square" rtlCol="0" anchor="ctr"/>
          <a:lstStyle/>
          <a:p>
            <a:pPr indent="0" marL="0">
              <a:buNone/>
            </a:pPr>
            <a:r>
              <a:rPr lang="en-US" sz="1500" i="1" dirty="0">
                <a:solidFill>
                  <a:srgbClr val="AFC3D6"/>
                </a:solidFill>
                <a:latin typeface="Calibri" pitchFamily="34" charset="0"/>
                <a:ea typeface="Calibri" pitchFamily="34" charset="-122"/>
                <a:cs typeface="Calibri" pitchFamily="34" charset="-120"/>
              </a:rPr>
              <a:t>Real code, real bugs — the memory-corruption classes behind decades of CVEs</a:t>
            </a:r>
            <a:endParaRPr lang="en-US" sz="1500" dirty="0"/>
          </a:p>
        </p:txBody>
      </p:sp>
      <p:sp>
        <p:nvSpPr>
          <p:cNvPr id="6" name="Shape 4"/>
          <p:cNvSpPr/>
          <p:nvPr/>
        </p:nvSpPr>
        <p:spPr>
          <a:xfrm>
            <a:off x="749808" y="1554480"/>
            <a:ext cx="548640" cy="548640"/>
          </a:xfrm>
          <a:prstGeom prst="ellipse">
            <a:avLst/>
          </a:prstGeom>
          <a:solidFill>
            <a:srgbClr val="C0392B"/>
          </a:solidFill>
          <a:ln/>
        </p:spPr>
      </p:sp>
      <p:sp>
        <p:nvSpPr>
          <p:cNvPr id="7" name="Text 5"/>
          <p:cNvSpPr/>
          <p:nvPr/>
        </p:nvSpPr>
        <p:spPr>
          <a:xfrm>
            <a:off x="749808" y="1554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Stack Buffer Overflow</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Writing past a fixed-size local array</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overflow.c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&lt;string.h&gt;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void vulnerable(char *input)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char buffer[16];</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no length check on input!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strcpy(buffer, input);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main(int argc, char **argv)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if (argc &gt; 1)</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vulnerable(argv[1]);</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./vuln "AAAAAAAAAAAAAAAAAAAAAAAA"</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buffer holds only 16 bytes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the extra bytes spill into the</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saved return address on the stack</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buffer[16] is fixed size; strcpy() copies until a null byte, no matter how long input is.</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A long enough input overwrites the saved return address — the CPU jumps wherever the attacker wrote.</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Real-world</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This exact class of bug powered the 1988 Morris Worm, one of the first major internet incidents.</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7</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Heap Buffer Overflow</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The same idea, one level up — on malloc'd memory</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heap_overflow.c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&lt;stdlib.h&gt;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&lt;string.h&gt;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typedef struct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char name[8];</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int  is_admin;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User;</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void set_name(User *u, char *name)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no bounds check against name[8]!</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strcpy(u-&gt;name, name);</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User *u = malloc(sizeof(User));</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u-&gt;is_admin = 0;</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set_name(u, "AAAAAAAAAAAAAAAAadmin!!");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overflow from name[] can flip</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is_admin, which sits right after</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it in memory</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free(u);</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name[8] is undersized for arbitrary input; nothing separates it from is_admin in memory.</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Overflowing name[] can overwrite adjacent heap fields — here, silently flipping a permission flag.</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Why it's scarier</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Heap layout is less predictable than the stack, but attackers can often groom it into a useful shape.</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8</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Anatomy of the Stack Smash</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What memory actually looks like during the overflow.c example</a:t>
            </a:r>
            <a:endParaRPr lang="en-US" sz="1250" dirty="0"/>
          </a:p>
        </p:txBody>
      </p:sp>
      <p:sp>
        <p:nvSpPr>
          <p:cNvPr id="4" name="Shape 2"/>
          <p:cNvSpPr/>
          <p:nvPr/>
        </p:nvSpPr>
        <p:spPr>
          <a:xfrm>
            <a:off x="548640" y="1508760"/>
            <a:ext cx="6400800" cy="365760"/>
          </a:xfrm>
          <a:prstGeom prst="rect">
            <a:avLst/>
          </a:prstGeom>
          <a:solidFill>
            <a:srgbClr val="6B84A0"/>
          </a:solidFill>
          <a:ln w="19050">
            <a:solidFill>
              <a:srgbClr val="FFFFFF"/>
            </a:solidFill>
            <a:prstDash val="solid"/>
          </a:ln>
        </p:spPr>
      </p:sp>
      <p:sp>
        <p:nvSpPr>
          <p:cNvPr id="5" name="Text 3"/>
          <p:cNvSpPr/>
          <p:nvPr/>
        </p:nvSpPr>
        <p:spPr>
          <a:xfrm>
            <a:off x="731520" y="1508760"/>
            <a:ext cx="6035040" cy="365760"/>
          </a:xfrm>
          <a:prstGeom prst="rect">
            <a:avLst/>
          </a:prstGeom>
          <a:noFill/>
          <a:ln/>
        </p:spPr>
        <p:txBody>
          <a:bodyPr wrap="square" rtlCol="0" anchor="ctr"/>
          <a:lstStyle/>
          <a:p>
            <a:pPr indent="0" marL="0">
              <a:buNone/>
            </a:pPr>
            <a:r>
              <a:rPr lang="en-US" sz="1050" i="1" dirty="0">
                <a:solidFill>
                  <a:srgbClr val="5A6B7A"/>
                </a:solidFill>
                <a:latin typeface="Calibri" pitchFamily="34" charset="0"/>
                <a:ea typeface="Calibri" pitchFamily="34" charset="-122"/>
                <a:cs typeface="Calibri" pitchFamily="34" charset="-120"/>
              </a:rPr>
              <a:t>Higher addresses</a:t>
            </a:r>
            <a:endParaRPr lang="en-US" sz="1050" dirty="0"/>
          </a:p>
        </p:txBody>
      </p:sp>
      <p:sp>
        <p:nvSpPr>
          <p:cNvPr id="6" name="Shape 4"/>
          <p:cNvSpPr/>
          <p:nvPr/>
        </p:nvSpPr>
        <p:spPr>
          <a:xfrm>
            <a:off x="548640" y="1874520"/>
            <a:ext cx="6400800" cy="548640"/>
          </a:xfrm>
          <a:prstGeom prst="rect">
            <a:avLst/>
          </a:prstGeom>
          <a:solidFill>
            <a:srgbClr val="E9EEF3"/>
          </a:solidFill>
          <a:ln w="19050">
            <a:solidFill>
              <a:srgbClr val="FFFFFF"/>
            </a:solidFill>
            <a:prstDash val="solid"/>
          </a:ln>
        </p:spPr>
      </p:sp>
      <p:sp>
        <p:nvSpPr>
          <p:cNvPr id="7" name="Text 5"/>
          <p:cNvSpPr/>
          <p:nvPr/>
        </p:nvSpPr>
        <p:spPr>
          <a:xfrm>
            <a:off x="731520" y="1874520"/>
            <a:ext cx="6035040" cy="548640"/>
          </a:xfrm>
          <a:prstGeom prst="rect">
            <a:avLst/>
          </a:prstGeom>
          <a:noFill/>
          <a:ln/>
        </p:spPr>
        <p:txBody>
          <a:bodyPr wrap="square" rtlCol="0" anchor="ctr"/>
          <a:lstStyle/>
          <a:p>
            <a:pPr indent="0" marL="0">
              <a:buNone/>
            </a:pPr>
            <a:r>
              <a:rPr lang="en-US" sz="1050" i="1" dirty="0">
                <a:solidFill>
                  <a:srgbClr val="5A6B7A"/>
                </a:solidFill>
                <a:latin typeface="Calibri" pitchFamily="34" charset="0"/>
                <a:ea typeface="Calibri" pitchFamily="34" charset="-122"/>
                <a:cs typeface="Calibri" pitchFamily="34" charset="-120"/>
              </a:rPr>
              <a:t>Caller's frame (main)</a:t>
            </a:r>
            <a:endParaRPr lang="en-US" sz="1050" dirty="0"/>
          </a:p>
        </p:txBody>
      </p:sp>
      <p:sp>
        <p:nvSpPr>
          <p:cNvPr id="8" name="Shape 6"/>
          <p:cNvSpPr/>
          <p:nvPr/>
        </p:nvSpPr>
        <p:spPr>
          <a:xfrm>
            <a:off x="548640" y="2423160"/>
            <a:ext cx="6400800" cy="731520"/>
          </a:xfrm>
          <a:prstGeom prst="rect">
            <a:avLst/>
          </a:prstGeom>
          <a:solidFill>
            <a:srgbClr val="C0392B"/>
          </a:solidFill>
          <a:ln w="19050">
            <a:solidFill>
              <a:srgbClr val="FFFFFF"/>
            </a:solidFill>
            <a:prstDash val="solid"/>
          </a:ln>
        </p:spPr>
      </p:sp>
      <p:sp>
        <p:nvSpPr>
          <p:cNvPr id="9" name="Text 7"/>
          <p:cNvSpPr/>
          <p:nvPr/>
        </p:nvSpPr>
        <p:spPr>
          <a:xfrm>
            <a:off x="731520" y="2423160"/>
            <a:ext cx="6035040" cy="731520"/>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Saved return address</a:t>
            </a:r>
            <a:endParaRPr lang="en-US" sz="1250" dirty="0"/>
          </a:p>
        </p:txBody>
      </p:sp>
      <p:sp>
        <p:nvSpPr>
          <p:cNvPr id="10" name="Shape 8"/>
          <p:cNvSpPr/>
          <p:nvPr/>
        </p:nvSpPr>
        <p:spPr>
          <a:xfrm>
            <a:off x="548640" y="3154680"/>
            <a:ext cx="6400800" cy="640080"/>
          </a:xfrm>
          <a:prstGeom prst="rect">
            <a:avLst/>
          </a:prstGeom>
          <a:solidFill>
            <a:srgbClr val="D98E04"/>
          </a:solidFill>
          <a:ln w="19050">
            <a:solidFill>
              <a:srgbClr val="FFFFFF"/>
            </a:solidFill>
            <a:prstDash val="solid"/>
          </a:ln>
        </p:spPr>
      </p:sp>
      <p:sp>
        <p:nvSpPr>
          <p:cNvPr id="11" name="Text 9"/>
          <p:cNvSpPr/>
          <p:nvPr/>
        </p:nvSpPr>
        <p:spPr>
          <a:xfrm>
            <a:off x="731520" y="3154680"/>
            <a:ext cx="6035040" cy="640080"/>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Saved base pointer (RBP)</a:t>
            </a:r>
            <a:endParaRPr lang="en-US" sz="1250" dirty="0"/>
          </a:p>
        </p:txBody>
      </p:sp>
      <p:sp>
        <p:nvSpPr>
          <p:cNvPr id="12" name="Shape 10"/>
          <p:cNvSpPr/>
          <p:nvPr/>
        </p:nvSpPr>
        <p:spPr>
          <a:xfrm>
            <a:off x="548640" y="3794760"/>
            <a:ext cx="6400800" cy="731520"/>
          </a:xfrm>
          <a:prstGeom prst="rect">
            <a:avLst/>
          </a:prstGeom>
          <a:solidFill>
            <a:srgbClr val="5C6BC0"/>
          </a:solidFill>
          <a:ln w="19050">
            <a:solidFill>
              <a:srgbClr val="FFFFFF"/>
            </a:solidFill>
            <a:prstDash val="solid"/>
          </a:ln>
        </p:spPr>
      </p:sp>
      <p:sp>
        <p:nvSpPr>
          <p:cNvPr id="13" name="Text 11"/>
          <p:cNvSpPr/>
          <p:nvPr/>
        </p:nvSpPr>
        <p:spPr>
          <a:xfrm>
            <a:off x="731520" y="3794760"/>
            <a:ext cx="6035040" cy="731520"/>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char buffer[16]</a:t>
            </a:r>
            <a:endParaRPr lang="en-US" sz="1250" dirty="0"/>
          </a:p>
        </p:txBody>
      </p:sp>
      <p:sp>
        <p:nvSpPr>
          <p:cNvPr id="14" name="Shape 12"/>
          <p:cNvSpPr/>
          <p:nvPr/>
        </p:nvSpPr>
        <p:spPr>
          <a:xfrm>
            <a:off x="548640" y="4526280"/>
            <a:ext cx="6400800" cy="365760"/>
          </a:xfrm>
          <a:prstGeom prst="rect">
            <a:avLst/>
          </a:prstGeom>
          <a:solidFill>
            <a:srgbClr val="6B84A0"/>
          </a:solidFill>
          <a:ln w="19050">
            <a:solidFill>
              <a:srgbClr val="FFFFFF"/>
            </a:solidFill>
            <a:prstDash val="solid"/>
          </a:ln>
        </p:spPr>
      </p:sp>
      <p:sp>
        <p:nvSpPr>
          <p:cNvPr id="15" name="Text 13"/>
          <p:cNvSpPr/>
          <p:nvPr/>
        </p:nvSpPr>
        <p:spPr>
          <a:xfrm>
            <a:off x="731520" y="4526280"/>
            <a:ext cx="6035040" cy="365760"/>
          </a:xfrm>
          <a:prstGeom prst="rect">
            <a:avLst/>
          </a:prstGeom>
          <a:noFill/>
          <a:ln/>
        </p:spPr>
        <p:txBody>
          <a:bodyPr wrap="square" rtlCol="0" anchor="ctr"/>
          <a:lstStyle/>
          <a:p>
            <a:pPr indent="0" marL="0">
              <a:buNone/>
            </a:pPr>
            <a:r>
              <a:rPr lang="en-US" sz="1050" i="1" dirty="0">
                <a:solidFill>
                  <a:srgbClr val="5A6B7A"/>
                </a:solidFill>
                <a:latin typeface="Calibri" pitchFamily="34" charset="0"/>
                <a:ea typeface="Calibri" pitchFamily="34" charset="-122"/>
                <a:cs typeface="Calibri" pitchFamily="34" charset="-120"/>
              </a:rPr>
              <a:t>Lower addresses — stack grows downward</a:t>
            </a:r>
            <a:endParaRPr lang="en-US" sz="1050" dirty="0"/>
          </a:p>
        </p:txBody>
      </p:sp>
      <p:sp>
        <p:nvSpPr>
          <p:cNvPr id="16" name="Text 14"/>
          <p:cNvSpPr/>
          <p:nvPr/>
        </p:nvSpPr>
        <p:spPr>
          <a:xfrm>
            <a:off x="7315200" y="1554480"/>
            <a:ext cx="4297680" cy="1828800"/>
          </a:xfrm>
          <a:prstGeom prst="rect">
            <a:avLst/>
          </a:prstGeom>
          <a:noFill/>
          <a:ln/>
        </p:spPr>
        <p:txBody>
          <a:bodyPr wrap="square" rtlCol="0" anchor="ctr"/>
          <a:lstStyle/>
          <a:p>
            <a:pPr indent="0" marL="0">
              <a:lnSpc>
                <a:spcPct val="130000"/>
              </a:lnSpc>
              <a:buNone/>
            </a:pPr>
            <a:r>
              <a:rPr lang="en-US" sz="1200" dirty="0">
                <a:solidFill>
                  <a:srgbClr val="13202B"/>
                </a:solidFill>
                <a:latin typeface="Calibri" pitchFamily="34" charset="0"/>
                <a:ea typeface="Calibri" pitchFamily="34" charset="-122"/>
                <a:cs typeface="Calibri" pitchFamily="34" charset="-120"/>
              </a:rPr>
              <a:t>strcpy() writes from low to high addresses without stopping. A long input fills the buffer, then keeps going — overwriting the saved base pointer, then the return address itself.</a:t>
            </a:r>
            <a:endParaRPr lang="en-US" sz="1200" dirty="0"/>
          </a:p>
        </p:txBody>
      </p:sp>
      <p:sp>
        <p:nvSpPr>
          <p:cNvPr id="17" name="Shape 15"/>
          <p:cNvSpPr/>
          <p:nvPr/>
        </p:nvSpPr>
        <p:spPr>
          <a:xfrm>
            <a:off x="7315200" y="3566160"/>
            <a:ext cx="4297680" cy="2606040"/>
          </a:xfrm>
          <a:prstGeom prst="roundRect">
            <a:avLst>
              <a:gd name="adj" fmla="val 2807"/>
            </a:avLst>
          </a:prstGeom>
          <a:solidFill>
            <a:srgbClr val="0D1522"/>
          </a:solidFill>
          <a:ln/>
        </p:spPr>
      </p:sp>
      <p:sp>
        <p:nvSpPr>
          <p:cNvPr id="18" name="Text 16"/>
          <p:cNvSpPr/>
          <p:nvPr/>
        </p:nvSpPr>
        <p:spPr>
          <a:xfrm>
            <a:off x="7589520" y="3749040"/>
            <a:ext cx="3749040" cy="365760"/>
          </a:xfrm>
          <a:prstGeom prst="rect">
            <a:avLst/>
          </a:prstGeom>
          <a:noFill/>
          <a:ln/>
        </p:spPr>
        <p:txBody>
          <a:bodyPr wrap="square" rtlCol="0" anchor="ctr"/>
          <a:lstStyle/>
          <a:p>
            <a:pPr indent="0" marL="0">
              <a:buNone/>
            </a:pPr>
            <a:r>
              <a:rPr lang="en-US" sz="1400" b="1" dirty="0">
                <a:solidFill>
                  <a:srgbClr val="00C896"/>
                </a:solidFill>
                <a:latin typeface="Cambria" pitchFamily="34" charset="0"/>
                <a:ea typeface="Cambria" pitchFamily="34" charset="-122"/>
                <a:cs typeface="Cambria" pitchFamily="34" charset="-120"/>
              </a:rPr>
              <a:t>The exploit primitive</a:t>
            </a:r>
            <a:endParaRPr lang="en-US" sz="1400" dirty="0"/>
          </a:p>
        </p:txBody>
      </p:sp>
      <p:sp>
        <p:nvSpPr>
          <p:cNvPr id="19" name="Text 17"/>
          <p:cNvSpPr/>
          <p:nvPr/>
        </p:nvSpPr>
        <p:spPr>
          <a:xfrm>
            <a:off x="7589520" y="4160520"/>
            <a:ext cx="3749040" cy="1920240"/>
          </a:xfrm>
          <a:prstGeom prst="rect">
            <a:avLst/>
          </a:prstGeom>
          <a:noFill/>
          <a:ln/>
        </p:spPr>
        <p:txBody>
          <a:bodyPr wrap="square" rtlCol="0" anchor="ctr"/>
          <a:lstStyle/>
          <a:p>
            <a:pPr indent="0" marL="0">
              <a:lnSpc>
                <a:spcPct val="130000"/>
              </a:lnSpc>
              <a:buNone/>
            </a:pPr>
            <a:r>
              <a:rPr lang="en-US" sz="1100" dirty="0">
                <a:solidFill>
                  <a:srgbClr val="CBDCEC"/>
                </a:solidFill>
                <a:latin typeface="Calibri" pitchFamily="34" charset="0"/>
                <a:ea typeface="Calibri" pitchFamily="34" charset="-122"/>
                <a:cs typeface="Calibri" pitchFamily="34" charset="-120"/>
              </a:rPr>
              <a:t>When the function returns, the CPU jumps to whatever address now sits where the return address used to be. If that address points to attacker-supplied shellcode, execution has just been hijacked — the entire mechanism behind classic stack-smashing exploits.</a:t>
            </a:r>
            <a:endParaRPr lang="en-US" sz="1100" dirty="0"/>
          </a:p>
        </p:txBody>
      </p:sp>
      <p:sp>
        <p:nvSpPr>
          <p:cNvPr id="20"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9</a:t>
            </a:r>
            <a:endParaRPr lang="en-US" sz="1000" dirty="0"/>
          </a:p>
        </p:txBody>
      </p:sp>
      <p:sp>
        <p:nvSpPr>
          <p:cNvPr id="21" name="Text 19"/>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Use-After-Free</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Using memory after it's already been returned to the allocator</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uaf.c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&lt;stdlib.h&gt;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&lt;string.h&gt;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typedef struct { char *msg; } Session;</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Session *login(void)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Session *s = malloc(sizeof(Session));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s-&gt;msg = "authenticated";</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s;</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void logout(Session *s)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free(s);   // memory returned to allocator</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Session *s = login();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logout(s);</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BUG: s is now a dangling pointer</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printf("%s\n", s-&gt;msg);</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that memory may already have been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reallocated for something else</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free(s) releases the memory, but s still holds the old address — a dangling pointer.</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If the allocator hands that address to something else, reading/writing through s touches unrelated, attacker-influenced data.</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Real-world</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UAF bugs are a leading cause of Chrome and browser-engine CVEs, often chained into full exploits.</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10</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Double Free</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Releasing the same memory twice corrupts the allocator itself</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double_free.c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&lt;stdlib.h&gt;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char *buf = malloc(64);</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 use buf ...</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free(buf);</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some other code path also frees it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(common in error-handling paths)</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free(buf);   // BUG: freed twice</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heap metadata is now corrupted;</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the next malloc() may return a</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pointer the attacker can control</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Calling free() on the same pointer twice corrupts the allocator's internal free-list bookkeeping.</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A corrupted free-list can be leveraged into an arbitrary-write primitive on some allocators.</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Common cause</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Very often introduced by error-handling paths that free a resource the caller also frees.</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11</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Format String Vulnerability</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Passing untrusted input directly as a format string</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fmt_string.c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&lt;stdio.h&gt;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void log_message(char *user_input)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BUG: user_input used as the</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format string itself</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printf(user_input);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correct version: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printf("%s", user_input);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int main(void)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char input[100];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fgets(input, sizeof(input), stdin);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log_message(input);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return 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attacker input: "%x %x %x %x"</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-&gt; leaks stack memory as hex</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attacker input: "%n"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-&gt; writes to memory (!)</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printf(user_input) treats attacker input as format specifiers, not literal text.</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%x leaks stack memory; %n writes the number of bytes printed so far to a pointer — a write primitive.</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fix is one character</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printf("%s", user_input) — always supply your own format string.</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12</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Integer Overflow</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Arithmetic that silently wraps around its type's range</a:t>
            </a:r>
            <a:endParaRPr lang="en-US" sz="1250" dirty="0"/>
          </a:p>
        </p:txBody>
      </p:sp>
      <p:sp>
        <p:nvSpPr>
          <p:cNvPr id="4" name="Shape 2"/>
          <p:cNvSpPr/>
          <p:nvPr/>
        </p:nvSpPr>
        <p:spPr>
          <a:xfrm>
            <a:off x="548640" y="1508760"/>
            <a:ext cx="6263640" cy="4709160"/>
          </a:xfrm>
          <a:prstGeom prst="roundRect">
            <a:avLst>
              <a:gd name="adj" fmla="val 1553"/>
            </a:avLst>
          </a:prstGeom>
          <a:solidFill>
            <a:srgbClr val="0D1522"/>
          </a:solidFill>
          <a:ln/>
        </p:spPr>
      </p:sp>
      <p:sp>
        <p:nvSpPr>
          <p:cNvPr id="5" name="Text 3"/>
          <p:cNvSpPr/>
          <p:nvPr/>
        </p:nvSpPr>
        <p:spPr>
          <a:xfrm>
            <a:off x="822960" y="1645920"/>
            <a:ext cx="4572000" cy="274320"/>
          </a:xfrm>
          <a:prstGeom prst="rect">
            <a:avLst/>
          </a:prstGeom>
          <a:noFill/>
          <a:ln/>
        </p:spPr>
        <p:txBody>
          <a:bodyPr wrap="square" rtlCol="0" anchor="ctr"/>
          <a:lstStyle/>
          <a:p>
            <a:pPr indent="0" marL="0">
              <a:buNone/>
            </a:pPr>
            <a:r>
              <a:rPr lang="en-US" sz="1100" dirty="0">
                <a:solidFill>
                  <a:srgbClr val="6B84A0"/>
                </a:solidFill>
                <a:latin typeface="Courier New" pitchFamily="34" charset="0"/>
                <a:ea typeface="Courier New" pitchFamily="34" charset="-122"/>
                <a:cs typeface="Courier New" pitchFamily="34" charset="-120"/>
              </a:rPr>
              <a:t>int_overflow.c</a:t>
            </a:r>
            <a:endParaRPr lang="en-US" sz="1100" dirty="0"/>
          </a:p>
        </p:txBody>
      </p:sp>
      <p:sp>
        <p:nvSpPr>
          <p:cNvPr id="6" name="Text 4"/>
          <p:cNvSpPr/>
          <p:nvPr/>
        </p:nvSpPr>
        <p:spPr>
          <a:xfrm>
            <a:off x="822960" y="1965960"/>
            <a:ext cx="5715000" cy="4160520"/>
          </a:xfrm>
          <a:prstGeom prst="rect">
            <a:avLst/>
          </a:prstGeom>
          <a:noFill/>
          <a:ln/>
        </p:spPr>
        <p:txBody>
          <a:bodyPr wrap="square" rtlCol="0" anchor="t"/>
          <a:lstStyle/>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&lt;stdlib.h&gt;</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#include &lt;string.h&gt;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void copy_data(char *src, unsigned short len)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len is 16-bit: max value 65535</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unsigned short total = len + 10;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if len &gt; 65525, total WRAPS to</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a small number instead of erroring</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char *buf = malloc(total);</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memcpy(buf, src, len);</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buf is too small for len bytes —</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 heap overflow follows immediately</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caller passes len = 65530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total wraps to 4 instead of 65540</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malloc(4) succeeds, memcpy writes</a:t>
            </a:r>
            <a:endParaRPr lang="en-US" sz="1100" dirty="0"/>
          </a:p>
          <a:p>
            <a:pPr indent="0" marL="0">
              <a:lnSpc>
                <a:spcPct val="115000"/>
              </a:lnSpc>
              <a:buNone/>
            </a:pPr>
            <a:r>
              <a:rPr lang="en-US" sz="1100" dirty="0">
                <a:solidFill>
                  <a:srgbClr val="D7F5EA"/>
                </a:solidFill>
                <a:latin typeface="Courier New" pitchFamily="34" charset="0"/>
                <a:ea typeface="Courier New" pitchFamily="34" charset="-122"/>
                <a:cs typeface="Courier New" pitchFamily="34" charset="-120"/>
              </a:rPr>
              <a:t>// 65530 bytes into a 4-byte buffer</a:t>
            </a:r>
            <a:endParaRPr lang="en-US" sz="1100" dirty="0"/>
          </a:p>
        </p:txBody>
      </p:sp>
      <p:sp>
        <p:nvSpPr>
          <p:cNvPr id="7" name="Shape 5"/>
          <p:cNvSpPr/>
          <p:nvPr/>
        </p:nvSpPr>
        <p:spPr>
          <a:xfrm>
            <a:off x="7086600" y="1508760"/>
            <a:ext cx="438912" cy="438912"/>
          </a:xfrm>
          <a:prstGeom prst="ellipse">
            <a:avLst/>
          </a:prstGeom>
          <a:solidFill>
            <a:srgbClr val="C0392B"/>
          </a:solidFill>
          <a:ln/>
        </p:spPr>
      </p:sp>
      <p:sp>
        <p:nvSpPr>
          <p:cNvPr id="8" name="Text 6"/>
          <p:cNvSpPr/>
          <p:nvPr/>
        </p:nvSpPr>
        <p:spPr>
          <a:xfrm>
            <a:off x="7086600" y="1508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62672" y="1481328"/>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bug</a:t>
            </a:r>
            <a:endParaRPr lang="en-US" sz="1250" dirty="0"/>
          </a:p>
        </p:txBody>
      </p:sp>
      <p:sp>
        <p:nvSpPr>
          <p:cNvPr id="10" name="Text 8"/>
          <p:cNvSpPr/>
          <p:nvPr/>
        </p:nvSpPr>
        <p:spPr>
          <a:xfrm>
            <a:off x="7662672" y="1819656"/>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unsigned short total = len + 10 wraps silently when len is near the type's maximum.</a:t>
            </a:r>
            <a:endParaRPr lang="en-US" sz="1030" dirty="0"/>
          </a:p>
        </p:txBody>
      </p:sp>
      <p:sp>
        <p:nvSpPr>
          <p:cNvPr id="11" name="Shape 9"/>
          <p:cNvSpPr/>
          <p:nvPr/>
        </p:nvSpPr>
        <p:spPr>
          <a:xfrm>
            <a:off x="7086600" y="3044952"/>
            <a:ext cx="438912" cy="438912"/>
          </a:xfrm>
          <a:prstGeom prst="ellipse">
            <a:avLst/>
          </a:prstGeom>
          <a:solidFill>
            <a:srgbClr val="C0392B"/>
          </a:solidFill>
          <a:ln/>
        </p:spPr>
      </p:sp>
      <p:sp>
        <p:nvSpPr>
          <p:cNvPr id="12" name="Text 10"/>
          <p:cNvSpPr/>
          <p:nvPr/>
        </p:nvSpPr>
        <p:spPr>
          <a:xfrm>
            <a:off x="7086600" y="3044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662672" y="3017520"/>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The impact</a:t>
            </a:r>
            <a:endParaRPr lang="en-US" sz="1250" dirty="0"/>
          </a:p>
        </p:txBody>
      </p:sp>
      <p:sp>
        <p:nvSpPr>
          <p:cNvPr id="14" name="Text 12"/>
          <p:cNvSpPr/>
          <p:nvPr/>
        </p:nvSpPr>
        <p:spPr>
          <a:xfrm>
            <a:off x="7662672" y="3355848"/>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A tiny allocation followed by a huge copy is an almost guaranteed heap overflow.</a:t>
            </a:r>
            <a:endParaRPr lang="en-US" sz="1030" dirty="0"/>
          </a:p>
        </p:txBody>
      </p:sp>
      <p:sp>
        <p:nvSpPr>
          <p:cNvPr id="15" name="Shape 13"/>
          <p:cNvSpPr/>
          <p:nvPr/>
        </p:nvSpPr>
        <p:spPr>
          <a:xfrm>
            <a:off x="7086600" y="4581144"/>
            <a:ext cx="438912" cy="438912"/>
          </a:xfrm>
          <a:prstGeom prst="ellipse">
            <a:avLst/>
          </a:prstGeom>
          <a:solidFill>
            <a:srgbClr val="C0392B"/>
          </a:solidFill>
          <a:ln/>
        </p:spPr>
      </p:sp>
      <p:sp>
        <p:nvSpPr>
          <p:cNvPr id="16" name="Text 14"/>
          <p:cNvSpPr/>
          <p:nvPr/>
        </p:nvSpPr>
        <p:spPr>
          <a:xfrm>
            <a:off x="7086600" y="45811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662672" y="4553712"/>
            <a:ext cx="3931920" cy="365760"/>
          </a:xfrm>
          <a:prstGeom prst="rect">
            <a:avLst/>
          </a:prstGeom>
          <a:noFill/>
          <a:ln/>
        </p:spPr>
        <p:txBody>
          <a:bodyPr wrap="square" rtlCol="0" anchor="ctr"/>
          <a:lstStyle/>
          <a:p>
            <a:pPr indent="0" marL="0">
              <a:buNone/>
            </a:pPr>
            <a:r>
              <a:rPr lang="en-US" sz="1250" b="1" dirty="0">
                <a:solidFill>
                  <a:srgbClr val="13202B"/>
                </a:solidFill>
                <a:latin typeface="Calibri" pitchFamily="34" charset="0"/>
                <a:ea typeface="Calibri" pitchFamily="34" charset="-122"/>
                <a:cs typeface="Calibri" pitchFamily="34" charset="-120"/>
              </a:rPr>
              <a:t>Real-world</a:t>
            </a:r>
            <a:endParaRPr lang="en-US" sz="1250" dirty="0"/>
          </a:p>
        </p:txBody>
      </p:sp>
      <p:sp>
        <p:nvSpPr>
          <p:cNvPr id="18" name="Text 16"/>
          <p:cNvSpPr/>
          <p:nvPr/>
        </p:nvSpPr>
        <p:spPr>
          <a:xfrm>
            <a:off x="7662672" y="4892040"/>
            <a:ext cx="3931920" cy="1097280"/>
          </a:xfrm>
          <a:prstGeom prst="rect">
            <a:avLst/>
          </a:prstGeom>
          <a:noFill/>
          <a:ln/>
        </p:spPr>
        <p:txBody>
          <a:bodyPr wrap="square" rtlCol="0" anchor="ctr"/>
          <a:lstStyle/>
          <a:p>
            <a:pPr indent="0" marL="0">
              <a:lnSpc>
                <a:spcPct val="120000"/>
              </a:lnSpc>
              <a:buNone/>
            </a:pPr>
            <a:r>
              <a:rPr lang="en-US" sz="1030" dirty="0">
                <a:solidFill>
                  <a:srgbClr val="5A6B7A"/>
                </a:solidFill>
                <a:latin typeface="Calibri" pitchFamily="34" charset="0"/>
                <a:ea typeface="Calibri" pitchFamily="34" charset="-122"/>
                <a:cs typeface="Calibri" pitchFamily="34" charset="-120"/>
              </a:rPr>
              <a:t>Android's Stagefright (2015) exploited an integer overflow to trigger a heap overflow via crafted media files.</a:t>
            </a:r>
            <a:endParaRPr lang="en-US" sz="103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13</a:t>
            </a:r>
            <a:endParaRPr lang="en-US" sz="1000" dirty="0"/>
          </a:p>
        </p:txBody>
      </p:sp>
      <p:sp>
        <p:nvSpPr>
          <p:cNvPr id="20" name="Text 18"/>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These Aren't Academic — Real Incidents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Each bug class in this deck has a well-known real-world exploit behind it</a:t>
            </a:r>
            <a:endParaRPr lang="en-US" sz="1250" dirty="0"/>
          </a:p>
        </p:txBody>
      </p:sp>
      <p:sp>
        <p:nvSpPr>
          <p:cNvPr id="4" name="Shape 2"/>
          <p:cNvSpPr/>
          <p:nvPr/>
        </p:nvSpPr>
        <p:spPr>
          <a:xfrm>
            <a:off x="548640" y="1508760"/>
            <a:ext cx="11338560" cy="502920"/>
          </a:xfrm>
          <a:prstGeom prst="roundRect">
            <a:avLst>
              <a:gd name="adj" fmla="val 9091"/>
            </a:avLst>
          </a:prstGeom>
          <a:solidFill>
            <a:srgbClr val="0D1522"/>
          </a:solidFill>
          <a:ln/>
        </p:spPr>
      </p:sp>
      <p:sp>
        <p:nvSpPr>
          <p:cNvPr id="5" name="Text 3"/>
          <p:cNvSpPr/>
          <p:nvPr/>
        </p:nvSpPr>
        <p:spPr>
          <a:xfrm>
            <a:off x="685800" y="1508760"/>
            <a:ext cx="306324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Incident</a:t>
            </a:r>
            <a:endParaRPr lang="en-US" sz="1250" dirty="0"/>
          </a:p>
        </p:txBody>
      </p:sp>
      <p:sp>
        <p:nvSpPr>
          <p:cNvPr id="6" name="Text 4"/>
          <p:cNvSpPr/>
          <p:nvPr/>
        </p:nvSpPr>
        <p:spPr>
          <a:xfrm>
            <a:off x="3886200" y="1508760"/>
            <a:ext cx="2834640" cy="502920"/>
          </a:xfrm>
          <a:prstGeom prst="rect">
            <a:avLst/>
          </a:prstGeom>
          <a:noFill/>
          <a:ln/>
        </p:spPr>
        <p:txBody>
          <a:bodyPr wrap="square" rtlCol="0" anchor="ctr"/>
          <a:lstStyle/>
          <a:p>
            <a:pPr indent="0" marL="0">
              <a:buNone/>
            </a:pPr>
            <a:r>
              <a:rPr lang="en-US" sz="1250" b="1" dirty="0">
                <a:solidFill>
                  <a:srgbClr val="F7A9A9"/>
                </a:solidFill>
                <a:latin typeface="Calibri" pitchFamily="34" charset="0"/>
                <a:ea typeface="Calibri" pitchFamily="34" charset="-122"/>
                <a:cs typeface="Calibri" pitchFamily="34" charset="-120"/>
              </a:rPr>
              <a:t>Bug Class</a:t>
            </a:r>
            <a:endParaRPr lang="en-US" sz="1250" dirty="0"/>
          </a:p>
        </p:txBody>
      </p:sp>
      <p:sp>
        <p:nvSpPr>
          <p:cNvPr id="7" name="Text 5"/>
          <p:cNvSpPr/>
          <p:nvPr/>
        </p:nvSpPr>
        <p:spPr>
          <a:xfrm>
            <a:off x="6858000" y="1508760"/>
            <a:ext cx="4983480" cy="502920"/>
          </a:xfrm>
          <a:prstGeom prst="rect">
            <a:avLst/>
          </a:prstGeom>
          <a:noFill/>
          <a:ln/>
        </p:spPr>
        <p:txBody>
          <a:bodyPr wrap="square" rtlCol="0" anchor="ctr"/>
          <a:lstStyle/>
          <a:p>
            <a:pPr indent="0" marL="0">
              <a:buNone/>
            </a:pPr>
            <a:r>
              <a:rPr lang="en-US" sz="1250" b="1" dirty="0">
                <a:solidFill>
                  <a:srgbClr val="00C896"/>
                </a:solidFill>
                <a:latin typeface="Calibri" pitchFamily="34" charset="0"/>
                <a:ea typeface="Calibri" pitchFamily="34" charset="-122"/>
                <a:cs typeface="Calibri" pitchFamily="34" charset="-120"/>
              </a:rPr>
              <a:t>Root Cause</a:t>
            </a:r>
            <a:endParaRPr lang="en-US" sz="1250" dirty="0"/>
          </a:p>
        </p:txBody>
      </p:sp>
      <p:sp>
        <p:nvSpPr>
          <p:cNvPr id="8" name="Shape 6"/>
          <p:cNvSpPr/>
          <p:nvPr/>
        </p:nvSpPr>
        <p:spPr>
          <a:xfrm>
            <a:off x="548640" y="2011680"/>
            <a:ext cx="11338560" cy="777240"/>
          </a:xfrm>
          <a:prstGeom prst="rect">
            <a:avLst/>
          </a:prstGeom>
          <a:solidFill>
            <a:srgbClr val="FFFFFF"/>
          </a:solidFill>
          <a:ln/>
        </p:spPr>
      </p:sp>
      <p:sp>
        <p:nvSpPr>
          <p:cNvPr id="9" name="Text 7"/>
          <p:cNvSpPr/>
          <p:nvPr/>
        </p:nvSpPr>
        <p:spPr>
          <a:xfrm>
            <a:off x="685800" y="2011680"/>
            <a:ext cx="3063240" cy="77724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Morris Worm (1988)</a:t>
            </a:r>
            <a:endParaRPr lang="en-US" sz="1150" dirty="0"/>
          </a:p>
        </p:txBody>
      </p:sp>
      <p:sp>
        <p:nvSpPr>
          <p:cNvPr id="10" name="Text 8"/>
          <p:cNvSpPr/>
          <p:nvPr/>
        </p:nvSpPr>
        <p:spPr>
          <a:xfrm>
            <a:off x="3886200" y="2011680"/>
            <a:ext cx="2834640" cy="777240"/>
          </a:xfrm>
          <a:prstGeom prst="rect">
            <a:avLst/>
          </a:prstGeom>
          <a:noFill/>
          <a:ln/>
        </p:spPr>
        <p:txBody>
          <a:bodyPr wrap="square" rtlCol="0" anchor="ctr"/>
          <a:lstStyle/>
          <a:p>
            <a:pPr indent="0" marL="0">
              <a:buNone/>
            </a:pPr>
            <a:r>
              <a:rPr lang="en-US" sz="1080" dirty="0">
                <a:solidFill>
                  <a:srgbClr val="C0392B"/>
                </a:solidFill>
                <a:latin typeface="Calibri" pitchFamily="34" charset="0"/>
                <a:ea typeface="Calibri" pitchFamily="34" charset="-122"/>
                <a:cs typeface="Calibri" pitchFamily="34" charset="-120"/>
              </a:rPr>
              <a:t>Stack buffer overflow</a:t>
            </a:r>
            <a:endParaRPr lang="en-US" sz="1080" dirty="0"/>
          </a:p>
        </p:txBody>
      </p:sp>
      <p:sp>
        <p:nvSpPr>
          <p:cNvPr id="11" name="Text 9"/>
          <p:cNvSpPr/>
          <p:nvPr/>
        </p:nvSpPr>
        <p:spPr>
          <a:xfrm>
            <a:off x="6858000" y="2011680"/>
            <a:ext cx="4983480" cy="777240"/>
          </a:xfrm>
          <a:prstGeom prst="rect">
            <a:avLst/>
          </a:prstGeom>
          <a:noFill/>
          <a:ln/>
        </p:spPr>
        <p:txBody>
          <a:bodyPr wrap="square" rtlCol="0" anchor="ctr"/>
          <a:lstStyle/>
          <a:p>
            <a:pPr indent="0" marL="0">
              <a:lnSpc>
                <a:spcPct val="110000"/>
              </a:lnSpc>
              <a:buNone/>
            </a:pPr>
            <a:r>
              <a:rPr lang="en-US" sz="1050" dirty="0">
                <a:solidFill>
                  <a:srgbClr val="5A6B7A"/>
                </a:solidFill>
                <a:latin typeface="Calibri" pitchFamily="34" charset="0"/>
                <a:ea typeface="Calibri" pitchFamily="34" charset="-122"/>
                <a:cs typeface="Calibri" pitchFamily="34" charset="-120"/>
              </a:rPr>
              <a:t>fingerd's gets() had no bounds check — one of the internet's first major incidents</a:t>
            </a:r>
            <a:endParaRPr lang="en-US" sz="1050" dirty="0"/>
          </a:p>
        </p:txBody>
      </p:sp>
      <p:sp>
        <p:nvSpPr>
          <p:cNvPr id="12" name="Shape 10"/>
          <p:cNvSpPr/>
          <p:nvPr/>
        </p:nvSpPr>
        <p:spPr>
          <a:xfrm>
            <a:off x="548640" y="2788920"/>
            <a:ext cx="11338560" cy="777240"/>
          </a:xfrm>
          <a:prstGeom prst="rect">
            <a:avLst/>
          </a:prstGeom>
          <a:solidFill>
            <a:srgbClr val="E9EEF3"/>
          </a:solidFill>
          <a:ln/>
        </p:spPr>
      </p:sp>
      <p:sp>
        <p:nvSpPr>
          <p:cNvPr id="13" name="Text 11"/>
          <p:cNvSpPr/>
          <p:nvPr/>
        </p:nvSpPr>
        <p:spPr>
          <a:xfrm>
            <a:off x="685800" y="2788920"/>
            <a:ext cx="3063240" cy="77724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Heartbleed (2014)</a:t>
            </a:r>
            <a:endParaRPr lang="en-US" sz="1150" dirty="0"/>
          </a:p>
        </p:txBody>
      </p:sp>
      <p:sp>
        <p:nvSpPr>
          <p:cNvPr id="14" name="Text 12"/>
          <p:cNvSpPr/>
          <p:nvPr/>
        </p:nvSpPr>
        <p:spPr>
          <a:xfrm>
            <a:off x="3886200" y="2788920"/>
            <a:ext cx="2834640" cy="777240"/>
          </a:xfrm>
          <a:prstGeom prst="rect">
            <a:avLst/>
          </a:prstGeom>
          <a:noFill/>
          <a:ln/>
        </p:spPr>
        <p:txBody>
          <a:bodyPr wrap="square" rtlCol="0" anchor="ctr"/>
          <a:lstStyle/>
          <a:p>
            <a:pPr indent="0" marL="0">
              <a:buNone/>
            </a:pPr>
            <a:r>
              <a:rPr lang="en-US" sz="1080" dirty="0">
                <a:solidFill>
                  <a:srgbClr val="C0392B"/>
                </a:solidFill>
                <a:latin typeface="Calibri" pitchFamily="34" charset="0"/>
                <a:ea typeface="Calibri" pitchFamily="34" charset="-122"/>
                <a:cs typeface="Calibri" pitchFamily="34" charset="-120"/>
              </a:rPr>
              <a:t>Buffer over-read</a:t>
            </a:r>
            <a:endParaRPr lang="en-US" sz="1080" dirty="0"/>
          </a:p>
        </p:txBody>
      </p:sp>
      <p:sp>
        <p:nvSpPr>
          <p:cNvPr id="15" name="Text 13"/>
          <p:cNvSpPr/>
          <p:nvPr/>
        </p:nvSpPr>
        <p:spPr>
          <a:xfrm>
            <a:off x="6858000" y="2788920"/>
            <a:ext cx="4983480" cy="777240"/>
          </a:xfrm>
          <a:prstGeom prst="rect">
            <a:avLst/>
          </a:prstGeom>
          <a:noFill/>
          <a:ln/>
        </p:spPr>
        <p:txBody>
          <a:bodyPr wrap="square" rtlCol="0" anchor="ctr"/>
          <a:lstStyle/>
          <a:p>
            <a:pPr indent="0" marL="0">
              <a:lnSpc>
                <a:spcPct val="110000"/>
              </a:lnSpc>
              <a:buNone/>
            </a:pPr>
            <a:r>
              <a:rPr lang="en-US" sz="1050" dirty="0">
                <a:solidFill>
                  <a:srgbClr val="5A6B7A"/>
                </a:solidFill>
                <a:latin typeface="Calibri" pitchFamily="34" charset="0"/>
                <a:ea typeface="Calibri" pitchFamily="34" charset="-122"/>
                <a:cs typeface="Calibri" pitchFamily="34" charset="-120"/>
              </a:rPr>
              <a:t>OpenSSL trusted an attacker-supplied length field, leaking adjacent heap memory</a:t>
            </a:r>
            <a:endParaRPr lang="en-US" sz="1050" dirty="0"/>
          </a:p>
        </p:txBody>
      </p:sp>
      <p:sp>
        <p:nvSpPr>
          <p:cNvPr id="16" name="Shape 14"/>
          <p:cNvSpPr/>
          <p:nvPr/>
        </p:nvSpPr>
        <p:spPr>
          <a:xfrm>
            <a:off x="548640" y="3566160"/>
            <a:ext cx="11338560" cy="777240"/>
          </a:xfrm>
          <a:prstGeom prst="rect">
            <a:avLst/>
          </a:prstGeom>
          <a:solidFill>
            <a:srgbClr val="FFFFFF"/>
          </a:solidFill>
          <a:ln/>
        </p:spPr>
      </p:sp>
      <p:sp>
        <p:nvSpPr>
          <p:cNvPr id="17" name="Text 15"/>
          <p:cNvSpPr/>
          <p:nvPr/>
        </p:nvSpPr>
        <p:spPr>
          <a:xfrm>
            <a:off x="685800" y="3566160"/>
            <a:ext cx="3063240" cy="77724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Stagefright (2015)</a:t>
            </a:r>
            <a:endParaRPr lang="en-US" sz="1150" dirty="0"/>
          </a:p>
        </p:txBody>
      </p:sp>
      <p:sp>
        <p:nvSpPr>
          <p:cNvPr id="18" name="Text 16"/>
          <p:cNvSpPr/>
          <p:nvPr/>
        </p:nvSpPr>
        <p:spPr>
          <a:xfrm>
            <a:off x="3886200" y="3566160"/>
            <a:ext cx="2834640" cy="777240"/>
          </a:xfrm>
          <a:prstGeom prst="rect">
            <a:avLst/>
          </a:prstGeom>
          <a:noFill/>
          <a:ln/>
        </p:spPr>
        <p:txBody>
          <a:bodyPr wrap="square" rtlCol="0" anchor="ctr"/>
          <a:lstStyle/>
          <a:p>
            <a:pPr indent="0" marL="0">
              <a:buNone/>
            </a:pPr>
            <a:r>
              <a:rPr lang="en-US" sz="1080" dirty="0">
                <a:solidFill>
                  <a:srgbClr val="C0392B"/>
                </a:solidFill>
                <a:latin typeface="Calibri" pitchFamily="34" charset="0"/>
                <a:ea typeface="Calibri" pitchFamily="34" charset="-122"/>
                <a:cs typeface="Calibri" pitchFamily="34" charset="-120"/>
              </a:rPr>
              <a:t>Integer overflow → heap overflow</a:t>
            </a:r>
            <a:endParaRPr lang="en-US" sz="1080" dirty="0"/>
          </a:p>
        </p:txBody>
      </p:sp>
      <p:sp>
        <p:nvSpPr>
          <p:cNvPr id="19" name="Text 17"/>
          <p:cNvSpPr/>
          <p:nvPr/>
        </p:nvSpPr>
        <p:spPr>
          <a:xfrm>
            <a:off x="6858000" y="3566160"/>
            <a:ext cx="4983480" cy="777240"/>
          </a:xfrm>
          <a:prstGeom prst="rect">
            <a:avLst/>
          </a:prstGeom>
          <a:noFill/>
          <a:ln/>
        </p:spPr>
        <p:txBody>
          <a:bodyPr wrap="square" rtlCol="0" anchor="ctr"/>
          <a:lstStyle/>
          <a:p>
            <a:pPr indent="0" marL="0">
              <a:lnSpc>
                <a:spcPct val="110000"/>
              </a:lnSpc>
              <a:buNone/>
            </a:pPr>
            <a:r>
              <a:rPr lang="en-US" sz="1050" dirty="0">
                <a:solidFill>
                  <a:srgbClr val="5A6B7A"/>
                </a:solidFill>
                <a:latin typeface="Calibri" pitchFamily="34" charset="0"/>
                <a:ea typeface="Calibri" pitchFamily="34" charset="-122"/>
                <a:cs typeface="Calibri" pitchFamily="34" charset="-120"/>
              </a:rPr>
              <a:t>A crafted media file triggered a wraparound, then an out-of-bounds write</a:t>
            </a:r>
            <a:endParaRPr lang="en-US" sz="1050" dirty="0"/>
          </a:p>
        </p:txBody>
      </p:sp>
      <p:sp>
        <p:nvSpPr>
          <p:cNvPr id="20" name="Shape 18"/>
          <p:cNvSpPr/>
          <p:nvPr/>
        </p:nvSpPr>
        <p:spPr>
          <a:xfrm>
            <a:off x="548640" y="4343400"/>
            <a:ext cx="11338560" cy="777240"/>
          </a:xfrm>
          <a:prstGeom prst="rect">
            <a:avLst/>
          </a:prstGeom>
          <a:solidFill>
            <a:srgbClr val="E9EEF3"/>
          </a:solidFill>
          <a:ln/>
        </p:spPr>
      </p:sp>
      <p:sp>
        <p:nvSpPr>
          <p:cNvPr id="21" name="Text 19"/>
          <p:cNvSpPr/>
          <p:nvPr/>
        </p:nvSpPr>
        <p:spPr>
          <a:xfrm>
            <a:off x="685800" y="4343400"/>
            <a:ext cx="3063240" cy="77724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EternalBlue (2017)</a:t>
            </a:r>
            <a:endParaRPr lang="en-US" sz="1150" dirty="0"/>
          </a:p>
        </p:txBody>
      </p:sp>
      <p:sp>
        <p:nvSpPr>
          <p:cNvPr id="22" name="Text 20"/>
          <p:cNvSpPr/>
          <p:nvPr/>
        </p:nvSpPr>
        <p:spPr>
          <a:xfrm>
            <a:off x="3886200" y="4343400"/>
            <a:ext cx="2834640" cy="777240"/>
          </a:xfrm>
          <a:prstGeom prst="rect">
            <a:avLst/>
          </a:prstGeom>
          <a:noFill/>
          <a:ln/>
        </p:spPr>
        <p:txBody>
          <a:bodyPr wrap="square" rtlCol="0" anchor="ctr"/>
          <a:lstStyle/>
          <a:p>
            <a:pPr indent="0" marL="0">
              <a:buNone/>
            </a:pPr>
            <a:r>
              <a:rPr lang="en-US" sz="1080" dirty="0">
                <a:solidFill>
                  <a:srgbClr val="C0392B"/>
                </a:solidFill>
                <a:latin typeface="Calibri" pitchFamily="34" charset="0"/>
                <a:ea typeface="Calibri" pitchFamily="34" charset="-122"/>
                <a:cs typeface="Calibri" pitchFamily="34" charset="-120"/>
              </a:rPr>
              <a:t>Buffer overflow in SMB</a:t>
            </a:r>
            <a:endParaRPr lang="en-US" sz="1080" dirty="0"/>
          </a:p>
        </p:txBody>
      </p:sp>
      <p:sp>
        <p:nvSpPr>
          <p:cNvPr id="23" name="Text 21"/>
          <p:cNvSpPr/>
          <p:nvPr/>
        </p:nvSpPr>
        <p:spPr>
          <a:xfrm>
            <a:off x="6858000" y="4343400"/>
            <a:ext cx="4983480" cy="777240"/>
          </a:xfrm>
          <a:prstGeom prst="rect">
            <a:avLst/>
          </a:prstGeom>
          <a:noFill/>
          <a:ln/>
        </p:spPr>
        <p:txBody>
          <a:bodyPr wrap="square" rtlCol="0" anchor="ctr"/>
          <a:lstStyle/>
          <a:p>
            <a:pPr indent="0" marL="0">
              <a:lnSpc>
                <a:spcPct val="110000"/>
              </a:lnSpc>
              <a:buNone/>
            </a:pPr>
            <a:r>
              <a:rPr lang="en-US" sz="1050" dirty="0">
                <a:solidFill>
                  <a:srgbClr val="5A6B7A"/>
                </a:solidFill>
                <a:latin typeface="Calibri" pitchFamily="34" charset="0"/>
                <a:ea typeface="Calibri" pitchFamily="34" charset="-122"/>
                <a:cs typeface="Calibri" pitchFamily="34" charset="-120"/>
              </a:rPr>
              <a:t>Leaked NSA exploit behind WannaCry and NotPetya ransomware outbreaks</a:t>
            </a:r>
            <a:endParaRPr lang="en-US" sz="1050" dirty="0"/>
          </a:p>
        </p:txBody>
      </p:sp>
      <p:sp>
        <p:nvSpPr>
          <p:cNvPr id="24" name="Shape 22"/>
          <p:cNvSpPr/>
          <p:nvPr/>
        </p:nvSpPr>
        <p:spPr>
          <a:xfrm>
            <a:off x="548640" y="5120640"/>
            <a:ext cx="11338560" cy="777240"/>
          </a:xfrm>
          <a:prstGeom prst="rect">
            <a:avLst/>
          </a:prstGeom>
          <a:solidFill>
            <a:srgbClr val="FFFFFF"/>
          </a:solidFill>
          <a:ln/>
        </p:spPr>
      </p:sp>
      <p:sp>
        <p:nvSpPr>
          <p:cNvPr id="25" name="Text 23"/>
          <p:cNvSpPr/>
          <p:nvPr/>
        </p:nvSpPr>
        <p:spPr>
          <a:xfrm>
            <a:off x="685800" y="5120640"/>
            <a:ext cx="3063240" cy="777240"/>
          </a:xfrm>
          <a:prstGeom prst="rect">
            <a:avLst/>
          </a:prstGeom>
          <a:noFill/>
          <a:ln/>
        </p:spPr>
        <p:txBody>
          <a:bodyPr wrap="square" rtlCol="0" anchor="ctr"/>
          <a:lstStyle/>
          <a:p>
            <a:pPr indent="0" marL="0">
              <a:buNone/>
            </a:pPr>
            <a:r>
              <a:rPr lang="en-US" sz="1150" b="1" dirty="0">
                <a:solidFill>
                  <a:srgbClr val="13202B"/>
                </a:solidFill>
                <a:latin typeface="Calibri" pitchFamily="34" charset="0"/>
                <a:ea typeface="Calibri" pitchFamily="34" charset="-122"/>
                <a:cs typeface="Calibri" pitchFamily="34" charset="-120"/>
              </a:rPr>
              <a:t>Chrome UAF CVEs (ongoing)</a:t>
            </a:r>
            <a:endParaRPr lang="en-US" sz="1150" dirty="0"/>
          </a:p>
        </p:txBody>
      </p:sp>
      <p:sp>
        <p:nvSpPr>
          <p:cNvPr id="26" name="Text 24"/>
          <p:cNvSpPr/>
          <p:nvPr/>
        </p:nvSpPr>
        <p:spPr>
          <a:xfrm>
            <a:off x="3886200" y="5120640"/>
            <a:ext cx="2834640" cy="777240"/>
          </a:xfrm>
          <a:prstGeom prst="rect">
            <a:avLst/>
          </a:prstGeom>
          <a:noFill/>
          <a:ln/>
        </p:spPr>
        <p:txBody>
          <a:bodyPr wrap="square" rtlCol="0" anchor="ctr"/>
          <a:lstStyle/>
          <a:p>
            <a:pPr indent="0" marL="0">
              <a:buNone/>
            </a:pPr>
            <a:r>
              <a:rPr lang="en-US" sz="1080" dirty="0">
                <a:solidFill>
                  <a:srgbClr val="C0392B"/>
                </a:solidFill>
                <a:latin typeface="Calibri" pitchFamily="34" charset="0"/>
                <a:ea typeface="Calibri" pitchFamily="34" charset="-122"/>
                <a:cs typeface="Calibri" pitchFamily="34" charset="-120"/>
              </a:rPr>
              <a:t>Use-after-free</a:t>
            </a:r>
            <a:endParaRPr lang="en-US" sz="1080" dirty="0"/>
          </a:p>
        </p:txBody>
      </p:sp>
      <p:sp>
        <p:nvSpPr>
          <p:cNvPr id="27" name="Text 25"/>
          <p:cNvSpPr/>
          <p:nvPr/>
        </p:nvSpPr>
        <p:spPr>
          <a:xfrm>
            <a:off x="6858000" y="5120640"/>
            <a:ext cx="4983480" cy="777240"/>
          </a:xfrm>
          <a:prstGeom prst="rect">
            <a:avLst/>
          </a:prstGeom>
          <a:noFill/>
          <a:ln/>
        </p:spPr>
        <p:txBody>
          <a:bodyPr wrap="square" rtlCol="0" anchor="ctr"/>
          <a:lstStyle/>
          <a:p>
            <a:pPr indent="0" marL="0">
              <a:lnSpc>
                <a:spcPct val="110000"/>
              </a:lnSpc>
              <a:buNone/>
            </a:pPr>
            <a:r>
              <a:rPr lang="en-US" sz="1050" dirty="0">
                <a:solidFill>
                  <a:srgbClr val="5A6B7A"/>
                </a:solidFill>
                <a:latin typeface="Calibri" pitchFamily="34" charset="0"/>
                <a:ea typeface="Calibri" pitchFamily="34" charset="-122"/>
                <a:cs typeface="Calibri" pitchFamily="34" charset="-120"/>
              </a:rPr>
              <a:t>The single most common root cause in Chromium security bulletins for years</a:t>
            </a:r>
            <a:endParaRPr lang="en-US" sz="1050" dirty="0"/>
          </a:p>
        </p:txBody>
      </p:sp>
      <p:sp>
        <p:nvSpPr>
          <p:cNvPr id="28" name="Text 2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14</a:t>
            </a:r>
            <a:endParaRPr lang="en-US" sz="1000" dirty="0"/>
          </a:p>
        </p:txBody>
      </p:sp>
      <p:sp>
        <p:nvSpPr>
          <p:cNvPr id="29" name="Text 27"/>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522"/>
        </a:solidFill>
      </p:bgPr>
    </p:bg>
    <p:spTree>
      <p:nvGrpSpPr>
        <p:cNvPr id="1" name=""/>
        <p:cNvGrpSpPr/>
        <p:nvPr/>
      </p:nvGrpSpPr>
      <p:grpSpPr>
        <a:xfrm>
          <a:off x="0" y="0"/>
          <a:ext cx="0" cy="0"/>
          <a:chOff x="0" y="0"/>
          <a:chExt cx="0" cy="0"/>
        </a:xfrm>
      </p:grpSpPr>
      <p:sp>
        <p:nvSpPr>
          <p:cNvPr id="2" name="Shape 0"/>
          <p:cNvSpPr/>
          <p:nvPr/>
        </p:nvSpPr>
        <p:spPr>
          <a:xfrm>
            <a:off x="8778240" y="-1371600"/>
            <a:ext cx="5486400" cy="5486400"/>
          </a:xfrm>
          <a:prstGeom prst="ellipse">
            <a:avLst/>
          </a:prstGeom>
          <a:solidFill>
            <a:srgbClr val="00C896">
              <a:alpha val="15000"/>
            </a:srgbClr>
          </a:solidFill>
          <a:ln/>
        </p:spPr>
      </p:sp>
      <p:sp>
        <p:nvSpPr>
          <p:cNvPr id="3" name="Text 1"/>
          <p:cNvSpPr/>
          <p:nvPr/>
        </p:nvSpPr>
        <p:spPr>
          <a:xfrm>
            <a:off x="731520" y="2468880"/>
            <a:ext cx="5486400" cy="457200"/>
          </a:xfrm>
          <a:prstGeom prst="rect">
            <a:avLst/>
          </a:prstGeom>
          <a:noFill/>
          <a:ln/>
        </p:spPr>
        <p:txBody>
          <a:bodyPr wrap="square" rtlCol="0" anchor="ctr"/>
          <a:lstStyle/>
          <a:p>
            <a:pPr indent="0" marL="0">
              <a:buNone/>
            </a:pPr>
            <a:r>
              <a:rPr lang="en-US" sz="1500" b="1" spc="400" kern="0" dirty="0">
                <a:solidFill>
                  <a:srgbClr val="00C896"/>
                </a:solidFill>
                <a:latin typeface="Calibri" pitchFamily="34" charset="0"/>
                <a:ea typeface="Calibri" pitchFamily="34" charset="-122"/>
                <a:cs typeface="Calibri" pitchFamily="34" charset="-120"/>
              </a:rPr>
              <a:t>PART THREE</a:t>
            </a:r>
            <a:endParaRPr lang="en-US" sz="1500" dirty="0"/>
          </a:p>
        </p:txBody>
      </p:sp>
      <p:sp>
        <p:nvSpPr>
          <p:cNvPr id="4" name="Text 2"/>
          <p:cNvSpPr/>
          <p:nvPr/>
        </p:nvSpPr>
        <p:spPr>
          <a:xfrm>
            <a:off x="713232" y="2880360"/>
            <a:ext cx="8229600" cy="118872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Solutions</a:t>
            </a:r>
            <a:endParaRPr lang="en-US" sz="5200" dirty="0"/>
          </a:p>
        </p:txBody>
      </p:sp>
      <p:sp>
        <p:nvSpPr>
          <p:cNvPr id="5" name="Text 3"/>
          <p:cNvSpPr/>
          <p:nvPr/>
        </p:nvSpPr>
        <p:spPr>
          <a:xfrm>
            <a:off x="749808" y="3931920"/>
            <a:ext cx="8686800" cy="548640"/>
          </a:xfrm>
          <a:prstGeom prst="rect">
            <a:avLst/>
          </a:prstGeom>
          <a:noFill/>
          <a:ln/>
        </p:spPr>
        <p:txBody>
          <a:bodyPr wrap="square" rtlCol="0" anchor="ctr"/>
          <a:lstStyle/>
          <a:p>
            <a:pPr indent="0" marL="0">
              <a:buNone/>
            </a:pPr>
            <a:r>
              <a:rPr lang="en-US" sz="1500" i="1" dirty="0">
                <a:solidFill>
                  <a:srgbClr val="AFC3D6"/>
                </a:solidFill>
                <a:latin typeface="Calibri" pitchFamily="34" charset="0"/>
                <a:ea typeface="Calibri" pitchFamily="34" charset="-122"/>
                <a:cs typeface="Calibri" pitchFamily="34" charset="-120"/>
              </a:rPr>
              <a:t>From defensive coding to compilers, tools, and memory-safe languages</a:t>
            </a:r>
            <a:endParaRPr lang="en-US" sz="1500" dirty="0"/>
          </a:p>
        </p:txBody>
      </p:sp>
      <p:sp>
        <p:nvSpPr>
          <p:cNvPr id="6" name="Shape 4"/>
          <p:cNvSpPr/>
          <p:nvPr/>
        </p:nvSpPr>
        <p:spPr>
          <a:xfrm>
            <a:off x="749808" y="1554480"/>
            <a:ext cx="548640" cy="548640"/>
          </a:xfrm>
          <a:prstGeom prst="ellipse">
            <a:avLst/>
          </a:prstGeom>
          <a:solidFill>
            <a:srgbClr val="00C896"/>
          </a:solidFill>
          <a:ln/>
        </p:spPr>
      </p:sp>
      <p:sp>
        <p:nvSpPr>
          <p:cNvPr id="7" name="Text 5"/>
          <p:cNvSpPr/>
          <p:nvPr/>
        </p:nvSpPr>
        <p:spPr>
          <a:xfrm>
            <a:off x="749808" y="1554480"/>
            <a:ext cx="548640" cy="548640"/>
          </a:xfrm>
          <a:prstGeom prst="rect">
            <a:avLst/>
          </a:prstGeom>
          <a:noFill/>
          <a:ln/>
        </p:spPr>
        <p:txBody>
          <a:bodyPr wrap="square" lIns="0" tIns="0" rIns="0" bIns="0" rtlCol="0" anchor="ctr"/>
          <a:lstStyle/>
          <a:p>
            <a:pPr algn="ctr" indent="0" marL="0">
              <a:buNone/>
            </a:pPr>
            <a:r>
              <a:rPr lang="en-US" sz="2200" b="1" dirty="0">
                <a:solidFill>
                  <a:srgbClr val="0D1522"/>
                </a:solidFill>
                <a:latin typeface="Cambria" pitchFamily="34" charset="0"/>
                <a:ea typeface="Cambria" pitchFamily="34" charset="-122"/>
                <a:cs typeface="Cambria" pitchFamily="34" charset="-120"/>
              </a:rPr>
              <a: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Layer One: Defensive Coding Practices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Cheap, immediate fixes that eliminate entire categories of bugs</a:t>
            </a:r>
            <a:endParaRPr lang="en-US" sz="1250" dirty="0"/>
          </a:p>
        </p:txBody>
      </p:sp>
      <p:sp>
        <p:nvSpPr>
          <p:cNvPr id="4" name="Shape 2"/>
          <p:cNvSpPr/>
          <p:nvPr/>
        </p:nvSpPr>
        <p:spPr>
          <a:xfrm>
            <a:off x="5486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5" name="Shape 3"/>
          <p:cNvSpPr/>
          <p:nvPr/>
        </p:nvSpPr>
        <p:spPr>
          <a:xfrm>
            <a:off x="731520" y="1673352"/>
            <a:ext cx="384048" cy="384048"/>
          </a:xfrm>
          <a:prstGeom prst="ellipse">
            <a:avLst/>
          </a:prstGeom>
          <a:solidFill>
            <a:srgbClr val="00C896"/>
          </a:solidFill>
          <a:ln/>
        </p:spPr>
      </p:sp>
      <p:sp>
        <p:nvSpPr>
          <p:cNvPr id="6" name="Text 4"/>
          <p:cNvSpPr/>
          <p:nvPr/>
        </p:nvSpPr>
        <p:spPr>
          <a:xfrm>
            <a:off x="731520" y="167335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34440" y="165506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Use bounds-checked functions</a:t>
            </a:r>
            <a:endParaRPr lang="en-US" sz="1130" dirty="0"/>
          </a:p>
        </p:txBody>
      </p:sp>
      <p:sp>
        <p:nvSpPr>
          <p:cNvPr id="8" name="Text 6"/>
          <p:cNvSpPr/>
          <p:nvPr/>
        </p:nvSpPr>
        <p:spPr>
          <a:xfrm>
            <a:off x="731520" y="222199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strncpy, snprintf, strlcpy instead of strcpy, sprintf, strcat — always pass the destination's real size.</a:t>
            </a:r>
            <a:endParaRPr lang="en-US" sz="980" dirty="0"/>
          </a:p>
        </p:txBody>
      </p:sp>
      <p:sp>
        <p:nvSpPr>
          <p:cNvPr id="9" name="Shape 7"/>
          <p:cNvSpPr/>
          <p:nvPr/>
        </p:nvSpPr>
        <p:spPr>
          <a:xfrm>
            <a:off x="42062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10" name="Shape 8"/>
          <p:cNvSpPr/>
          <p:nvPr/>
        </p:nvSpPr>
        <p:spPr>
          <a:xfrm>
            <a:off x="4389120" y="1673352"/>
            <a:ext cx="384048" cy="384048"/>
          </a:xfrm>
          <a:prstGeom prst="ellipse">
            <a:avLst/>
          </a:prstGeom>
          <a:solidFill>
            <a:srgbClr val="00C896"/>
          </a:solidFill>
          <a:ln/>
        </p:spPr>
      </p:sp>
      <p:sp>
        <p:nvSpPr>
          <p:cNvPr id="11" name="Text 9"/>
          <p:cNvSpPr/>
          <p:nvPr/>
        </p:nvSpPr>
        <p:spPr>
          <a:xfrm>
            <a:off x="4389120" y="167335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4892040" y="165506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Validate every length before use</a:t>
            </a:r>
            <a:endParaRPr lang="en-US" sz="1130" dirty="0"/>
          </a:p>
        </p:txBody>
      </p:sp>
      <p:sp>
        <p:nvSpPr>
          <p:cNvPr id="13" name="Text 11"/>
          <p:cNvSpPr/>
          <p:nvPr/>
        </p:nvSpPr>
        <p:spPr>
          <a:xfrm>
            <a:off x="4389120" y="222199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Especially lengths that come from network input, files, or arguments — never trust them blindly.</a:t>
            </a:r>
            <a:endParaRPr lang="en-US" sz="980" dirty="0"/>
          </a:p>
        </p:txBody>
      </p:sp>
      <p:sp>
        <p:nvSpPr>
          <p:cNvPr id="14" name="Shape 12"/>
          <p:cNvSpPr/>
          <p:nvPr/>
        </p:nvSpPr>
        <p:spPr>
          <a:xfrm>
            <a:off x="78638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15" name="Shape 13"/>
          <p:cNvSpPr/>
          <p:nvPr/>
        </p:nvSpPr>
        <p:spPr>
          <a:xfrm>
            <a:off x="8046720" y="1673352"/>
            <a:ext cx="384048" cy="384048"/>
          </a:xfrm>
          <a:prstGeom prst="ellipse">
            <a:avLst/>
          </a:prstGeom>
          <a:solidFill>
            <a:srgbClr val="00C896"/>
          </a:solidFill>
          <a:ln/>
        </p:spPr>
      </p:sp>
      <p:sp>
        <p:nvSpPr>
          <p:cNvPr id="16" name="Text 14"/>
          <p:cNvSpPr/>
          <p:nvPr/>
        </p:nvSpPr>
        <p:spPr>
          <a:xfrm>
            <a:off x="8046720" y="167335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8549640" y="165506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Match every malloc() with exactly one free()</a:t>
            </a:r>
            <a:endParaRPr lang="en-US" sz="1130" dirty="0"/>
          </a:p>
        </p:txBody>
      </p:sp>
      <p:sp>
        <p:nvSpPr>
          <p:cNvPr id="18" name="Text 16"/>
          <p:cNvSpPr/>
          <p:nvPr/>
        </p:nvSpPr>
        <p:spPr>
          <a:xfrm>
            <a:off x="8046720" y="222199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NULL a pointer immediately after freeing it, turning silent UAF bugs into loud NULL derefs.</a:t>
            </a:r>
            <a:endParaRPr lang="en-US" sz="980" dirty="0"/>
          </a:p>
        </p:txBody>
      </p:sp>
      <p:sp>
        <p:nvSpPr>
          <p:cNvPr id="19" name="Shape 17"/>
          <p:cNvSpPr/>
          <p:nvPr/>
        </p:nvSpPr>
        <p:spPr>
          <a:xfrm>
            <a:off x="5486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20" name="Shape 18"/>
          <p:cNvSpPr/>
          <p:nvPr/>
        </p:nvSpPr>
        <p:spPr>
          <a:xfrm>
            <a:off x="731520" y="3867912"/>
            <a:ext cx="384048" cy="384048"/>
          </a:xfrm>
          <a:prstGeom prst="ellipse">
            <a:avLst/>
          </a:prstGeom>
          <a:solidFill>
            <a:srgbClr val="00C896"/>
          </a:solidFill>
          <a:ln/>
        </p:spPr>
      </p:sp>
      <p:sp>
        <p:nvSpPr>
          <p:cNvPr id="21" name="Text 19"/>
          <p:cNvSpPr/>
          <p:nvPr/>
        </p:nvSpPr>
        <p:spPr>
          <a:xfrm>
            <a:off x="731520" y="386791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1234440" y="384962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Never pass user input as a format string</a:t>
            </a:r>
            <a:endParaRPr lang="en-US" sz="1130" dirty="0"/>
          </a:p>
        </p:txBody>
      </p:sp>
      <p:sp>
        <p:nvSpPr>
          <p:cNvPr id="23" name="Text 21"/>
          <p:cNvSpPr/>
          <p:nvPr/>
        </p:nvSpPr>
        <p:spPr>
          <a:xfrm>
            <a:off x="731520" y="441655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printf("%s", input) — not printf(input). Always supply your own format string.</a:t>
            </a:r>
            <a:endParaRPr lang="en-US" sz="980" dirty="0"/>
          </a:p>
        </p:txBody>
      </p:sp>
      <p:sp>
        <p:nvSpPr>
          <p:cNvPr id="24" name="Shape 22"/>
          <p:cNvSpPr/>
          <p:nvPr/>
        </p:nvSpPr>
        <p:spPr>
          <a:xfrm>
            <a:off x="42062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25" name="Shape 23"/>
          <p:cNvSpPr/>
          <p:nvPr/>
        </p:nvSpPr>
        <p:spPr>
          <a:xfrm>
            <a:off x="4389120" y="3867912"/>
            <a:ext cx="384048" cy="384048"/>
          </a:xfrm>
          <a:prstGeom prst="ellipse">
            <a:avLst/>
          </a:prstGeom>
          <a:solidFill>
            <a:srgbClr val="00C896"/>
          </a:solidFill>
          <a:ln/>
        </p:spPr>
      </p:sp>
      <p:sp>
        <p:nvSpPr>
          <p:cNvPr id="26" name="Text 24"/>
          <p:cNvSpPr/>
          <p:nvPr/>
        </p:nvSpPr>
        <p:spPr>
          <a:xfrm>
            <a:off x="4389120" y="386791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5</a:t>
            </a:r>
            <a:endParaRPr lang="en-US" sz="1300" dirty="0"/>
          </a:p>
        </p:txBody>
      </p:sp>
      <p:sp>
        <p:nvSpPr>
          <p:cNvPr id="27" name="Text 25"/>
          <p:cNvSpPr/>
          <p:nvPr/>
        </p:nvSpPr>
        <p:spPr>
          <a:xfrm>
            <a:off x="4892040" y="384962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Check every allocation's return value</a:t>
            </a:r>
            <a:endParaRPr lang="en-US" sz="1130" dirty="0"/>
          </a:p>
        </p:txBody>
      </p:sp>
      <p:sp>
        <p:nvSpPr>
          <p:cNvPr id="28" name="Text 26"/>
          <p:cNvSpPr/>
          <p:nvPr/>
        </p:nvSpPr>
        <p:spPr>
          <a:xfrm>
            <a:off x="4389120" y="441655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malloc() can return NULL; dereferencing it without checking crashes or worse.</a:t>
            </a:r>
            <a:endParaRPr lang="en-US" sz="980" dirty="0"/>
          </a:p>
        </p:txBody>
      </p:sp>
      <p:sp>
        <p:nvSpPr>
          <p:cNvPr id="29" name="Shape 27"/>
          <p:cNvSpPr/>
          <p:nvPr/>
        </p:nvSpPr>
        <p:spPr>
          <a:xfrm>
            <a:off x="78638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30" name="Shape 28"/>
          <p:cNvSpPr/>
          <p:nvPr/>
        </p:nvSpPr>
        <p:spPr>
          <a:xfrm>
            <a:off x="8046720" y="3867912"/>
            <a:ext cx="384048" cy="384048"/>
          </a:xfrm>
          <a:prstGeom prst="ellipse">
            <a:avLst/>
          </a:prstGeom>
          <a:solidFill>
            <a:srgbClr val="00C896"/>
          </a:solidFill>
          <a:ln/>
        </p:spPr>
      </p:sp>
      <p:sp>
        <p:nvSpPr>
          <p:cNvPr id="31" name="Text 29"/>
          <p:cNvSpPr/>
          <p:nvPr/>
        </p:nvSpPr>
        <p:spPr>
          <a:xfrm>
            <a:off x="8046720" y="3867912"/>
            <a:ext cx="384048" cy="384048"/>
          </a:xfrm>
          <a:prstGeom prst="rect">
            <a:avLst/>
          </a:prstGeom>
          <a:noFill/>
          <a:ln/>
        </p:spPr>
        <p:txBody>
          <a:bodyPr wrap="square" lIns="0" tIns="0" rIns="0" bIns="0" rtlCol="0" anchor="ctr"/>
          <a:lstStyle/>
          <a:p>
            <a:pPr algn="ctr" indent="0" marL="0">
              <a:buNone/>
            </a:pPr>
            <a:r>
              <a:rPr lang="en-US" sz="1300" b="1" dirty="0">
                <a:solidFill>
                  <a:srgbClr val="0D1522"/>
                </a:solidFill>
                <a:latin typeface="Cambria" pitchFamily="34" charset="0"/>
                <a:ea typeface="Cambria" pitchFamily="34" charset="-122"/>
                <a:cs typeface="Cambria" pitchFamily="34" charset="-120"/>
              </a:rPr>
              <a:t>6</a:t>
            </a:r>
            <a:endParaRPr lang="en-US" sz="1300" dirty="0"/>
          </a:p>
        </p:txBody>
      </p:sp>
      <p:sp>
        <p:nvSpPr>
          <p:cNvPr id="32" name="Text 30"/>
          <p:cNvSpPr/>
          <p:nvPr/>
        </p:nvSpPr>
        <p:spPr>
          <a:xfrm>
            <a:off x="8549640" y="3849624"/>
            <a:ext cx="2651760" cy="457200"/>
          </a:xfrm>
          <a:prstGeom prst="rect">
            <a:avLst/>
          </a:prstGeom>
          <a:noFill/>
          <a:ln/>
        </p:spPr>
        <p:txBody>
          <a:bodyPr wrap="square" rtlCol="0" anchor="t"/>
          <a:lstStyle/>
          <a:p>
            <a:pPr indent="0" marL="0">
              <a:buNone/>
            </a:pPr>
            <a:r>
              <a:rPr lang="en-US" sz="1130" b="1" dirty="0">
                <a:solidFill>
                  <a:srgbClr val="13202B"/>
                </a:solidFill>
                <a:latin typeface="Calibri" pitchFamily="34" charset="0"/>
                <a:ea typeface="Calibri" pitchFamily="34" charset="-122"/>
                <a:cs typeface="Calibri" pitchFamily="34" charset="-120"/>
              </a:rPr>
              <a:t>Prefer fixed-width, checked arithmetic</a:t>
            </a:r>
            <a:endParaRPr lang="en-US" sz="1130" dirty="0"/>
          </a:p>
        </p:txBody>
      </p:sp>
      <p:sp>
        <p:nvSpPr>
          <p:cNvPr id="33" name="Text 31"/>
          <p:cNvSpPr/>
          <p:nvPr/>
        </p:nvSpPr>
        <p:spPr>
          <a:xfrm>
            <a:off x="8046720" y="4416552"/>
            <a:ext cx="3154680" cy="118872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Watch for overflow in size calculations, especially before malloc() — use safe-add helpers or wider types.</a:t>
            </a:r>
            <a:endParaRPr lang="en-US" sz="980" dirty="0"/>
          </a:p>
        </p:txBody>
      </p:sp>
      <p:sp>
        <p:nvSpPr>
          <p:cNvPr id="34" name="Text 3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15</a:t>
            </a:r>
            <a:endParaRPr lang="en-US" sz="1000" dirty="0"/>
          </a:p>
        </p:txBody>
      </p:sp>
      <p:sp>
        <p:nvSpPr>
          <p:cNvPr id="35" name="Text 33"/>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Layer Two: Compiler &amp; OS Mitigations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You don't have to rely on perfect code — the toolchain adds safety nets</a:t>
            </a:r>
            <a:endParaRPr lang="en-US" sz="1250" dirty="0"/>
          </a:p>
        </p:txBody>
      </p:sp>
      <p:sp>
        <p:nvSpPr>
          <p:cNvPr id="4" name="Shape 2"/>
          <p:cNvSpPr/>
          <p:nvPr/>
        </p:nvSpPr>
        <p:spPr>
          <a:xfrm>
            <a:off x="5486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5" name="Shape 3"/>
          <p:cNvSpPr/>
          <p:nvPr/>
        </p:nvSpPr>
        <p:spPr>
          <a:xfrm>
            <a:off x="731520" y="1673352"/>
            <a:ext cx="3154680" cy="457200"/>
          </a:xfrm>
          <a:prstGeom prst="roundRect">
            <a:avLst>
              <a:gd name="adj" fmla="val 10000"/>
            </a:avLst>
          </a:prstGeom>
          <a:solidFill>
            <a:srgbClr val="5C6BC0"/>
          </a:solidFill>
          <a:ln/>
        </p:spPr>
      </p:sp>
      <p:sp>
        <p:nvSpPr>
          <p:cNvPr id="6" name="Text 4"/>
          <p:cNvSpPr/>
          <p:nvPr/>
        </p:nvSpPr>
        <p:spPr>
          <a:xfrm>
            <a:off x="731520" y="167335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Stack Canaries</a:t>
            </a:r>
            <a:endParaRPr lang="en-US" sz="1250" dirty="0"/>
          </a:p>
        </p:txBody>
      </p:sp>
      <p:sp>
        <p:nvSpPr>
          <p:cNvPr id="7" name="Text 5"/>
          <p:cNvSpPr/>
          <p:nvPr/>
        </p:nvSpPr>
        <p:spPr>
          <a:xfrm>
            <a:off x="731520" y="219456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-fstack-protector</a:t>
            </a:r>
            <a:endParaRPr lang="en-US" sz="930" dirty="0"/>
          </a:p>
        </p:txBody>
      </p:sp>
      <p:sp>
        <p:nvSpPr>
          <p:cNvPr id="8" name="Text 6"/>
          <p:cNvSpPr/>
          <p:nvPr/>
        </p:nvSpPr>
        <p:spPr>
          <a:xfrm>
            <a:off x="731520" y="246888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A secret value before the return address; corrupted on overflow, checked before returning.</a:t>
            </a:r>
            <a:endParaRPr lang="en-US" sz="980" dirty="0"/>
          </a:p>
        </p:txBody>
      </p:sp>
      <p:sp>
        <p:nvSpPr>
          <p:cNvPr id="9" name="Shape 7"/>
          <p:cNvSpPr/>
          <p:nvPr/>
        </p:nvSpPr>
        <p:spPr>
          <a:xfrm>
            <a:off x="42062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10" name="Shape 8"/>
          <p:cNvSpPr/>
          <p:nvPr/>
        </p:nvSpPr>
        <p:spPr>
          <a:xfrm>
            <a:off x="4389120" y="1673352"/>
            <a:ext cx="3154680" cy="457200"/>
          </a:xfrm>
          <a:prstGeom prst="roundRect">
            <a:avLst>
              <a:gd name="adj" fmla="val 10000"/>
            </a:avLst>
          </a:prstGeom>
          <a:solidFill>
            <a:srgbClr val="5C6BC0"/>
          </a:solidFill>
          <a:ln/>
        </p:spPr>
      </p:sp>
      <p:sp>
        <p:nvSpPr>
          <p:cNvPr id="11" name="Text 9"/>
          <p:cNvSpPr/>
          <p:nvPr/>
        </p:nvSpPr>
        <p:spPr>
          <a:xfrm>
            <a:off x="4389120" y="167335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ASLR</a:t>
            </a:r>
            <a:endParaRPr lang="en-US" sz="1250" dirty="0"/>
          </a:p>
        </p:txBody>
      </p:sp>
      <p:sp>
        <p:nvSpPr>
          <p:cNvPr id="12" name="Text 10"/>
          <p:cNvSpPr/>
          <p:nvPr/>
        </p:nvSpPr>
        <p:spPr>
          <a:xfrm>
            <a:off x="4389120" y="219456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kernel-level</a:t>
            </a:r>
            <a:endParaRPr lang="en-US" sz="930" dirty="0"/>
          </a:p>
        </p:txBody>
      </p:sp>
      <p:sp>
        <p:nvSpPr>
          <p:cNvPr id="13" name="Text 11"/>
          <p:cNvSpPr/>
          <p:nvPr/>
        </p:nvSpPr>
        <p:spPr>
          <a:xfrm>
            <a:off x="4389120" y="246888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Randomizes stack, heap, and library addresses each run — attackers can't hardcode addresses.</a:t>
            </a:r>
            <a:endParaRPr lang="en-US" sz="980" dirty="0"/>
          </a:p>
        </p:txBody>
      </p:sp>
      <p:sp>
        <p:nvSpPr>
          <p:cNvPr id="14" name="Shape 12"/>
          <p:cNvSpPr/>
          <p:nvPr/>
        </p:nvSpPr>
        <p:spPr>
          <a:xfrm>
            <a:off x="7863840" y="150876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15" name="Shape 13"/>
          <p:cNvSpPr/>
          <p:nvPr/>
        </p:nvSpPr>
        <p:spPr>
          <a:xfrm>
            <a:off x="8046720" y="1673352"/>
            <a:ext cx="3154680" cy="457200"/>
          </a:xfrm>
          <a:prstGeom prst="roundRect">
            <a:avLst>
              <a:gd name="adj" fmla="val 10000"/>
            </a:avLst>
          </a:prstGeom>
          <a:solidFill>
            <a:srgbClr val="5C6BC0"/>
          </a:solidFill>
          <a:ln/>
        </p:spPr>
      </p:sp>
      <p:sp>
        <p:nvSpPr>
          <p:cNvPr id="16" name="Text 14"/>
          <p:cNvSpPr/>
          <p:nvPr/>
        </p:nvSpPr>
        <p:spPr>
          <a:xfrm>
            <a:off x="8046720" y="167335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NX / DEP</a:t>
            </a:r>
            <a:endParaRPr lang="en-US" sz="1250" dirty="0"/>
          </a:p>
        </p:txBody>
      </p:sp>
      <p:sp>
        <p:nvSpPr>
          <p:cNvPr id="17" name="Text 15"/>
          <p:cNvSpPr/>
          <p:nvPr/>
        </p:nvSpPr>
        <p:spPr>
          <a:xfrm>
            <a:off x="8046720" y="219456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hardware + OS</a:t>
            </a:r>
            <a:endParaRPr lang="en-US" sz="930" dirty="0"/>
          </a:p>
        </p:txBody>
      </p:sp>
      <p:sp>
        <p:nvSpPr>
          <p:cNvPr id="18" name="Text 16"/>
          <p:cNvSpPr/>
          <p:nvPr/>
        </p:nvSpPr>
        <p:spPr>
          <a:xfrm>
            <a:off x="8046720" y="246888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Marks stack/heap memory non-executable — injected shellcode can't simply be jumped to.</a:t>
            </a:r>
            <a:endParaRPr lang="en-US" sz="980" dirty="0"/>
          </a:p>
        </p:txBody>
      </p:sp>
      <p:sp>
        <p:nvSpPr>
          <p:cNvPr id="19" name="Shape 17"/>
          <p:cNvSpPr/>
          <p:nvPr/>
        </p:nvSpPr>
        <p:spPr>
          <a:xfrm>
            <a:off x="5486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20" name="Shape 18"/>
          <p:cNvSpPr/>
          <p:nvPr/>
        </p:nvSpPr>
        <p:spPr>
          <a:xfrm>
            <a:off x="731520" y="3867912"/>
            <a:ext cx="3154680" cy="457200"/>
          </a:xfrm>
          <a:prstGeom prst="roundRect">
            <a:avLst>
              <a:gd name="adj" fmla="val 10000"/>
            </a:avLst>
          </a:prstGeom>
          <a:solidFill>
            <a:srgbClr val="5C6BC0"/>
          </a:solidFill>
          <a:ln/>
        </p:spPr>
      </p:sp>
      <p:sp>
        <p:nvSpPr>
          <p:cNvPr id="21" name="Text 19"/>
          <p:cNvSpPr/>
          <p:nvPr/>
        </p:nvSpPr>
        <p:spPr>
          <a:xfrm>
            <a:off x="731520" y="386791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PIE</a:t>
            </a:r>
            <a:endParaRPr lang="en-US" sz="1250" dirty="0"/>
          </a:p>
        </p:txBody>
      </p:sp>
      <p:sp>
        <p:nvSpPr>
          <p:cNvPr id="22" name="Text 20"/>
          <p:cNvSpPr/>
          <p:nvPr/>
        </p:nvSpPr>
        <p:spPr>
          <a:xfrm>
            <a:off x="731520" y="438912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-fPIE -pie</a:t>
            </a:r>
            <a:endParaRPr lang="en-US" sz="930" dirty="0"/>
          </a:p>
        </p:txBody>
      </p:sp>
      <p:sp>
        <p:nvSpPr>
          <p:cNvPr id="23" name="Text 21"/>
          <p:cNvSpPr/>
          <p:nvPr/>
        </p:nvSpPr>
        <p:spPr>
          <a:xfrm>
            <a:off x="731520" y="466344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Extends ASLR to the executable's own code — the binary itself loads at a random base.</a:t>
            </a:r>
            <a:endParaRPr lang="en-US" sz="980" dirty="0"/>
          </a:p>
        </p:txBody>
      </p:sp>
      <p:sp>
        <p:nvSpPr>
          <p:cNvPr id="24" name="Shape 22"/>
          <p:cNvSpPr/>
          <p:nvPr/>
        </p:nvSpPr>
        <p:spPr>
          <a:xfrm>
            <a:off x="42062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25" name="Shape 23"/>
          <p:cNvSpPr/>
          <p:nvPr/>
        </p:nvSpPr>
        <p:spPr>
          <a:xfrm>
            <a:off x="4389120" y="3867912"/>
            <a:ext cx="3154680" cy="457200"/>
          </a:xfrm>
          <a:prstGeom prst="roundRect">
            <a:avLst>
              <a:gd name="adj" fmla="val 10000"/>
            </a:avLst>
          </a:prstGeom>
          <a:solidFill>
            <a:srgbClr val="5C6BC0"/>
          </a:solidFill>
          <a:ln/>
        </p:spPr>
      </p:sp>
      <p:sp>
        <p:nvSpPr>
          <p:cNvPr id="26" name="Text 24"/>
          <p:cNvSpPr/>
          <p:nvPr/>
        </p:nvSpPr>
        <p:spPr>
          <a:xfrm>
            <a:off x="4389120" y="386791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RELRO</a:t>
            </a:r>
            <a:endParaRPr lang="en-US" sz="1250" dirty="0"/>
          </a:p>
        </p:txBody>
      </p:sp>
      <p:sp>
        <p:nvSpPr>
          <p:cNvPr id="27" name="Text 25"/>
          <p:cNvSpPr/>
          <p:nvPr/>
        </p:nvSpPr>
        <p:spPr>
          <a:xfrm>
            <a:off x="4389120" y="438912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-Wl,-z,relro,-z,now</a:t>
            </a:r>
            <a:endParaRPr lang="en-US" sz="930" dirty="0"/>
          </a:p>
        </p:txBody>
      </p:sp>
      <p:sp>
        <p:nvSpPr>
          <p:cNvPr id="28" name="Text 26"/>
          <p:cNvSpPr/>
          <p:nvPr/>
        </p:nvSpPr>
        <p:spPr>
          <a:xfrm>
            <a:off x="4389120" y="466344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Makes function-pointer tables read-only, blocking common GOT-overwrite techniques.</a:t>
            </a:r>
            <a:endParaRPr lang="en-US" sz="980" dirty="0"/>
          </a:p>
        </p:txBody>
      </p:sp>
      <p:sp>
        <p:nvSpPr>
          <p:cNvPr id="29" name="Shape 27"/>
          <p:cNvSpPr/>
          <p:nvPr/>
        </p:nvSpPr>
        <p:spPr>
          <a:xfrm>
            <a:off x="7863840" y="3703320"/>
            <a:ext cx="3520440" cy="2011680"/>
          </a:xfrm>
          <a:prstGeom prst="roundRect">
            <a:avLst>
              <a:gd name="adj" fmla="val 3636"/>
            </a:avLst>
          </a:prstGeom>
          <a:solidFill>
            <a:srgbClr val="FFFFFF"/>
          </a:solidFill>
          <a:ln/>
          <a:effectLst>
            <a:outerShdw sx="100000" sy="100000" kx="0" ky="0" algn="bl" rotWithShape="0" blurRad="76200" dist="25400" dir="5400000">
              <a:srgbClr val="1B2A41">
                <a:alpha val="14000"/>
              </a:srgbClr>
            </a:outerShdw>
          </a:effectLst>
        </p:spPr>
      </p:sp>
      <p:sp>
        <p:nvSpPr>
          <p:cNvPr id="30" name="Shape 28"/>
          <p:cNvSpPr/>
          <p:nvPr/>
        </p:nvSpPr>
        <p:spPr>
          <a:xfrm>
            <a:off x="8046720" y="3867912"/>
            <a:ext cx="3154680" cy="457200"/>
          </a:xfrm>
          <a:prstGeom prst="roundRect">
            <a:avLst>
              <a:gd name="adj" fmla="val 10000"/>
            </a:avLst>
          </a:prstGeom>
          <a:solidFill>
            <a:srgbClr val="5C6BC0"/>
          </a:solidFill>
          <a:ln/>
        </p:spPr>
      </p:sp>
      <p:sp>
        <p:nvSpPr>
          <p:cNvPr id="31" name="Text 29"/>
          <p:cNvSpPr/>
          <p:nvPr/>
        </p:nvSpPr>
        <p:spPr>
          <a:xfrm>
            <a:off x="8046720" y="3867912"/>
            <a:ext cx="315468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FORTIFY_SOURCE</a:t>
            </a:r>
            <a:endParaRPr lang="en-US" sz="1250" dirty="0"/>
          </a:p>
        </p:txBody>
      </p:sp>
      <p:sp>
        <p:nvSpPr>
          <p:cNvPr id="32" name="Text 30"/>
          <p:cNvSpPr/>
          <p:nvPr/>
        </p:nvSpPr>
        <p:spPr>
          <a:xfrm>
            <a:off x="8046720" y="4389120"/>
            <a:ext cx="3154680" cy="274320"/>
          </a:xfrm>
          <a:prstGeom prst="rect">
            <a:avLst/>
          </a:prstGeom>
          <a:noFill/>
          <a:ln/>
        </p:spPr>
        <p:txBody>
          <a:bodyPr wrap="square" rtlCol="0" anchor="ctr"/>
          <a:lstStyle/>
          <a:p>
            <a:pPr indent="0" marL="0">
              <a:buNone/>
            </a:pPr>
            <a:r>
              <a:rPr lang="en-US" sz="930" b="1" dirty="0">
                <a:solidFill>
                  <a:srgbClr val="5C6BC0"/>
                </a:solidFill>
                <a:latin typeface="Courier New" pitchFamily="34" charset="0"/>
                <a:ea typeface="Courier New" pitchFamily="34" charset="-122"/>
                <a:cs typeface="Courier New" pitchFamily="34" charset="-120"/>
              </a:rPr>
              <a:t>-D_FORTIFY_SOURCE=2</a:t>
            </a:r>
            <a:endParaRPr lang="en-US" sz="930" dirty="0"/>
          </a:p>
        </p:txBody>
      </p:sp>
      <p:sp>
        <p:nvSpPr>
          <p:cNvPr id="33" name="Text 31"/>
          <p:cNvSpPr/>
          <p:nvPr/>
        </p:nvSpPr>
        <p:spPr>
          <a:xfrm>
            <a:off x="8046720" y="4663440"/>
            <a:ext cx="3154680" cy="1005840"/>
          </a:xfrm>
          <a:prstGeom prst="rect">
            <a:avLst/>
          </a:prstGeom>
          <a:noFill/>
          <a:ln/>
        </p:spPr>
        <p:txBody>
          <a:bodyPr wrap="square" rtlCol="0" anchor="ctr"/>
          <a:lstStyle/>
          <a:p>
            <a:pPr indent="0" marL="0">
              <a:lnSpc>
                <a:spcPct val="120000"/>
              </a:lnSpc>
              <a:buNone/>
            </a:pPr>
            <a:r>
              <a:rPr lang="en-US" sz="980" dirty="0">
                <a:solidFill>
                  <a:srgbClr val="5A6B7A"/>
                </a:solidFill>
                <a:latin typeface="Calibri" pitchFamily="34" charset="0"/>
                <a:ea typeface="Calibri" pitchFamily="34" charset="-122"/>
                <a:cs typeface="Calibri" pitchFamily="34" charset="-120"/>
              </a:rPr>
              <a:t>Swaps risky calls for bounds-checked variants whenever the compiler can determine buffer size.</a:t>
            </a:r>
            <a:endParaRPr lang="en-US" sz="980" dirty="0"/>
          </a:p>
        </p:txBody>
      </p:sp>
      <p:sp>
        <p:nvSpPr>
          <p:cNvPr id="34" name="Text 3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16</a:t>
            </a:r>
            <a:endParaRPr lang="en-US" sz="1000" dirty="0"/>
          </a:p>
        </p:txBody>
      </p:sp>
      <p:sp>
        <p:nvSpPr>
          <p:cNvPr id="35" name="Text 33"/>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Layer Three: Catch Bugs Before Production</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Tools that find these exact bug classes automatically</a:t>
            </a:r>
            <a:endParaRPr lang="en-US" sz="1250" dirty="0"/>
          </a:p>
        </p:txBody>
      </p:sp>
      <p:sp>
        <p:nvSpPr>
          <p:cNvPr id="4" name="Shape 2"/>
          <p:cNvSpPr/>
          <p:nvPr/>
        </p:nvSpPr>
        <p:spPr>
          <a:xfrm>
            <a:off x="548640" y="1508760"/>
            <a:ext cx="2697480" cy="4206240"/>
          </a:xfrm>
          <a:prstGeom prst="roundRect">
            <a:avLst>
              <a:gd name="adj" fmla="val 2712"/>
            </a:avLst>
          </a:prstGeom>
          <a:solidFill>
            <a:srgbClr val="FFFFFF"/>
          </a:solidFill>
          <a:ln/>
          <a:effectLst>
            <a:outerShdw sx="100000" sy="100000" kx="0" ky="0" algn="bl" rotWithShape="0" blurRad="76200" dist="25400" dir="5400000">
              <a:srgbClr val="1B2A41">
                <a:alpha val="14000"/>
              </a:srgbClr>
            </a:outerShdw>
          </a:effectLst>
        </p:spPr>
      </p:sp>
      <p:sp>
        <p:nvSpPr>
          <p:cNvPr id="5" name="Text 3"/>
          <p:cNvSpPr/>
          <p:nvPr/>
        </p:nvSpPr>
        <p:spPr>
          <a:xfrm>
            <a:off x="731520" y="1691640"/>
            <a:ext cx="2331720" cy="640080"/>
          </a:xfrm>
          <a:prstGeom prst="rect">
            <a:avLst/>
          </a:prstGeom>
          <a:noFill/>
          <a:ln/>
        </p:spPr>
        <p:txBody>
          <a:bodyPr wrap="square" rtlCol="0" anchor="ctr"/>
          <a:lstStyle/>
          <a:p>
            <a:pPr indent="0" marL="0">
              <a:buNone/>
            </a:pPr>
            <a:r>
              <a:rPr lang="en-US" sz="1350" b="1" dirty="0">
                <a:solidFill>
                  <a:srgbClr val="5C6BC0"/>
                </a:solidFill>
                <a:latin typeface="Cambria" pitchFamily="34" charset="0"/>
                <a:ea typeface="Cambria" pitchFamily="34" charset="-122"/>
                <a:cs typeface="Cambria" pitchFamily="34" charset="-120"/>
              </a:rPr>
              <a:t>AddressSanitizer (ASan)</a:t>
            </a:r>
            <a:endParaRPr lang="en-US" sz="1350" dirty="0"/>
          </a:p>
        </p:txBody>
      </p:sp>
      <p:sp>
        <p:nvSpPr>
          <p:cNvPr id="6" name="Text 4"/>
          <p:cNvSpPr/>
          <p:nvPr/>
        </p:nvSpPr>
        <p:spPr>
          <a:xfrm>
            <a:off x="731520" y="2331720"/>
            <a:ext cx="2331720" cy="320040"/>
          </a:xfrm>
          <a:prstGeom prst="rect">
            <a:avLst/>
          </a:prstGeom>
          <a:noFill/>
          <a:ln/>
        </p:spPr>
        <p:txBody>
          <a:bodyPr wrap="square" rtlCol="0" anchor="ctr"/>
          <a:lstStyle/>
          <a:p>
            <a:pPr indent="0" marL="0">
              <a:buNone/>
            </a:pPr>
            <a:r>
              <a:rPr lang="en-US" sz="900" i="1" dirty="0">
                <a:solidFill>
                  <a:srgbClr val="13202B"/>
                </a:solidFill>
                <a:latin typeface="Courier New" pitchFamily="34" charset="0"/>
                <a:ea typeface="Courier New" pitchFamily="34" charset="-122"/>
                <a:cs typeface="Courier New" pitchFamily="34" charset="-120"/>
              </a:rPr>
              <a:t>-fsanitize=address</a:t>
            </a:r>
            <a:endParaRPr lang="en-US" sz="900" dirty="0"/>
          </a:p>
        </p:txBody>
      </p:sp>
      <p:sp>
        <p:nvSpPr>
          <p:cNvPr id="7" name="Text 5"/>
          <p:cNvSpPr/>
          <p:nvPr/>
        </p:nvSpPr>
        <p:spPr>
          <a:xfrm>
            <a:off x="731520" y="2743200"/>
            <a:ext cx="2331720" cy="2834640"/>
          </a:xfrm>
          <a:prstGeom prst="rect">
            <a:avLst/>
          </a:prstGeom>
          <a:noFill/>
          <a:ln/>
        </p:spPr>
        <p:txBody>
          <a:bodyPr wrap="square" rtlCol="0" anchor="ctr"/>
          <a:lstStyle/>
          <a:p>
            <a:pPr indent="0" marL="0">
              <a:lnSpc>
                <a:spcPct val="125000"/>
              </a:lnSpc>
              <a:buNone/>
            </a:pPr>
            <a:r>
              <a:rPr lang="en-US" sz="1030" dirty="0">
                <a:solidFill>
                  <a:srgbClr val="5A6B7A"/>
                </a:solidFill>
                <a:latin typeface="Calibri" pitchFamily="34" charset="0"/>
                <a:ea typeface="Calibri" pitchFamily="34" charset="-122"/>
                <a:cs typeface="Calibri" pitchFamily="34" charset="-120"/>
              </a:rPr>
              <a:t>Catches overflows, UAF, and double-free at the exact line they occur — fast enough to run in CI.</a:t>
            </a:r>
            <a:endParaRPr lang="en-US" sz="1030" dirty="0"/>
          </a:p>
        </p:txBody>
      </p:sp>
      <p:sp>
        <p:nvSpPr>
          <p:cNvPr id="8" name="Shape 6"/>
          <p:cNvSpPr/>
          <p:nvPr/>
        </p:nvSpPr>
        <p:spPr>
          <a:xfrm>
            <a:off x="3410712" y="1508760"/>
            <a:ext cx="2697480" cy="4206240"/>
          </a:xfrm>
          <a:prstGeom prst="roundRect">
            <a:avLst>
              <a:gd name="adj" fmla="val 2712"/>
            </a:avLst>
          </a:prstGeom>
          <a:solidFill>
            <a:srgbClr val="FFFFFF"/>
          </a:solidFill>
          <a:ln/>
          <a:effectLst>
            <a:outerShdw sx="100000" sy="100000" kx="0" ky="0" algn="bl" rotWithShape="0" blurRad="76200" dist="25400" dir="5400000">
              <a:srgbClr val="1B2A41">
                <a:alpha val="14000"/>
              </a:srgbClr>
            </a:outerShdw>
          </a:effectLst>
        </p:spPr>
      </p:sp>
      <p:sp>
        <p:nvSpPr>
          <p:cNvPr id="9" name="Text 7"/>
          <p:cNvSpPr/>
          <p:nvPr/>
        </p:nvSpPr>
        <p:spPr>
          <a:xfrm>
            <a:off x="3593592" y="1691640"/>
            <a:ext cx="2331720" cy="640080"/>
          </a:xfrm>
          <a:prstGeom prst="rect">
            <a:avLst/>
          </a:prstGeom>
          <a:noFill/>
          <a:ln/>
        </p:spPr>
        <p:txBody>
          <a:bodyPr wrap="square" rtlCol="0" anchor="ctr"/>
          <a:lstStyle/>
          <a:p>
            <a:pPr indent="0" marL="0">
              <a:buNone/>
            </a:pPr>
            <a:r>
              <a:rPr lang="en-US" sz="1350" b="1" dirty="0">
                <a:solidFill>
                  <a:srgbClr val="5C6BC0"/>
                </a:solidFill>
                <a:latin typeface="Cambria" pitchFamily="34" charset="0"/>
                <a:ea typeface="Cambria" pitchFamily="34" charset="-122"/>
                <a:cs typeface="Cambria" pitchFamily="34" charset="-120"/>
              </a:rPr>
              <a:t>Valgrind</a:t>
            </a:r>
            <a:endParaRPr lang="en-US" sz="1350" dirty="0"/>
          </a:p>
        </p:txBody>
      </p:sp>
      <p:sp>
        <p:nvSpPr>
          <p:cNvPr id="10" name="Text 8"/>
          <p:cNvSpPr/>
          <p:nvPr/>
        </p:nvSpPr>
        <p:spPr>
          <a:xfrm>
            <a:off x="3593592" y="2331720"/>
            <a:ext cx="2331720" cy="320040"/>
          </a:xfrm>
          <a:prstGeom prst="rect">
            <a:avLst/>
          </a:prstGeom>
          <a:noFill/>
          <a:ln/>
        </p:spPr>
        <p:txBody>
          <a:bodyPr wrap="square" rtlCol="0" anchor="ctr"/>
          <a:lstStyle/>
          <a:p>
            <a:pPr indent="0" marL="0">
              <a:buNone/>
            </a:pPr>
            <a:r>
              <a:rPr lang="en-US" sz="900" i="1" dirty="0">
                <a:solidFill>
                  <a:srgbClr val="13202B"/>
                </a:solidFill>
                <a:latin typeface="Courier New" pitchFamily="34" charset="0"/>
                <a:ea typeface="Courier New" pitchFamily="34" charset="-122"/>
                <a:cs typeface="Courier New" pitchFamily="34" charset="-120"/>
              </a:rPr>
              <a:t>runtime instrumentation</a:t>
            </a:r>
            <a:endParaRPr lang="en-US" sz="900" dirty="0"/>
          </a:p>
        </p:txBody>
      </p:sp>
      <p:sp>
        <p:nvSpPr>
          <p:cNvPr id="11" name="Text 9"/>
          <p:cNvSpPr/>
          <p:nvPr/>
        </p:nvSpPr>
        <p:spPr>
          <a:xfrm>
            <a:off x="3593592" y="2743200"/>
            <a:ext cx="2331720" cy="2834640"/>
          </a:xfrm>
          <a:prstGeom prst="rect">
            <a:avLst/>
          </a:prstGeom>
          <a:noFill/>
          <a:ln/>
        </p:spPr>
        <p:txBody>
          <a:bodyPr wrap="square" rtlCol="0" anchor="ctr"/>
          <a:lstStyle/>
          <a:p>
            <a:pPr indent="0" marL="0">
              <a:lnSpc>
                <a:spcPct val="125000"/>
              </a:lnSpc>
              <a:buNone/>
            </a:pPr>
            <a:r>
              <a:rPr lang="en-US" sz="1030" dirty="0">
                <a:solidFill>
                  <a:srgbClr val="5A6B7A"/>
                </a:solidFill>
                <a:latin typeface="Calibri" pitchFamily="34" charset="0"/>
                <a:ea typeface="Calibri" pitchFamily="34" charset="-122"/>
                <a:cs typeface="Calibri" pitchFamily="34" charset="-120"/>
              </a:rPr>
              <a:t>Detects leaks and invalid memory access by running the program in a monitored virtual CPU.</a:t>
            </a:r>
            <a:endParaRPr lang="en-US" sz="1030" dirty="0"/>
          </a:p>
        </p:txBody>
      </p:sp>
      <p:sp>
        <p:nvSpPr>
          <p:cNvPr id="12" name="Shape 10"/>
          <p:cNvSpPr/>
          <p:nvPr/>
        </p:nvSpPr>
        <p:spPr>
          <a:xfrm>
            <a:off x="6272784" y="1508760"/>
            <a:ext cx="2697480" cy="4206240"/>
          </a:xfrm>
          <a:prstGeom prst="roundRect">
            <a:avLst>
              <a:gd name="adj" fmla="val 2712"/>
            </a:avLst>
          </a:prstGeom>
          <a:solidFill>
            <a:srgbClr val="FFFFFF"/>
          </a:solidFill>
          <a:ln/>
          <a:effectLst>
            <a:outerShdw sx="100000" sy="100000" kx="0" ky="0" algn="bl" rotWithShape="0" blurRad="76200" dist="25400" dir="5400000">
              <a:srgbClr val="1B2A41">
                <a:alpha val="14000"/>
              </a:srgbClr>
            </a:outerShdw>
          </a:effectLst>
        </p:spPr>
      </p:sp>
      <p:sp>
        <p:nvSpPr>
          <p:cNvPr id="13" name="Text 11"/>
          <p:cNvSpPr/>
          <p:nvPr/>
        </p:nvSpPr>
        <p:spPr>
          <a:xfrm>
            <a:off x="6455664" y="1691640"/>
            <a:ext cx="2331720" cy="640080"/>
          </a:xfrm>
          <a:prstGeom prst="rect">
            <a:avLst/>
          </a:prstGeom>
          <a:noFill/>
          <a:ln/>
        </p:spPr>
        <p:txBody>
          <a:bodyPr wrap="square" rtlCol="0" anchor="ctr"/>
          <a:lstStyle/>
          <a:p>
            <a:pPr indent="0" marL="0">
              <a:buNone/>
            </a:pPr>
            <a:r>
              <a:rPr lang="en-US" sz="1350" b="1" dirty="0">
                <a:solidFill>
                  <a:srgbClr val="5C6BC0"/>
                </a:solidFill>
                <a:latin typeface="Cambria" pitchFamily="34" charset="0"/>
                <a:ea typeface="Cambria" pitchFamily="34" charset="-122"/>
                <a:cs typeface="Cambria" pitchFamily="34" charset="-120"/>
              </a:rPr>
              <a:t>Static analyzers</a:t>
            </a:r>
            <a:endParaRPr lang="en-US" sz="1350" dirty="0"/>
          </a:p>
        </p:txBody>
      </p:sp>
      <p:sp>
        <p:nvSpPr>
          <p:cNvPr id="14" name="Text 12"/>
          <p:cNvSpPr/>
          <p:nvPr/>
        </p:nvSpPr>
        <p:spPr>
          <a:xfrm>
            <a:off x="6455664" y="2331720"/>
            <a:ext cx="2331720" cy="320040"/>
          </a:xfrm>
          <a:prstGeom prst="rect">
            <a:avLst/>
          </a:prstGeom>
          <a:noFill/>
          <a:ln/>
        </p:spPr>
        <p:txBody>
          <a:bodyPr wrap="square" rtlCol="0" anchor="ctr"/>
          <a:lstStyle/>
          <a:p>
            <a:pPr indent="0" marL="0">
              <a:buNone/>
            </a:pPr>
            <a:r>
              <a:rPr lang="en-US" sz="900" i="1" dirty="0">
                <a:solidFill>
                  <a:srgbClr val="13202B"/>
                </a:solidFill>
                <a:latin typeface="Courier New" pitchFamily="34" charset="0"/>
                <a:ea typeface="Courier New" pitchFamily="34" charset="-122"/>
                <a:cs typeface="Courier New" pitchFamily="34" charset="-120"/>
              </a:rPr>
              <a:t>clang-tidy, Coverity, cppcheck</a:t>
            </a:r>
            <a:endParaRPr lang="en-US" sz="900" dirty="0"/>
          </a:p>
        </p:txBody>
      </p:sp>
      <p:sp>
        <p:nvSpPr>
          <p:cNvPr id="15" name="Text 13"/>
          <p:cNvSpPr/>
          <p:nvPr/>
        </p:nvSpPr>
        <p:spPr>
          <a:xfrm>
            <a:off x="6455664" y="2743200"/>
            <a:ext cx="2331720" cy="2834640"/>
          </a:xfrm>
          <a:prstGeom prst="rect">
            <a:avLst/>
          </a:prstGeom>
          <a:noFill/>
          <a:ln/>
        </p:spPr>
        <p:txBody>
          <a:bodyPr wrap="square" rtlCol="0" anchor="ctr"/>
          <a:lstStyle/>
          <a:p>
            <a:pPr indent="0" marL="0">
              <a:lnSpc>
                <a:spcPct val="125000"/>
              </a:lnSpc>
              <a:buNone/>
            </a:pPr>
            <a:r>
              <a:rPr lang="en-US" sz="1030" dirty="0">
                <a:solidFill>
                  <a:srgbClr val="5A6B7A"/>
                </a:solidFill>
                <a:latin typeface="Calibri" pitchFamily="34" charset="0"/>
                <a:ea typeface="Calibri" pitchFamily="34" charset="-122"/>
                <a:cs typeface="Calibri" pitchFamily="34" charset="-120"/>
              </a:rPr>
              <a:t>Flag risky patterns — unchecked strcpy, unvalidated lengths — without ever running the code.</a:t>
            </a:r>
            <a:endParaRPr lang="en-US" sz="1030" dirty="0"/>
          </a:p>
        </p:txBody>
      </p:sp>
      <p:sp>
        <p:nvSpPr>
          <p:cNvPr id="16" name="Shape 14"/>
          <p:cNvSpPr/>
          <p:nvPr/>
        </p:nvSpPr>
        <p:spPr>
          <a:xfrm>
            <a:off x="9134856" y="1508760"/>
            <a:ext cx="2697480" cy="4206240"/>
          </a:xfrm>
          <a:prstGeom prst="roundRect">
            <a:avLst>
              <a:gd name="adj" fmla="val 2712"/>
            </a:avLst>
          </a:prstGeom>
          <a:solidFill>
            <a:srgbClr val="FFFFFF"/>
          </a:solidFill>
          <a:ln/>
          <a:effectLst>
            <a:outerShdw sx="100000" sy="100000" kx="0" ky="0" algn="bl" rotWithShape="0" blurRad="76200" dist="25400" dir="5400000">
              <a:srgbClr val="1B2A41">
                <a:alpha val="14000"/>
              </a:srgbClr>
            </a:outerShdw>
          </a:effectLst>
        </p:spPr>
      </p:sp>
      <p:sp>
        <p:nvSpPr>
          <p:cNvPr id="17" name="Text 15"/>
          <p:cNvSpPr/>
          <p:nvPr/>
        </p:nvSpPr>
        <p:spPr>
          <a:xfrm>
            <a:off x="9317736" y="1691640"/>
            <a:ext cx="2331720" cy="640080"/>
          </a:xfrm>
          <a:prstGeom prst="rect">
            <a:avLst/>
          </a:prstGeom>
          <a:noFill/>
          <a:ln/>
        </p:spPr>
        <p:txBody>
          <a:bodyPr wrap="square" rtlCol="0" anchor="ctr"/>
          <a:lstStyle/>
          <a:p>
            <a:pPr indent="0" marL="0">
              <a:buNone/>
            </a:pPr>
            <a:r>
              <a:rPr lang="en-US" sz="1350" b="1" dirty="0">
                <a:solidFill>
                  <a:srgbClr val="5C6BC0"/>
                </a:solidFill>
                <a:latin typeface="Cambria" pitchFamily="34" charset="0"/>
                <a:ea typeface="Cambria" pitchFamily="34" charset="-122"/>
                <a:cs typeface="Cambria" pitchFamily="34" charset="-120"/>
              </a:rPr>
              <a:t>Fuzzing</a:t>
            </a:r>
            <a:endParaRPr lang="en-US" sz="1350" dirty="0"/>
          </a:p>
        </p:txBody>
      </p:sp>
      <p:sp>
        <p:nvSpPr>
          <p:cNvPr id="18" name="Text 16"/>
          <p:cNvSpPr/>
          <p:nvPr/>
        </p:nvSpPr>
        <p:spPr>
          <a:xfrm>
            <a:off x="9317736" y="2331720"/>
            <a:ext cx="2331720" cy="320040"/>
          </a:xfrm>
          <a:prstGeom prst="rect">
            <a:avLst/>
          </a:prstGeom>
          <a:noFill/>
          <a:ln/>
        </p:spPr>
        <p:txBody>
          <a:bodyPr wrap="square" rtlCol="0" anchor="ctr"/>
          <a:lstStyle/>
          <a:p>
            <a:pPr indent="0" marL="0">
              <a:buNone/>
            </a:pPr>
            <a:r>
              <a:rPr lang="en-US" sz="900" i="1" dirty="0">
                <a:solidFill>
                  <a:srgbClr val="13202B"/>
                </a:solidFill>
                <a:latin typeface="Courier New" pitchFamily="34" charset="0"/>
                <a:ea typeface="Courier New" pitchFamily="34" charset="-122"/>
                <a:cs typeface="Courier New" pitchFamily="34" charset="-120"/>
              </a:rPr>
              <a:t>AFL++, libFuzzer</a:t>
            </a:r>
            <a:endParaRPr lang="en-US" sz="900" dirty="0"/>
          </a:p>
        </p:txBody>
      </p:sp>
      <p:sp>
        <p:nvSpPr>
          <p:cNvPr id="19" name="Text 17"/>
          <p:cNvSpPr/>
          <p:nvPr/>
        </p:nvSpPr>
        <p:spPr>
          <a:xfrm>
            <a:off x="9317736" y="2743200"/>
            <a:ext cx="2331720" cy="2834640"/>
          </a:xfrm>
          <a:prstGeom prst="rect">
            <a:avLst/>
          </a:prstGeom>
          <a:noFill/>
          <a:ln/>
        </p:spPr>
        <p:txBody>
          <a:bodyPr wrap="square" rtlCol="0" anchor="ctr"/>
          <a:lstStyle/>
          <a:p>
            <a:pPr indent="0" marL="0">
              <a:lnSpc>
                <a:spcPct val="125000"/>
              </a:lnSpc>
              <a:buNone/>
            </a:pPr>
            <a:r>
              <a:rPr lang="en-US" sz="1030" dirty="0">
                <a:solidFill>
                  <a:srgbClr val="5A6B7A"/>
                </a:solidFill>
                <a:latin typeface="Calibri" pitchFamily="34" charset="0"/>
                <a:ea typeface="Calibri" pitchFamily="34" charset="-122"/>
                <a:cs typeface="Calibri" pitchFamily="34" charset="-120"/>
              </a:rPr>
              <a:t>Throws millions of malformed inputs at a program to surface crashes a human wouldn't think to try.</a:t>
            </a:r>
            <a:endParaRPr lang="en-US" sz="1030" dirty="0"/>
          </a:p>
        </p:txBody>
      </p:sp>
      <p:sp>
        <p:nvSpPr>
          <p:cNvPr id="20"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17</a:t>
            </a:r>
            <a:endParaRPr lang="en-US" sz="1000" dirty="0"/>
          </a:p>
        </p:txBody>
      </p:sp>
      <p:sp>
        <p:nvSpPr>
          <p:cNvPr id="21" name="Text 19"/>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Layer Four: Memory-Safe Languages</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The most durable fix — make entire bug classes impossible to compile</a:t>
            </a:r>
            <a:endParaRPr lang="en-US" sz="1250" dirty="0"/>
          </a:p>
        </p:txBody>
      </p:sp>
      <p:sp>
        <p:nvSpPr>
          <p:cNvPr id="4" name="Shape 2"/>
          <p:cNvSpPr/>
          <p:nvPr/>
        </p:nvSpPr>
        <p:spPr>
          <a:xfrm>
            <a:off x="548640" y="1463040"/>
            <a:ext cx="5440680" cy="4709160"/>
          </a:xfrm>
          <a:prstGeom prst="roundRect">
            <a:avLst>
              <a:gd name="adj" fmla="val 1553"/>
            </a:avLst>
          </a:prstGeom>
          <a:solidFill>
            <a:srgbClr val="FFFFFF"/>
          </a:solidFill>
          <a:ln/>
          <a:effectLst>
            <a:outerShdw sx="100000" sy="100000" kx="0" ky="0" algn="bl" rotWithShape="0" blurRad="76200" dist="25400" dir="5400000">
              <a:srgbClr val="1B2A41">
                <a:alpha val="14000"/>
              </a:srgbClr>
            </a:outerShdw>
          </a:effectLst>
        </p:spPr>
      </p:sp>
      <p:sp>
        <p:nvSpPr>
          <p:cNvPr id="5" name="Shape 3"/>
          <p:cNvSpPr/>
          <p:nvPr/>
        </p:nvSpPr>
        <p:spPr>
          <a:xfrm>
            <a:off x="822960" y="1645920"/>
            <a:ext cx="548640" cy="548640"/>
          </a:xfrm>
          <a:prstGeom prst="ellipse">
            <a:avLst/>
          </a:prstGeom>
          <a:solidFill>
            <a:srgbClr val="CE5734"/>
          </a:solidFill>
          <a:ln/>
        </p:spPr>
      </p:sp>
      <p:sp>
        <p:nvSpPr>
          <p:cNvPr id="6" name="Text 4"/>
          <p:cNvSpPr/>
          <p:nvPr/>
        </p:nvSpPr>
        <p:spPr>
          <a:xfrm>
            <a:off x="822960" y="16459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7" name="Text 5"/>
          <p:cNvSpPr/>
          <p:nvPr/>
        </p:nvSpPr>
        <p:spPr>
          <a:xfrm>
            <a:off x="1554480" y="1737360"/>
            <a:ext cx="4206240" cy="457200"/>
          </a:xfrm>
          <a:prstGeom prst="rect">
            <a:avLst/>
          </a:prstGeom>
          <a:noFill/>
          <a:ln/>
        </p:spPr>
        <p:txBody>
          <a:bodyPr wrap="square" rtlCol="0" anchor="ctr"/>
          <a:lstStyle/>
          <a:p>
            <a:pPr indent="0" marL="0">
              <a:buNone/>
            </a:pPr>
            <a:r>
              <a:rPr lang="en-US" sz="1800" b="1" dirty="0">
                <a:solidFill>
                  <a:srgbClr val="13202B"/>
                </a:solidFill>
                <a:latin typeface="Cambria" pitchFamily="34" charset="0"/>
                <a:ea typeface="Cambria" pitchFamily="34" charset="-122"/>
                <a:cs typeface="Cambria" pitchFamily="34" charset="-120"/>
              </a:rPr>
              <a:t>Rust's approach</a:t>
            </a:r>
            <a:endParaRPr lang="en-US" sz="1800" dirty="0"/>
          </a:p>
        </p:txBody>
      </p:sp>
      <p:sp>
        <p:nvSpPr>
          <p:cNvPr id="8" name="Text 6"/>
          <p:cNvSpPr/>
          <p:nvPr/>
        </p:nvSpPr>
        <p:spPr>
          <a:xfrm>
            <a:off x="822960" y="2331720"/>
            <a:ext cx="4937760" cy="3749040"/>
          </a:xfrm>
          <a:prstGeom prst="rect">
            <a:avLst/>
          </a:prstGeom>
          <a:noFill/>
          <a:ln/>
        </p:spPr>
        <p:txBody>
          <a:bodyPr wrap="square" rtlCol="0" anchor="ctr"/>
          <a:lstStyle/>
          <a:p>
            <a:pPr indent="0" marL="0">
              <a:lnSpc>
                <a:spcPct val="120000"/>
              </a:lnSpc>
              <a:buNone/>
            </a:pPr>
            <a:r>
              <a:rPr lang="en-US" sz="1130" b="1" dirty="0">
                <a:solidFill>
                  <a:srgbClr val="13202B"/>
                </a:solidFill>
                <a:latin typeface="Calibri" pitchFamily="34" charset="0"/>
                <a:ea typeface="Calibri" pitchFamily="34" charset="-122"/>
                <a:cs typeface="Calibri" pitchFamily="34" charset="-120"/>
              </a:rPr>
              <a:t>Ownership
</a:t>
            </a:r>
            <a:endParaRPr lang="en-US" sz="1130" dirty="0"/>
          </a:p>
          <a:p>
            <a:pPr indent="0" marL="0">
              <a:lnSpc>
                <a:spcPct val="120000"/>
              </a:lnSpc>
              <a:buNone/>
            </a:pPr>
            <a:r>
              <a:rPr lang="en-US" sz="1130" dirty="0">
                <a:solidFill>
                  <a:srgbClr val="5A6B7A"/>
                </a:solidFill>
                <a:latin typeface="Calibri" pitchFamily="34" charset="0"/>
                <a:ea typeface="Calibri" pitchFamily="34" charset="-122"/>
                <a:cs typeface="Calibri" pitchFamily="34" charset="-120"/>
              </a:rPr>
              <a:t>Every value has exactly one owner. When the owner goes out of scope, the value is freed automatically — and only once.
</a:t>
            </a:r>
            <a:endParaRPr lang="en-US" sz="1130" dirty="0"/>
          </a:p>
          <a:p>
            <a:pPr indent="0" marL="0">
              <a:lnSpc>
                <a:spcPct val="120000"/>
              </a:lnSpc>
              <a:buNone/>
            </a:pPr>
            <a:r>
              <a:rPr lang="en-US" sz="1130" b="1" dirty="0">
                <a:solidFill>
                  <a:srgbClr val="13202B"/>
                </a:solidFill>
                <a:latin typeface="Calibri" pitchFamily="34" charset="0"/>
                <a:ea typeface="Calibri" pitchFamily="34" charset="-122"/>
                <a:cs typeface="Calibri" pitchFamily="34" charset="-120"/>
              </a:rPr>
              <a:t>Borrowing &amp; lifetimes
</a:t>
            </a:r>
            <a:endParaRPr lang="en-US" sz="1130" dirty="0"/>
          </a:p>
          <a:p>
            <a:pPr indent="0" marL="0">
              <a:lnSpc>
                <a:spcPct val="120000"/>
              </a:lnSpc>
              <a:buNone/>
            </a:pPr>
            <a:r>
              <a:rPr lang="en-US" sz="1130" dirty="0">
                <a:solidFill>
                  <a:srgbClr val="5A6B7A"/>
                </a:solidFill>
                <a:latin typeface="Calibri" pitchFamily="34" charset="0"/>
                <a:ea typeface="Calibri" pitchFamily="34" charset="-122"/>
                <a:cs typeface="Calibri" pitchFamily="34" charset="-120"/>
              </a:rPr>
              <a:t>The compiler tracks how long every reference is valid. Using a reference after its data is freed fails to compile — use-after-free becomes a compile error.
</a:t>
            </a:r>
            <a:endParaRPr lang="en-US" sz="1130" dirty="0"/>
          </a:p>
          <a:p>
            <a:pPr indent="0" marL="0">
              <a:lnSpc>
                <a:spcPct val="120000"/>
              </a:lnSpc>
              <a:buNone/>
            </a:pPr>
            <a:r>
              <a:rPr lang="en-US" sz="1130" b="1" dirty="0">
                <a:solidFill>
                  <a:srgbClr val="13202B"/>
                </a:solidFill>
                <a:latin typeface="Calibri" pitchFamily="34" charset="0"/>
                <a:ea typeface="Calibri" pitchFamily="34" charset="-122"/>
                <a:cs typeface="Calibri" pitchFamily="34" charset="-120"/>
              </a:rPr>
              <a:t>Bounds-checked by default
</a:t>
            </a:r>
            <a:endParaRPr lang="en-US" sz="1130" dirty="0"/>
          </a:p>
          <a:p>
            <a:pPr indent="0" marL="0">
              <a:lnSpc>
                <a:spcPct val="120000"/>
              </a:lnSpc>
              <a:buNone/>
            </a:pPr>
            <a:r>
              <a:rPr lang="en-US" sz="1130" dirty="0">
                <a:solidFill>
                  <a:srgbClr val="5A6B7A"/>
                </a:solidFill>
                <a:latin typeface="Calibri" pitchFamily="34" charset="0"/>
                <a:ea typeface="Calibri" pitchFamily="34" charset="-122"/>
                <a:cs typeface="Calibri" pitchFamily="34" charset="-120"/>
              </a:rPr>
              <a:t>Array indexing panics safely on out-of-range access instead of silently corrupting adjacent memory.</a:t>
            </a:r>
            <a:endParaRPr lang="en-US" sz="1130" dirty="0"/>
          </a:p>
        </p:txBody>
      </p:sp>
      <p:sp>
        <p:nvSpPr>
          <p:cNvPr id="9" name="Shape 7"/>
          <p:cNvSpPr/>
          <p:nvPr/>
        </p:nvSpPr>
        <p:spPr>
          <a:xfrm>
            <a:off x="6172200" y="1463040"/>
            <a:ext cx="5440680" cy="4709160"/>
          </a:xfrm>
          <a:prstGeom prst="roundRect">
            <a:avLst>
              <a:gd name="adj" fmla="val 1553"/>
            </a:avLst>
          </a:prstGeom>
          <a:solidFill>
            <a:srgbClr val="0D1522"/>
          </a:solidFill>
          <a:ln/>
        </p:spPr>
      </p:sp>
      <p:sp>
        <p:nvSpPr>
          <p:cNvPr id="10" name="Text 8"/>
          <p:cNvSpPr/>
          <p:nvPr/>
        </p:nvSpPr>
        <p:spPr>
          <a:xfrm>
            <a:off x="6446520" y="1645920"/>
            <a:ext cx="4846320" cy="365760"/>
          </a:xfrm>
          <a:prstGeom prst="rect">
            <a:avLst/>
          </a:prstGeom>
          <a:noFill/>
          <a:ln/>
        </p:spPr>
        <p:txBody>
          <a:bodyPr wrap="square" rtlCol="0" anchor="ctr"/>
          <a:lstStyle/>
          <a:p>
            <a:pPr indent="0" marL="0">
              <a:buNone/>
            </a:pPr>
            <a:r>
              <a:rPr lang="en-US" sz="1100" i="1" dirty="0">
                <a:solidFill>
                  <a:srgbClr val="6B84A0"/>
                </a:solidFill>
                <a:latin typeface="Calibri" pitchFamily="34" charset="0"/>
                <a:ea typeface="Calibri" pitchFamily="34" charset="-122"/>
                <a:cs typeface="Calibri" pitchFamily="34" charset="-120"/>
              </a:rPr>
              <a:t>uaf.rs — the same bug, refused at compile time</a:t>
            </a:r>
            <a:endParaRPr lang="en-US" sz="1100" dirty="0"/>
          </a:p>
        </p:txBody>
      </p:sp>
      <p:sp>
        <p:nvSpPr>
          <p:cNvPr id="11" name="Text 9"/>
          <p:cNvSpPr/>
          <p:nvPr/>
        </p:nvSpPr>
        <p:spPr>
          <a:xfrm>
            <a:off x="6446520" y="2103120"/>
            <a:ext cx="4937760" cy="2011680"/>
          </a:xfrm>
          <a:prstGeom prst="rect">
            <a:avLst/>
          </a:prstGeom>
          <a:noFill/>
          <a:ln/>
        </p:spPr>
        <p:txBody>
          <a:bodyPr wrap="square" rtlCol="0" anchor="t"/>
          <a:lstStyle/>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fn main() {</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let s = String::from("secret");</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drop(s);          // s is freed here</a:t>
            </a:r>
            <a:endParaRPr lang="en-US" sz="1100" dirty="0"/>
          </a:p>
          <a:p>
            <a:pPr indent="0" marL="0">
              <a:lnSpc>
                <a:spcPct val="120000"/>
              </a:lnSpc>
              <a:buNone/>
            </a:pP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println!("{}", s);</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 error[E0382]: borrow of moved</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 value: `s`</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 this program does NOT compile —</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    // the use-after-free never ships</a:t>
            </a:r>
            <a:endParaRPr lang="en-US" sz="1100" dirty="0"/>
          </a:p>
          <a:p>
            <a:pPr indent="0" marL="0">
              <a:lnSpc>
                <a:spcPct val="120000"/>
              </a:lnSpc>
              <a:buNone/>
            </a:pPr>
            <a:r>
              <a:rPr lang="en-US" sz="1100" dirty="0">
                <a:solidFill>
                  <a:srgbClr val="D7F5EA"/>
                </a:solidFill>
                <a:latin typeface="Courier New" pitchFamily="34" charset="0"/>
                <a:ea typeface="Courier New" pitchFamily="34" charset="-122"/>
                <a:cs typeface="Courier New" pitchFamily="34" charset="-120"/>
              </a:rPr>
              <a:t>}</a:t>
            </a:r>
            <a:endParaRPr lang="en-US" sz="1100" dirty="0"/>
          </a:p>
        </p:txBody>
      </p:sp>
      <p:sp>
        <p:nvSpPr>
          <p:cNvPr id="12" name="Text 10"/>
          <p:cNvSpPr/>
          <p:nvPr/>
        </p:nvSpPr>
        <p:spPr>
          <a:xfrm>
            <a:off x="6446520" y="4389120"/>
            <a:ext cx="4937760" cy="1645920"/>
          </a:xfrm>
          <a:prstGeom prst="rect">
            <a:avLst/>
          </a:prstGeom>
          <a:noFill/>
          <a:ln/>
        </p:spPr>
        <p:txBody>
          <a:bodyPr wrap="square" rtlCol="0" anchor="ctr"/>
          <a:lstStyle/>
          <a:p>
            <a:pPr indent="0" marL="0">
              <a:lnSpc>
                <a:spcPct val="130000"/>
              </a:lnSpc>
              <a:buNone/>
            </a:pPr>
            <a:r>
              <a:rPr lang="en-US" sz="1100" i="1" dirty="0">
                <a:solidFill>
                  <a:srgbClr val="CBDCEC"/>
                </a:solidFill>
                <a:latin typeface="Calibri" pitchFamily="34" charset="0"/>
                <a:ea typeface="Calibri" pitchFamily="34" charset="-122"/>
                <a:cs typeface="Calibri" pitchFamily="34" charset="-120"/>
              </a:rPr>
              <a:t>Compare this to the C use-after-free from Part Two: identical intent, but Rust's borrow checker catches it before the program ever runs — no ASan, no fuzzing, no production incident required.</a:t>
            </a:r>
            <a:endParaRPr lang="en-US" sz="1100" dirty="0"/>
          </a:p>
        </p:txBody>
      </p:sp>
      <p:sp>
        <p:nvSpPr>
          <p:cNvPr id="13"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18</a:t>
            </a:r>
            <a:endParaRPr lang="en-US" sz="1000" dirty="0"/>
          </a:p>
        </p:txBody>
      </p:sp>
      <p:sp>
        <p:nvSpPr>
          <p:cNvPr id="14" name="Text 12"/>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600" b="1" dirty="0">
                <a:solidFill>
                  <a:srgbClr val="13202B"/>
                </a:solidFill>
                <a:latin typeface="Cambria" pitchFamily="34" charset="0"/>
                <a:ea typeface="Cambria" pitchFamily="34" charset="-122"/>
                <a:cs typeface="Cambria" pitchFamily="34" charset="-120"/>
              </a:rPr>
              <a:t>Choosing the Right Tool</a:t>
            </a:r>
            <a:endParaRPr lang="en-US" sz="2600" dirty="0"/>
          </a:p>
        </p:txBody>
      </p:sp>
      <p:sp>
        <p:nvSpPr>
          <p:cNvPr id="3" name="Text 1"/>
          <p:cNvSpPr/>
          <p:nvPr/>
        </p:nvSpPr>
        <p:spPr>
          <a:xfrm>
            <a:off x="548640" y="1051560"/>
            <a:ext cx="10881360" cy="36576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Rust isn't the only option — and C isn't going away</a:t>
            </a:r>
            <a:endParaRPr lang="en-US" sz="1250" dirty="0"/>
          </a:p>
        </p:txBody>
      </p:sp>
      <p:sp>
        <p:nvSpPr>
          <p:cNvPr id="4" name="Shape 2"/>
          <p:cNvSpPr/>
          <p:nvPr/>
        </p:nvSpPr>
        <p:spPr>
          <a:xfrm>
            <a:off x="548640" y="1417320"/>
            <a:ext cx="11247120" cy="502920"/>
          </a:xfrm>
          <a:prstGeom prst="roundRect">
            <a:avLst>
              <a:gd name="adj" fmla="val 9091"/>
            </a:avLst>
          </a:prstGeom>
          <a:solidFill>
            <a:srgbClr val="0D1522"/>
          </a:solidFill>
          <a:ln/>
        </p:spPr>
      </p:sp>
      <p:sp>
        <p:nvSpPr>
          <p:cNvPr id="5" name="Text 3"/>
          <p:cNvSpPr/>
          <p:nvPr/>
        </p:nvSpPr>
        <p:spPr>
          <a:xfrm>
            <a:off x="685800" y="1417320"/>
            <a:ext cx="1783080" cy="502920"/>
          </a:xfrm>
          <a:prstGeom prst="rect">
            <a:avLst/>
          </a:prstGeom>
          <a:noFill/>
          <a:ln/>
        </p:spPr>
        <p:txBody>
          <a:bodyPr wrap="square" rtlCol="0" anchor="ctr"/>
          <a:lstStyle/>
          <a:p>
            <a:pPr indent="0" marL="0">
              <a:buNone/>
            </a:pPr>
            <a:r>
              <a:rPr lang="en-US" sz="1200" b="1" dirty="0">
                <a:solidFill>
                  <a:srgbClr val="CE5734"/>
                </a:solidFill>
                <a:latin typeface="Calibri" pitchFamily="34" charset="0"/>
                <a:ea typeface="Calibri" pitchFamily="34" charset="-122"/>
                <a:cs typeface="Calibri" pitchFamily="34" charset="-120"/>
              </a:rPr>
              <a:t>Language</a:t>
            </a:r>
            <a:endParaRPr lang="en-US" sz="1200" dirty="0"/>
          </a:p>
        </p:txBody>
      </p:sp>
      <p:sp>
        <p:nvSpPr>
          <p:cNvPr id="6" name="Text 4"/>
          <p:cNvSpPr/>
          <p:nvPr/>
        </p:nvSpPr>
        <p:spPr>
          <a:xfrm>
            <a:off x="2606040" y="1417320"/>
            <a:ext cx="233172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Memory Model</a:t>
            </a:r>
            <a:endParaRPr lang="en-US" sz="1200" dirty="0"/>
          </a:p>
        </p:txBody>
      </p:sp>
      <p:sp>
        <p:nvSpPr>
          <p:cNvPr id="7" name="Text 5"/>
          <p:cNvSpPr/>
          <p:nvPr/>
        </p:nvSpPr>
        <p:spPr>
          <a:xfrm>
            <a:off x="5074920" y="1417320"/>
            <a:ext cx="224028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Safety Guarantee</a:t>
            </a:r>
            <a:endParaRPr lang="en-US" sz="1200" dirty="0"/>
          </a:p>
        </p:txBody>
      </p:sp>
      <p:sp>
        <p:nvSpPr>
          <p:cNvPr id="8" name="Text 6"/>
          <p:cNvSpPr/>
          <p:nvPr/>
        </p:nvSpPr>
        <p:spPr>
          <a:xfrm>
            <a:off x="7452360" y="1417320"/>
            <a:ext cx="434340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Where It Fits</a:t>
            </a:r>
            <a:endParaRPr lang="en-US" sz="1200" dirty="0"/>
          </a:p>
        </p:txBody>
      </p:sp>
      <p:sp>
        <p:nvSpPr>
          <p:cNvPr id="9" name="Shape 7"/>
          <p:cNvSpPr/>
          <p:nvPr/>
        </p:nvSpPr>
        <p:spPr>
          <a:xfrm>
            <a:off x="548640" y="1920240"/>
            <a:ext cx="11247120" cy="731520"/>
          </a:xfrm>
          <a:prstGeom prst="rect">
            <a:avLst/>
          </a:prstGeom>
          <a:solidFill>
            <a:srgbClr val="FFFFFF"/>
          </a:solidFill>
          <a:ln/>
        </p:spPr>
      </p:sp>
      <p:sp>
        <p:nvSpPr>
          <p:cNvPr id="10" name="Text 8"/>
          <p:cNvSpPr/>
          <p:nvPr/>
        </p:nvSpPr>
        <p:spPr>
          <a:xfrm>
            <a:off x="685800" y="1920240"/>
            <a:ext cx="1783080" cy="731520"/>
          </a:xfrm>
          <a:prstGeom prst="rect">
            <a:avLst/>
          </a:prstGeom>
          <a:noFill/>
          <a:ln/>
        </p:spPr>
        <p:txBody>
          <a:bodyPr wrap="square" rtlCol="0" anchor="ctr"/>
          <a:lstStyle/>
          <a:p>
            <a:pPr indent="0" marL="0">
              <a:buNone/>
            </a:pPr>
            <a:r>
              <a:rPr lang="en-US" sz="1200" b="1" dirty="0">
                <a:solidFill>
                  <a:srgbClr val="13202B"/>
                </a:solidFill>
                <a:latin typeface="Courier New" pitchFamily="34" charset="0"/>
                <a:ea typeface="Courier New" pitchFamily="34" charset="-122"/>
                <a:cs typeface="Courier New" pitchFamily="34" charset="-120"/>
              </a:rPr>
              <a:t>C</a:t>
            </a:r>
            <a:endParaRPr lang="en-US" sz="1200" dirty="0"/>
          </a:p>
        </p:txBody>
      </p:sp>
      <p:sp>
        <p:nvSpPr>
          <p:cNvPr id="11" name="Text 9"/>
          <p:cNvSpPr/>
          <p:nvPr/>
        </p:nvSpPr>
        <p:spPr>
          <a:xfrm>
            <a:off x="2606040" y="1920240"/>
            <a:ext cx="233172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Manual</a:t>
            </a:r>
            <a:endParaRPr lang="en-US" sz="1050" dirty="0"/>
          </a:p>
        </p:txBody>
      </p:sp>
      <p:sp>
        <p:nvSpPr>
          <p:cNvPr id="12" name="Text 10"/>
          <p:cNvSpPr/>
          <p:nvPr/>
        </p:nvSpPr>
        <p:spPr>
          <a:xfrm>
            <a:off x="5074920" y="1920240"/>
            <a:ext cx="224028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None</a:t>
            </a:r>
            <a:endParaRPr lang="en-US" sz="1050" dirty="0"/>
          </a:p>
        </p:txBody>
      </p:sp>
      <p:sp>
        <p:nvSpPr>
          <p:cNvPr id="13" name="Text 11"/>
          <p:cNvSpPr/>
          <p:nvPr/>
        </p:nvSpPr>
        <p:spPr>
          <a:xfrm>
            <a:off x="7452360" y="1920240"/>
            <a:ext cx="4343400" cy="731520"/>
          </a:xfrm>
          <a:prstGeom prst="rect">
            <a:avLst/>
          </a:prstGeom>
          <a:noFill/>
          <a:ln/>
        </p:spPr>
        <p:txBody>
          <a:bodyPr wrap="square" rtlCol="0" anchor="ctr"/>
          <a:lstStyle/>
          <a:p>
            <a:pPr indent="0" marL="0">
              <a:lnSpc>
                <a:spcPct val="110000"/>
              </a:lnSpc>
              <a:buNone/>
            </a:pPr>
            <a:r>
              <a:rPr lang="en-US" sz="1000" dirty="0">
                <a:solidFill>
                  <a:srgbClr val="5A6B7A"/>
                </a:solidFill>
                <a:latin typeface="Calibri" pitchFamily="34" charset="0"/>
                <a:ea typeface="Calibri" pitchFamily="34" charset="-122"/>
                <a:cs typeface="Calibri" pitchFamily="34" charset="-120"/>
              </a:rPr>
              <a:t>Kernels, embedded, legacy systems, maximum control &amp; tooling maturity</a:t>
            </a:r>
            <a:endParaRPr lang="en-US" sz="1000" dirty="0"/>
          </a:p>
        </p:txBody>
      </p:sp>
      <p:sp>
        <p:nvSpPr>
          <p:cNvPr id="14" name="Shape 12"/>
          <p:cNvSpPr/>
          <p:nvPr/>
        </p:nvSpPr>
        <p:spPr>
          <a:xfrm>
            <a:off x="548640" y="2651760"/>
            <a:ext cx="11247120" cy="731520"/>
          </a:xfrm>
          <a:prstGeom prst="rect">
            <a:avLst/>
          </a:prstGeom>
          <a:solidFill>
            <a:srgbClr val="E9EEF3"/>
          </a:solidFill>
          <a:ln/>
        </p:spPr>
      </p:sp>
      <p:sp>
        <p:nvSpPr>
          <p:cNvPr id="15" name="Text 13"/>
          <p:cNvSpPr/>
          <p:nvPr/>
        </p:nvSpPr>
        <p:spPr>
          <a:xfrm>
            <a:off x="685800" y="2651760"/>
            <a:ext cx="1783080" cy="731520"/>
          </a:xfrm>
          <a:prstGeom prst="rect">
            <a:avLst/>
          </a:prstGeom>
          <a:noFill/>
          <a:ln/>
        </p:spPr>
        <p:txBody>
          <a:bodyPr wrap="square" rtlCol="0" anchor="ctr"/>
          <a:lstStyle/>
          <a:p>
            <a:pPr indent="0" marL="0">
              <a:buNone/>
            </a:pPr>
            <a:r>
              <a:rPr lang="en-US" sz="1200" b="1" dirty="0">
                <a:solidFill>
                  <a:srgbClr val="13202B"/>
                </a:solidFill>
                <a:latin typeface="Courier New" pitchFamily="34" charset="0"/>
                <a:ea typeface="Courier New" pitchFamily="34" charset="-122"/>
                <a:cs typeface="Courier New" pitchFamily="34" charset="-120"/>
              </a:rPr>
              <a:t>Rust</a:t>
            </a:r>
            <a:endParaRPr lang="en-US" sz="1200" dirty="0"/>
          </a:p>
        </p:txBody>
      </p:sp>
      <p:sp>
        <p:nvSpPr>
          <p:cNvPr id="16" name="Text 14"/>
          <p:cNvSpPr/>
          <p:nvPr/>
        </p:nvSpPr>
        <p:spPr>
          <a:xfrm>
            <a:off x="2606040" y="2651760"/>
            <a:ext cx="233172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Ownership/borrowing</a:t>
            </a:r>
            <a:endParaRPr lang="en-US" sz="1050" dirty="0"/>
          </a:p>
        </p:txBody>
      </p:sp>
      <p:sp>
        <p:nvSpPr>
          <p:cNvPr id="17" name="Text 15"/>
          <p:cNvSpPr/>
          <p:nvPr/>
        </p:nvSpPr>
        <p:spPr>
          <a:xfrm>
            <a:off x="5074920" y="2651760"/>
            <a:ext cx="224028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Compile-time</a:t>
            </a:r>
            <a:endParaRPr lang="en-US" sz="1050" dirty="0"/>
          </a:p>
        </p:txBody>
      </p:sp>
      <p:sp>
        <p:nvSpPr>
          <p:cNvPr id="18" name="Text 16"/>
          <p:cNvSpPr/>
          <p:nvPr/>
        </p:nvSpPr>
        <p:spPr>
          <a:xfrm>
            <a:off x="7452360" y="2651760"/>
            <a:ext cx="4343400" cy="731520"/>
          </a:xfrm>
          <a:prstGeom prst="rect">
            <a:avLst/>
          </a:prstGeom>
          <a:noFill/>
          <a:ln/>
        </p:spPr>
        <p:txBody>
          <a:bodyPr wrap="square" rtlCol="0" anchor="ctr"/>
          <a:lstStyle/>
          <a:p>
            <a:pPr indent="0" marL="0">
              <a:lnSpc>
                <a:spcPct val="110000"/>
              </a:lnSpc>
              <a:buNone/>
            </a:pPr>
            <a:r>
              <a:rPr lang="en-US" sz="1000" dirty="0">
                <a:solidFill>
                  <a:srgbClr val="5A6B7A"/>
                </a:solidFill>
                <a:latin typeface="Calibri" pitchFamily="34" charset="0"/>
                <a:ea typeface="Calibri" pitchFamily="34" charset="-122"/>
                <a:cs typeface="Calibri" pitchFamily="34" charset="-120"/>
              </a:rPr>
              <a:t>New systems code, security-critical services, replacing risky C components</a:t>
            </a:r>
            <a:endParaRPr lang="en-US" sz="1000" dirty="0"/>
          </a:p>
        </p:txBody>
      </p:sp>
      <p:sp>
        <p:nvSpPr>
          <p:cNvPr id="19" name="Shape 17"/>
          <p:cNvSpPr/>
          <p:nvPr/>
        </p:nvSpPr>
        <p:spPr>
          <a:xfrm>
            <a:off x="548640" y="3383280"/>
            <a:ext cx="11247120" cy="731520"/>
          </a:xfrm>
          <a:prstGeom prst="rect">
            <a:avLst/>
          </a:prstGeom>
          <a:solidFill>
            <a:srgbClr val="FFFFFF"/>
          </a:solidFill>
          <a:ln/>
        </p:spPr>
      </p:sp>
      <p:sp>
        <p:nvSpPr>
          <p:cNvPr id="20" name="Text 18"/>
          <p:cNvSpPr/>
          <p:nvPr/>
        </p:nvSpPr>
        <p:spPr>
          <a:xfrm>
            <a:off x="685800" y="3383280"/>
            <a:ext cx="1783080" cy="731520"/>
          </a:xfrm>
          <a:prstGeom prst="rect">
            <a:avLst/>
          </a:prstGeom>
          <a:noFill/>
          <a:ln/>
        </p:spPr>
        <p:txBody>
          <a:bodyPr wrap="square" rtlCol="0" anchor="ctr"/>
          <a:lstStyle/>
          <a:p>
            <a:pPr indent="0" marL="0">
              <a:buNone/>
            </a:pPr>
            <a:r>
              <a:rPr lang="en-US" sz="1200" b="1" dirty="0">
                <a:solidFill>
                  <a:srgbClr val="13202B"/>
                </a:solidFill>
                <a:latin typeface="Courier New" pitchFamily="34" charset="0"/>
                <a:ea typeface="Courier New" pitchFamily="34" charset="-122"/>
                <a:cs typeface="Courier New" pitchFamily="34" charset="-120"/>
              </a:rPr>
              <a:t>Go</a:t>
            </a:r>
            <a:endParaRPr lang="en-US" sz="1200" dirty="0"/>
          </a:p>
        </p:txBody>
      </p:sp>
      <p:sp>
        <p:nvSpPr>
          <p:cNvPr id="21" name="Text 19"/>
          <p:cNvSpPr/>
          <p:nvPr/>
        </p:nvSpPr>
        <p:spPr>
          <a:xfrm>
            <a:off x="2606040" y="3383280"/>
            <a:ext cx="233172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Garbage collected</a:t>
            </a:r>
            <a:endParaRPr lang="en-US" sz="1050" dirty="0"/>
          </a:p>
        </p:txBody>
      </p:sp>
      <p:sp>
        <p:nvSpPr>
          <p:cNvPr id="22" name="Text 20"/>
          <p:cNvSpPr/>
          <p:nvPr/>
        </p:nvSpPr>
        <p:spPr>
          <a:xfrm>
            <a:off x="5074920" y="3383280"/>
            <a:ext cx="224028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Runtime (GC)</a:t>
            </a:r>
            <a:endParaRPr lang="en-US" sz="1050" dirty="0"/>
          </a:p>
        </p:txBody>
      </p:sp>
      <p:sp>
        <p:nvSpPr>
          <p:cNvPr id="23" name="Text 21"/>
          <p:cNvSpPr/>
          <p:nvPr/>
        </p:nvSpPr>
        <p:spPr>
          <a:xfrm>
            <a:off x="7452360" y="3383280"/>
            <a:ext cx="4343400" cy="731520"/>
          </a:xfrm>
          <a:prstGeom prst="rect">
            <a:avLst/>
          </a:prstGeom>
          <a:noFill/>
          <a:ln/>
        </p:spPr>
        <p:txBody>
          <a:bodyPr wrap="square" rtlCol="0" anchor="ctr"/>
          <a:lstStyle/>
          <a:p>
            <a:pPr indent="0" marL="0">
              <a:lnSpc>
                <a:spcPct val="110000"/>
              </a:lnSpc>
              <a:buNone/>
            </a:pPr>
            <a:r>
              <a:rPr lang="en-US" sz="1000" dirty="0">
                <a:solidFill>
                  <a:srgbClr val="5A6B7A"/>
                </a:solidFill>
                <a:latin typeface="Calibri" pitchFamily="34" charset="0"/>
                <a:ea typeface="Calibri" pitchFamily="34" charset="-122"/>
                <a:cs typeface="Calibri" pitchFamily="34" charset="-120"/>
              </a:rPr>
              <a:t>Network services and tooling where raw performance matters less than safety</a:t>
            </a:r>
            <a:endParaRPr lang="en-US" sz="1000" dirty="0"/>
          </a:p>
        </p:txBody>
      </p:sp>
      <p:sp>
        <p:nvSpPr>
          <p:cNvPr id="24" name="Shape 22"/>
          <p:cNvSpPr/>
          <p:nvPr/>
        </p:nvSpPr>
        <p:spPr>
          <a:xfrm>
            <a:off x="548640" y="4114800"/>
            <a:ext cx="11247120" cy="731520"/>
          </a:xfrm>
          <a:prstGeom prst="rect">
            <a:avLst/>
          </a:prstGeom>
          <a:solidFill>
            <a:srgbClr val="E9EEF3"/>
          </a:solidFill>
          <a:ln/>
        </p:spPr>
      </p:sp>
      <p:sp>
        <p:nvSpPr>
          <p:cNvPr id="25" name="Text 23"/>
          <p:cNvSpPr/>
          <p:nvPr/>
        </p:nvSpPr>
        <p:spPr>
          <a:xfrm>
            <a:off x="685800" y="4114800"/>
            <a:ext cx="1783080" cy="731520"/>
          </a:xfrm>
          <a:prstGeom prst="rect">
            <a:avLst/>
          </a:prstGeom>
          <a:noFill/>
          <a:ln/>
        </p:spPr>
        <p:txBody>
          <a:bodyPr wrap="square" rtlCol="0" anchor="ctr"/>
          <a:lstStyle/>
          <a:p>
            <a:pPr indent="0" marL="0">
              <a:buNone/>
            </a:pPr>
            <a:r>
              <a:rPr lang="en-US" sz="1200" b="1" dirty="0">
                <a:solidFill>
                  <a:srgbClr val="13202B"/>
                </a:solidFill>
                <a:latin typeface="Courier New" pitchFamily="34" charset="0"/>
                <a:ea typeface="Courier New" pitchFamily="34" charset="-122"/>
                <a:cs typeface="Courier New" pitchFamily="34" charset="-120"/>
              </a:rPr>
              <a:t>Zig</a:t>
            </a:r>
            <a:endParaRPr lang="en-US" sz="1200" dirty="0"/>
          </a:p>
        </p:txBody>
      </p:sp>
      <p:sp>
        <p:nvSpPr>
          <p:cNvPr id="26" name="Text 24"/>
          <p:cNvSpPr/>
          <p:nvPr/>
        </p:nvSpPr>
        <p:spPr>
          <a:xfrm>
            <a:off x="2606040" y="4114800"/>
            <a:ext cx="233172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Manual, explicit</a:t>
            </a:r>
            <a:endParaRPr lang="en-US" sz="1050" dirty="0"/>
          </a:p>
        </p:txBody>
      </p:sp>
      <p:sp>
        <p:nvSpPr>
          <p:cNvPr id="27" name="Text 25"/>
          <p:cNvSpPr/>
          <p:nvPr/>
        </p:nvSpPr>
        <p:spPr>
          <a:xfrm>
            <a:off x="5074920" y="4114800"/>
            <a:ext cx="2240280" cy="73152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None (safety via clarity)</a:t>
            </a:r>
            <a:endParaRPr lang="en-US" sz="1050" dirty="0"/>
          </a:p>
        </p:txBody>
      </p:sp>
      <p:sp>
        <p:nvSpPr>
          <p:cNvPr id="28" name="Text 26"/>
          <p:cNvSpPr/>
          <p:nvPr/>
        </p:nvSpPr>
        <p:spPr>
          <a:xfrm>
            <a:off x="7452360" y="4114800"/>
            <a:ext cx="4343400" cy="731520"/>
          </a:xfrm>
          <a:prstGeom prst="rect">
            <a:avLst/>
          </a:prstGeom>
          <a:noFill/>
          <a:ln/>
        </p:spPr>
        <p:txBody>
          <a:bodyPr wrap="square" rtlCol="0" anchor="ctr"/>
          <a:lstStyle/>
          <a:p>
            <a:pPr indent="0" marL="0">
              <a:lnSpc>
                <a:spcPct val="110000"/>
              </a:lnSpc>
              <a:buNone/>
            </a:pPr>
            <a:r>
              <a:rPr lang="en-US" sz="1000" dirty="0">
                <a:solidFill>
                  <a:srgbClr val="5A6B7A"/>
                </a:solidFill>
                <a:latin typeface="Calibri" pitchFamily="34" charset="0"/>
                <a:ea typeface="Calibri" pitchFamily="34" charset="-122"/>
                <a:cs typeface="Calibri" pitchFamily="34" charset="-120"/>
              </a:rPr>
              <a:t>A modern alternative to C itself — explicit allocators, no hidden control flow</a:t>
            </a:r>
            <a:endParaRPr lang="en-US" sz="1000" dirty="0"/>
          </a:p>
        </p:txBody>
      </p:sp>
      <p:sp>
        <p:nvSpPr>
          <p:cNvPr id="29" name="Text 27"/>
          <p:cNvSpPr/>
          <p:nvPr/>
        </p:nvSpPr>
        <p:spPr>
          <a:xfrm>
            <a:off x="548640" y="5029200"/>
            <a:ext cx="11064240" cy="548640"/>
          </a:xfrm>
          <a:prstGeom prst="rect">
            <a:avLst/>
          </a:prstGeom>
          <a:noFill/>
          <a:ln/>
        </p:spPr>
        <p:txBody>
          <a:bodyPr wrap="square" rtlCol="0" anchor="ctr"/>
          <a:lstStyle/>
          <a:p>
            <a:pPr indent="0" marL="0">
              <a:buNone/>
            </a:pPr>
            <a:r>
              <a:rPr lang="en-US" sz="1200" i="1" dirty="0">
                <a:solidFill>
                  <a:srgbClr val="13202B"/>
                </a:solidFill>
                <a:latin typeface="Calibri" pitchFamily="34" charset="0"/>
                <a:ea typeface="Calibri" pitchFamily="34" charset="-122"/>
                <a:cs typeface="Calibri" pitchFamily="34" charset="-120"/>
              </a:rPr>
              <a:t>There's no universal answer — the right layer of defense depends on what you're building, what already exists, and how much of it you can realistically rewrite.</a:t>
            </a:r>
            <a:endParaRPr lang="en-US" sz="1200" dirty="0"/>
          </a:p>
        </p:txBody>
      </p:sp>
      <p:sp>
        <p:nvSpPr>
          <p:cNvPr id="30" name="Text 2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19</a:t>
            </a:r>
            <a:endParaRPr lang="en-US" sz="1000" dirty="0"/>
          </a:p>
        </p:txBody>
      </p:sp>
      <p:sp>
        <p:nvSpPr>
          <p:cNvPr id="31" name="Text 29"/>
          <p:cNvSpPr/>
          <p:nvPr/>
        </p:nvSpPr>
        <p:spPr>
          <a:xfrm>
            <a:off x="457200" y="6446520"/>
            <a:ext cx="4572000" cy="274320"/>
          </a:xfrm>
          <a:prstGeom prst="rect">
            <a:avLst/>
          </a:prstGeom>
          <a:noFill/>
          <a:ln/>
        </p:spPr>
        <p:txBody>
          <a:bodyPr wrap="square" rtlCol="0" anchor="ctr"/>
          <a:lstStyle/>
          <a:p>
            <a:pPr indent="0" marL="0">
              <a:buNone/>
            </a:pPr>
            <a:r>
              <a:rPr lang="en-US" sz="900" spc="100" kern="0" dirty="0">
                <a:solidFill>
                  <a:srgbClr val="3E5064"/>
                </a:solidFill>
                <a:latin typeface="Calibri" pitchFamily="34" charset="0"/>
                <a:ea typeface="Calibri" pitchFamily="34" charset="-122"/>
                <a:cs typeface="Calibri" pitchFamily="34" charset="-120"/>
              </a:rPr>
              <a:t>C: VULNERABILITIES &amp; SOLUTIONS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522"/>
        </a:solidFill>
      </p:bgPr>
    </p:bg>
    <p:spTree>
      <p:nvGrpSpPr>
        <p:cNvPr id="1" name=""/>
        <p:cNvGrpSpPr/>
        <p:nvPr/>
      </p:nvGrpSpPr>
      <p:grpSpPr>
        <a:xfrm>
          <a:off x="0" y="0"/>
          <a:ext cx="0" cy="0"/>
          <a:chOff x="0" y="0"/>
          <a:chExt cx="0" cy="0"/>
        </a:xfrm>
      </p:grpSpPr>
      <p:sp>
        <p:nvSpPr>
          <p:cNvPr id="2" name="Shape 0"/>
          <p:cNvSpPr/>
          <p:nvPr/>
        </p:nvSpPr>
        <p:spPr>
          <a:xfrm>
            <a:off x="5212080" y="1280160"/>
            <a:ext cx="777240" cy="777240"/>
          </a:xfrm>
          <a:prstGeom prst="ellipse">
            <a:avLst/>
          </a:prstGeom>
          <a:solidFill>
            <a:srgbClr val="5C6BC0"/>
          </a:solidFill>
          <a:ln/>
        </p:spPr>
      </p:sp>
      <p:sp>
        <p:nvSpPr>
          <p:cNvPr id="3" name="Text 1"/>
          <p:cNvSpPr/>
          <p:nvPr/>
        </p:nvSpPr>
        <p:spPr>
          <a:xfrm>
            <a:off x="5212080" y="128016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4" name="Shape 2"/>
          <p:cNvSpPr/>
          <p:nvPr/>
        </p:nvSpPr>
        <p:spPr>
          <a:xfrm>
            <a:off x="6217920" y="1280160"/>
            <a:ext cx="777240" cy="777240"/>
          </a:xfrm>
          <a:prstGeom prst="ellipse">
            <a:avLst/>
          </a:prstGeom>
          <a:solidFill>
            <a:srgbClr val="CE5734"/>
          </a:solidFill>
          <a:ln/>
        </p:spPr>
      </p:sp>
      <p:sp>
        <p:nvSpPr>
          <p:cNvPr id="5" name="Text 3"/>
          <p:cNvSpPr/>
          <p:nvPr/>
        </p:nvSpPr>
        <p:spPr>
          <a:xfrm>
            <a:off x="6217920" y="128016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6" name="Text 4"/>
          <p:cNvSpPr/>
          <p:nvPr/>
        </p:nvSpPr>
        <p:spPr>
          <a:xfrm>
            <a:off x="731520" y="2743200"/>
            <a:ext cx="10698480" cy="82296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Know the Bug. Know the Fix.</a:t>
            </a:r>
            <a:endParaRPr lang="en-US" sz="3800" dirty="0"/>
          </a:p>
        </p:txBody>
      </p:sp>
      <p:sp>
        <p:nvSpPr>
          <p:cNvPr id="7" name="Text 5"/>
          <p:cNvSpPr/>
          <p:nvPr/>
        </p:nvSpPr>
        <p:spPr>
          <a:xfrm>
            <a:off x="914400" y="3566160"/>
            <a:ext cx="10332720" cy="914400"/>
          </a:xfrm>
          <a:prstGeom prst="rect">
            <a:avLst/>
          </a:prstGeom>
          <a:noFill/>
          <a:ln/>
        </p:spPr>
        <p:txBody>
          <a:bodyPr wrap="square" rtlCol="0" anchor="ctr"/>
          <a:lstStyle/>
          <a:p>
            <a:pPr algn="ctr" indent="0" marL="0">
              <a:lnSpc>
                <a:spcPct val="130000"/>
              </a:lnSpc>
              <a:buNone/>
            </a:pPr>
            <a:r>
              <a:rPr lang="en-US" sz="1450" i="1" dirty="0">
                <a:solidFill>
                  <a:srgbClr val="AFC3D6"/>
                </a:solidFill>
                <a:latin typeface="Calibri" pitchFamily="34" charset="0"/>
                <a:ea typeface="Calibri" pitchFamily="34" charset="-122"/>
                <a:cs typeface="Calibri" pitchFamily="34" charset="-120"/>
              </a:rPr>
              <a:t>Every memory bug in this deck has shipped in production software. Understanding how they</a:t>
            </a:r>
            <a:endParaRPr lang="en-US" sz="1450" dirty="0"/>
          </a:p>
          <a:p>
            <a:pPr algn="ctr" indent="0" marL="0">
              <a:lnSpc>
                <a:spcPct val="130000"/>
              </a:lnSpc>
              <a:buNone/>
            </a:pPr>
            <a:r>
              <a:rPr lang="en-US" sz="1450" i="1" dirty="0">
                <a:solidFill>
                  <a:srgbClr val="AFC3D6"/>
                </a:solidFill>
                <a:latin typeface="Calibri" pitchFamily="34" charset="0"/>
                <a:ea typeface="Calibri" pitchFamily="34" charset="-122"/>
                <a:cs typeface="Calibri" pitchFamily="34" charset="-120"/>
              </a:rPr>
              <a:t>happen — and the layers of defense against them — is what separates writing C from writing safe C.</a:t>
            </a:r>
            <a:endParaRPr lang="en-US" sz="1450" dirty="0"/>
          </a:p>
        </p:txBody>
      </p:sp>
      <p:sp>
        <p:nvSpPr>
          <p:cNvPr id="8" name="Text 6"/>
          <p:cNvSpPr/>
          <p:nvPr/>
        </p:nvSpPr>
        <p:spPr>
          <a:xfrm>
            <a:off x="731520" y="5120640"/>
            <a:ext cx="10698480" cy="548640"/>
          </a:xfrm>
          <a:prstGeom prst="rect">
            <a:avLst/>
          </a:prstGeom>
          <a:noFill/>
          <a:ln/>
        </p:spPr>
        <p:txBody>
          <a:bodyPr wrap="square" rtlCol="0" anchor="ctr"/>
          <a:lstStyle/>
          <a:p>
            <a:pPr algn="ctr" indent="0" marL="0">
              <a:buNone/>
            </a:pPr>
            <a:r>
              <a:rPr lang="en-US" sz="1800" spc="200" kern="0" dirty="0">
                <a:solidFill>
                  <a:srgbClr val="00C896"/>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2026-07-30T06:29:17Z</dcterms:created>
  <dcterms:modified xsi:type="dcterms:W3CDTF">2026-07-30T06:29:17Z</dcterms:modified>
</cp:coreProperties>
</file>