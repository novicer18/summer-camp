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1645920"/>
            <a:ext cx="5029200" cy="5029200"/>
          </a:xfrm>
          <a:prstGeom prst="ellipse">
            <a:avLst/>
          </a:prstGeom>
          <a:solidFill>
            <a:srgbClr val="283580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283580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640080"/>
            <a:ext cx="685800" cy="685800"/>
          </a:xfrm>
          <a:prstGeom prst="ellipse">
            <a:avLst/>
          </a:prstGeom>
          <a:solidFill>
            <a:srgbClr val="32408F"/>
          </a:solidFill>
          <a:ln/>
        </p:spPr>
      </p:sp>
      <p:pic>
        <p:nvPicPr>
          <p:cNvPr id="6" name="Image 0" descr="/home/claude/deck/icons/shield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722376"/>
            <a:ext cx="521208" cy="5212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1508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FOUR-PART LECTURE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1965960"/>
            <a:ext cx="9875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Cybersecurity, Cryptography,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Hashing &amp; TLS/PKI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594360" y="406908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internet protects, verifies, and trusts information — from the front door of your house to the padlock in your browser.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94360" y="516636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283580"/>
          </a:solidFill>
          <a:ln w="12700">
            <a:solidFill>
              <a:srgbClr val="3E4CA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8952" y="5257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58952" y="5596128"/>
            <a:ext cx="2368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58952" y="5943600"/>
            <a:ext cx="23682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security matters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520440" y="516636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283580"/>
          </a:solidFill>
          <a:ln w="12700">
            <a:solidFill>
              <a:srgbClr val="3E4CA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85032" y="5257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3685032" y="5596128"/>
            <a:ext cx="2368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Cryptography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3685032" y="5943600"/>
            <a:ext cx="23682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protect information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446520" y="516636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283580"/>
          </a:solidFill>
          <a:ln w="12700">
            <a:solidFill>
              <a:srgbClr val="3E4CA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611112" y="5257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6611112" y="5596128"/>
            <a:ext cx="2368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6611112" y="5943600"/>
            <a:ext cx="23682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Proving data hasn’t changed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9372600" y="516636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283580"/>
          </a:solidFill>
          <a:ln w="12700">
            <a:solidFill>
              <a:srgbClr val="3E4CA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537192" y="5257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9537192" y="5596128"/>
            <a:ext cx="2368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/ HTTPS &amp; PKI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9537192" y="5943600"/>
            <a:ext cx="23682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secure websites work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story, four parts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topic builds on the last: first why we need protection, then how it works, then how we prove data is untouched, then how it all comes together on the web.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3C7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45973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deck/icons/shield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991" y="2527767"/>
            <a:ext cx="430865" cy="43086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35000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62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600200" y="258775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Cybersecurity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572000" y="2404872"/>
            <a:ext cx="6675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house analogy, the CIA triad, and the attacks security defends against.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338328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3C7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22960" y="360273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/home/claude/deck/icons/key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991" y="3670767"/>
            <a:ext cx="430865" cy="43086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00200" y="349300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62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600200" y="373075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Cryptography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4572000" y="3547872"/>
            <a:ext cx="6675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Plaintext, ciphertext, encryption, and the four goals cryptography exists to achieve.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548640" y="452628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3C7">
                <a:alpha val="2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22960" y="474573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2" descr="/home/claude/deck/icons/fingerprint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991" y="4813767"/>
            <a:ext cx="430865" cy="43086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00200" y="463600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62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1600200" y="487375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Hashing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4572000" y="4690872"/>
            <a:ext cx="6675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Fingerprints for data — SHA-256, password storage, salting, and Base64 myths.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548640" y="566928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3C7">
                <a:alpha val="2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822960" y="588873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5" name="Image 3" descr="/home/claude/deck/icons/certificat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991" y="5956767"/>
            <a:ext cx="430865" cy="430865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600200" y="577900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62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1600200" y="601675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TLS / HTTPS &amp; PKI</a:t>
            </a:r>
            <a:endParaRPr lang="en-US" sz="1700" dirty="0"/>
          </a:p>
        </p:txBody>
      </p:sp>
      <p:sp>
        <p:nvSpPr>
          <p:cNvPr id="28" name="Text 22"/>
          <p:cNvSpPr/>
          <p:nvPr/>
        </p:nvSpPr>
        <p:spPr>
          <a:xfrm>
            <a:off x="4572000" y="5833872"/>
            <a:ext cx="6675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Certificates, the TLS handshake, and how your browser learns to trust a website.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• CYBERSECURITY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cybersecurity?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760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practice of protecting computers, networks, applications, and data from unauthorized access, attacks, damage, or theft.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 physical security — for the digital world.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5212080" cy="3291840"/>
          </a:xfrm>
          <a:prstGeom prst="roundRect">
            <a:avLst>
              <a:gd name="adj" fmla="val 2778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3C7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32461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/home/claude/deck/icons/hom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4517" y="3311957"/>
            <a:ext cx="416966" cy="41696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3291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house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68680" y="3977640"/>
            <a:ext cx="4572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</a:t>
            </a:r>
            <a:endParaRPr lang="en-US" sz="135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</a:t>
            </a:r>
            <a:endParaRPr lang="en-US" sz="135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135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</a:t>
            </a:r>
            <a:endParaRPr lang="en-US" sz="135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camera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989320" y="2971800"/>
            <a:ext cx="5623560" cy="3291840"/>
          </a:xfrm>
          <a:prstGeom prst="roundRect">
            <a:avLst>
              <a:gd name="adj" fmla="val 2778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3C7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309360" y="32461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/home/claude/deck/icons/shield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5197" y="3311957"/>
            <a:ext cx="416966" cy="41696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995160" y="32918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digital life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6309360" y="3977640"/>
            <a:ext cx="50292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</a:t>
            </a:r>
            <a:endParaRPr lang="en-US" sz="135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</a:t>
            </a:r>
            <a:endParaRPr lang="en-US" sz="135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</a:t>
            </a:r>
            <a:endParaRPr lang="en-US" sz="135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accounts</a:t>
            </a:r>
            <a:endParaRPr lang="en-US" sz="135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</a:t>
            </a:r>
            <a:endParaRPr lang="en-US" sz="135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databases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• CYBERSECURITY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would you even use it?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a messaging app where anyone could read your messages.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10881360" cy="3566160"/>
          </a:xfrm>
          <a:prstGeom prst="roundRect">
            <a:avLst>
              <a:gd name="adj" fmla="val 2564"/>
            </a:avLst>
          </a:prstGeom>
          <a:solidFill>
            <a:srgbClr val="283580"/>
          </a:solidFill>
          <a:ln/>
          <a:effectLst>
            <a:outerShdw sx="100000" sy="100000" kx="0" ky="0" algn="bl" rotWithShape="0" blurRad="76200" dist="25400" dir="5400000">
              <a:srgbClr val="9AA3C7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5146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“Would you still use it?”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914400" y="32004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384048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apps like Telegram encrypt every message before it leaves your phone. Nobody in between — not even the network — can read it.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14400" y="4709160"/>
            <a:ext cx="9875520" cy="0"/>
          </a:xfrm>
          <a:prstGeom prst="line">
            <a:avLst/>
          </a:prstGeom>
          <a:noFill/>
          <a:ln w="12700">
            <a:solidFill>
              <a:srgbClr val="3E4C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89204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instinct — protecting information because it matters — is cybersecurity.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• CYBERSECURITY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are we defending against?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common attack types students recognize immediately.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429000" cy="4206240"/>
          </a:xfrm>
          <a:prstGeom prst="roundRect">
            <a:avLst>
              <a:gd name="adj" fmla="val 2667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3C7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33172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deck/icons/usersecre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414016"/>
            <a:ext cx="521208" cy="5212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20040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theft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68680" y="3657600"/>
            <a:ext cx="2788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steals passwords, credit cards, or files directly.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68680" y="4892040"/>
            <a:ext cx="2788920" cy="1051560"/>
          </a:xfrm>
          <a:prstGeom prst="roundRect">
            <a:avLst>
              <a:gd name="adj" fmla="val 5217"/>
            </a:avLst>
          </a:prstGeom>
          <a:solidFill>
            <a:srgbClr val="1E2761"/>
          </a:solidFill>
          <a:ln/>
        </p:spPr>
      </p:sp>
      <p:sp>
        <p:nvSpPr>
          <p:cNvPr id="11" name="Text 8"/>
          <p:cNvSpPr/>
          <p:nvPr/>
        </p:nvSpPr>
        <p:spPr>
          <a:xfrm>
            <a:off x="1051560" y="4892040"/>
            <a:ext cx="2423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breached database leaks millions of accounts.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251960" y="2011680"/>
            <a:ext cx="3429000" cy="4206240"/>
          </a:xfrm>
          <a:prstGeom prst="roundRect">
            <a:avLst>
              <a:gd name="adj" fmla="val 2667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3C7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0" y="233172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1" descr="/home/claude/deck/icons/bug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2414016"/>
            <a:ext cx="521208" cy="5212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72000" y="320040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Malware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4572000" y="3657600"/>
            <a:ext cx="2788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Viruses, ransomware, spyware, and trojans that infect a system.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4572000" y="4892040"/>
            <a:ext cx="2788920" cy="1051560"/>
          </a:xfrm>
          <a:prstGeom prst="roundRect">
            <a:avLst>
              <a:gd name="adj" fmla="val 5217"/>
            </a:avLst>
          </a:prstGeom>
          <a:solidFill>
            <a:srgbClr val="1E2761"/>
          </a:solidFill>
          <a:ln/>
        </p:spPr>
      </p:sp>
      <p:sp>
        <p:nvSpPr>
          <p:cNvPr id="18" name="Text 14"/>
          <p:cNvSpPr/>
          <p:nvPr/>
        </p:nvSpPr>
        <p:spPr>
          <a:xfrm>
            <a:off x="4754880" y="4892040"/>
            <a:ext cx="2423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 encrypts your files and demands payment.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7955280" y="2011680"/>
            <a:ext cx="3429000" cy="4206240"/>
          </a:xfrm>
          <a:prstGeom prst="roundRect">
            <a:avLst>
              <a:gd name="adj" fmla="val 2667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3C7">
                <a:alpha val="2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75320" y="233172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2" descr="/home/claude/deck/icons/fish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7616" y="2414016"/>
            <a:ext cx="521208" cy="52120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275320" y="320040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Phishing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8275320" y="3657600"/>
            <a:ext cx="2788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login pages that trick you into typing your password.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8275320" y="4892040"/>
            <a:ext cx="2788920" cy="1051560"/>
          </a:xfrm>
          <a:prstGeom prst="roundRect">
            <a:avLst>
              <a:gd name="adj" fmla="val 5217"/>
            </a:avLst>
          </a:prstGeom>
          <a:solidFill>
            <a:srgbClr val="1E2761"/>
          </a:solidFill>
          <a:ln/>
        </p:spPr>
      </p:sp>
      <p:sp>
        <p:nvSpPr>
          <p:cNvPr id="25" name="Text 20"/>
          <p:cNvSpPr/>
          <p:nvPr/>
        </p:nvSpPr>
        <p:spPr>
          <a:xfrm>
            <a:off x="8458200" y="4892040"/>
            <a:ext cx="2423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facebook-login.xyz instead of facebook.com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• CYBERSECURITY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CIA triad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 of cybersecurity. Almost every security decision traces back to one of these three principles.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deck/icons/ey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990" y="2529230"/>
            <a:ext cx="382219" cy="38221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244144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Confidentiality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234440" y="276148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authorized people can access it.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34747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/home/claude/deck/icons/pencil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990" y="3535070"/>
            <a:ext cx="382219" cy="38221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344728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Integrity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1234440" y="376732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information has not been changed.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44805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2" descr="/home/claude/deck/icons/server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990" y="4540910"/>
            <a:ext cx="382219" cy="38221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34440" y="445312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Availability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1234440" y="477316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is accessible when needed.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446520" y="1965960"/>
            <a:ext cx="4663440" cy="3749040"/>
          </a:xfrm>
          <a:prstGeom prst="triangle">
            <a:avLst/>
          </a:prstGeom>
          <a:solidFill>
            <a:srgbClr val="EDEFFA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7863840" y="24688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CIA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749808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5623560" y="5806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9829800" y="5806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— CIA Triad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• CIA TRIAD • 1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Confidentiality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875520" y="54864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deck/icons/ey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4275" y="647395"/>
            <a:ext cx="625450" cy="6254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9164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3C7">
                <a:alpha val="2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1691640"/>
            <a:ext cx="10241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authorized people should be able to access information.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2971800"/>
            <a:ext cx="5212080" cy="3246120"/>
          </a:xfrm>
          <a:prstGeom prst="roundRect">
            <a:avLst>
              <a:gd name="adj" fmla="val 2817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3C7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68680" y="3200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Analogy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8680" y="3611880"/>
            <a:ext cx="4572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 diary. Only you have the key — everyone else is locked out, no matter how curious they are.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989320" y="2971800"/>
            <a:ext cx="5623560" cy="3246120"/>
          </a:xfrm>
          <a:prstGeom prst="roundRect">
            <a:avLst>
              <a:gd name="adj" fmla="val 2817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3C7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309360" y="32004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309360" y="3611880"/>
            <a:ext cx="50292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exam results. Not everyone should be able to see them — only you, and the people who need to know.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examples: passwords, medical records, bank information.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— CIA Triad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• CIA TRIAD • 2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875520" y="54864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deck/icons/pencil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4275" y="647395"/>
            <a:ext cx="625450" cy="6254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9164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3C7">
                <a:alpha val="2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1691640"/>
            <a:ext cx="10241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information has not been changed — accidentally or maliciously.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2971800"/>
            <a:ext cx="5212080" cy="3246120"/>
          </a:xfrm>
          <a:prstGeom prst="roundRect">
            <a:avLst>
              <a:gd name="adj" fmla="val 2817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3C7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68680" y="3200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Analogy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8680" y="3611880"/>
            <a:ext cx="4572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teacher enters a grade of 95. Someone changes it to 55. Confidentiality was never broken — nobody unauthorized read it. But integrity was.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989320" y="2971800"/>
            <a:ext cx="5623560" cy="3246120"/>
          </a:xfrm>
          <a:prstGeom prst="roundRect">
            <a:avLst>
              <a:gd name="adj" fmla="val 2817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3C7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309360" y="32004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309360" y="3611880"/>
            <a:ext cx="50292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download a Windows ISO. Microsoft publishes its SHA-256 hash. If your downloaded file’s hash matches, the file was not modified in transit — integrity is verified.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— CIA Triad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• CIA TRIAD • 3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Availability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875520" y="54864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deck/icons/server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4275" y="647395"/>
            <a:ext cx="625450" cy="6254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9164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3C7">
                <a:alpha val="2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1691640"/>
            <a:ext cx="10241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and systems should be accessible whenever authorized people need them.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2971800"/>
            <a:ext cx="5212080" cy="3246120"/>
          </a:xfrm>
          <a:prstGeom prst="roundRect">
            <a:avLst>
              <a:gd name="adj" fmla="val 2817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3C7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68680" y="3200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Analogy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8680" y="3611880"/>
            <a:ext cx="4572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hospital system crashes and doctors cannot access patient records — availability has failed, even though nothing was stolen or altered.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989320" y="2971800"/>
            <a:ext cx="5623560" cy="3246120"/>
          </a:xfrm>
          <a:prstGeom prst="roundRect">
            <a:avLst>
              <a:gd name="adj" fmla="val 2817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3C7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309360" y="32004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309360" y="3611880"/>
            <a:ext cx="50292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Amazon’s servers go offline. Customers cannot buy products. The data is safe and unchanged — it’s simply unreachable.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— CIA Triad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• CRYPTOGRAPHY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why to how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that we understand why protection matters, cryptography is the toolbox that makes it possible.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10881360" cy="1188720"/>
          </a:xfrm>
          <a:prstGeom prst="roundRect">
            <a:avLst>
              <a:gd name="adj" fmla="val 7692"/>
            </a:avLst>
          </a:prstGeom>
          <a:solidFill>
            <a:srgbClr val="283580"/>
          </a:solidFill>
          <a:ln/>
          <a:effectLst>
            <a:outerShdw sx="100000" sy="100000" kx="0" ky="0" algn="bl" rotWithShape="0" blurRad="76200" dist="25400" dir="5400000">
              <a:srgbClr val="9AA3C7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24231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/home/claude/deck/icons/key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490" y="2499970"/>
            <a:ext cx="486461" cy="48646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2331720"/>
            <a:ext cx="9418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Cryptography is the science of protecting information using mathematics.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8640" y="3611880"/>
            <a:ext cx="3429000" cy="777240"/>
          </a:xfrm>
          <a:prstGeom prst="roundRect">
            <a:avLst>
              <a:gd name="adj" fmla="val 9412"/>
            </a:avLst>
          </a:prstGeom>
          <a:solidFill>
            <a:srgbClr val="283580"/>
          </a:solidFill>
          <a:ln w="12700">
            <a:solidFill>
              <a:srgbClr val="3E4CA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3611880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information secret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206240" y="3611880"/>
            <a:ext cx="3429000" cy="777240"/>
          </a:xfrm>
          <a:prstGeom prst="roundRect">
            <a:avLst>
              <a:gd name="adj" fmla="val 9412"/>
            </a:avLst>
          </a:prstGeom>
          <a:solidFill>
            <a:srgbClr val="283580"/>
          </a:solidFill>
          <a:ln w="12700">
            <a:solidFill>
              <a:srgbClr val="3E4CA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206240" y="3611880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identities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7863840" y="3611880"/>
            <a:ext cx="3429000" cy="777240"/>
          </a:xfrm>
          <a:prstGeom prst="roundRect">
            <a:avLst>
              <a:gd name="adj" fmla="val 9412"/>
            </a:avLst>
          </a:prstGeom>
          <a:solidFill>
            <a:srgbClr val="283580"/>
          </a:solidFill>
          <a:ln w="12700">
            <a:solidFill>
              <a:srgbClr val="3E4CA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63840" y="3611880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modifications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548640" y="4709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Alice sends “Hello Bob.” If Eve intercepts it, she should not be able to understand it.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548640" y="5349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encryption: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48640" y="56692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Alice → "Hello Bob" → Internet → Eve reads everything → Bob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48640" y="61264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encryption: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48640" y="64465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Alice → "3JQ8Sk92..." → Internet → Eve sees ??? → Bob decrypts → "Hello Bob"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Cryptography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• CRYPTOGRAPHY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Plaintext, ciphertext, and the key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is a locked box: anyone can see it, only the key-holder can open it.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108960" cy="1463040"/>
          </a:xfrm>
          <a:prstGeom prst="roundRect">
            <a:avLst>
              <a:gd name="adj" fmla="val 5000"/>
            </a:avLst>
          </a:prstGeom>
          <a:solidFill>
            <a:srgbClr val="F4F6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1945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Plaintext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"My password is 123"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30632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Original, readable data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794760" y="2560320"/>
            <a:ext cx="777240" cy="411480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3794760" y="15544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0" descr="/home/claude/deck/icons/key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55110" y="1614830"/>
            <a:ext cx="382219" cy="382219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657600" y="203911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709160" y="2057400"/>
            <a:ext cx="3108960" cy="146304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/>
        </p:spPr>
      </p:sp>
      <p:sp>
        <p:nvSpPr>
          <p:cNvPr id="14" name="Text 11"/>
          <p:cNvSpPr/>
          <p:nvPr/>
        </p:nvSpPr>
        <p:spPr>
          <a:xfrm>
            <a:off x="4709160" y="21945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Ciphertext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709160" y="2606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"N2h4dj82k3jj..."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709160" y="30632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Unreadable without the key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955280" y="2560320"/>
            <a:ext cx="777240" cy="411480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18" name="Text 15"/>
          <p:cNvSpPr/>
          <p:nvPr/>
        </p:nvSpPr>
        <p:spPr>
          <a:xfrm>
            <a:off x="7818120" y="301752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8869680" y="205740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4F6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869680" y="21945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Plaintext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869680" y="2606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"Hello"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869680" y="30632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 with the key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548640" y="3977640"/>
            <a:ext cx="10881360" cy="2148840"/>
          </a:xfrm>
          <a:prstGeom prst="roundRect">
            <a:avLst>
              <a:gd name="adj" fmla="val 4255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3C7">
                <a:alpha val="25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868680" y="4206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Analogy: the locked box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868680" y="4617720"/>
            <a:ext cx="10241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see the box sitting on the table. But only someone holding the correct key can open it and see what’s inside. Encryption works the same way — the ciphertext travels in the open, but only the key-holder can turn it back into meaning.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Cryptography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• CRYPTOGRAPHY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goals of cryptography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cryptographic system is built to achieve one or more of these.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606040" cy="4160520"/>
          </a:xfrm>
          <a:prstGeom prst="roundRect">
            <a:avLst>
              <a:gd name="adj" fmla="val 3509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3C7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31620" y="22860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deck/icons/ey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8430" y="2362810"/>
            <a:ext cx="486461" cy="48646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10896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Confidentiality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379476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information secret.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22960" y="4663440"/>
            <a:ext cx="2057400" cy="0"/>
          </a:xfrm>
          <a:prstGeom prst="line">
            <a:avLst/>
          </a:prstGeom>
          <a:noFill/>
          <a:ln w="12700">
            <a:solidFill>
              <a:srgbClr val="D6DAE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484632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messages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337560" y="1965960"/>
            <a:ext cx="2606040" cy="4160520"/>
          </a:xfrm>
          <a:prstGeom prst="roundRect">
            <a:avLst>
              <a:gd name="adj" fmla="val 3509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3C7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20540" y="22860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1" descr="/home/claude/deck/icons/pencil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7350" y="2362810"/>
            <a:ext cx="486461" cy="48646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74720" y="310896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Integrity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520440" y="379476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modifications.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3611880" y="4663440"/>
            <a:ext cx="2057400" cy="0"/>
          </a:xfrm>
          <a:prstGeom prst="line">
            <a:avLst/>
          </a:prstGeom>
          <a:noFill/>
          <a:ln w="12700">
            <a:solidFill>
              <a:srgbClr val="D6DAE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520440" y="484632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downloads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126480" y="1965960"/>
            <a:ext cx="2606040" cy="4160520"/>
          </a:xfrm>
          <a:prstGeom prst="roundRect">
            <a:avLst>
              <a:gd name="adj" fmla="val 3509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3C7">
                <a:alpha val="2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109460" y="22860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2" descr="/home/claude/deck/icons/fingerprint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6270" y="2362810"/>
            <a:ext cx="486461" cy="486461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263640" y="310896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6309360" y="379476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identity.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400800" y="4663440"/>
            <a:ext cx="2057400" cy="0"/>
          </a:xfrm>
          <a:prstGeom prst="line">
            <a:avLst/>
          </a:prstGeom>
          <a:noFill/>
          <a:ln w="12700">
            <a:solidFill>
              <a:srgbClr val="D6DAEF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309360" y="484632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really Google — or a fake site?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8915400" y="1965960"/>
            <a:ext cx="2606040" cy="4160520"/>
          </a:xfrm>
          <a:prstGeom prst="roundRect">
            <a:avLst>
              <a:gd name="adj" fmla="val 3509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3C7">
                <a:alpha val="25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9898380" y="22860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8" name="Image 3" descr="/home/claude/deck/icons/certificat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75190" y="2362810"/>
            <a:ext cx="486461" cy="486461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052560" y="310896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Non-repudiation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9098280" y="379476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sender can’t deny sending it.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9189720" y="4663440"/>
            <a:ext cx="2057400" cy="0"/>
          </a:xfrm>
          <a:prstGeom prst="line">
            <a:avLst/>
          </a:prstGeom>
          <a:noFill/>
          <a:ln w="12700">
            <a:solidFill>
              <a:srgbClr val="D6DAEF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9098280" y="484632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signatures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Cryptography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2–3 • THE KEY DISTINCTION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Encryption vs. hashing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confuse these constantly — this is the single most important distinction in the lecture.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212080" cy="4023360"/>
          </a:xfrm>
          <a:prstGeom prst="roundRect">
            <a:avLst>
              <a:gd name="adj" fmla="val 2273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3C7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28600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deck/icons/loc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003" y="2357323"/>
            <a:ext cx="451714" cy="45171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35915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Encryption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68680" y="306324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hide information.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recover the original with the right key.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68680" y="3977640"/>
            <a:ext cx="4572000" cy="1737360"/>
          </a:xfrm>
          <a:prstGeom prst="roundRect">
            <a:avLst>
              <a:gd name="adj" fmla="val 3158"/>
            </a:avLst>
          </a:prstGeom>
          <a:solidFill>
            <a:srgbClr val="1E2761"/>
          </a:solidFill>
          <a:ln/>
        </p:spPr>
      </p:sp>
      <p:sp>
        <p:nvSpPr>
          <p:cNvPr id="11" name="Text 8"/>
          <p:cNvSpPr/>
          <p:nvPr/>
        </p:nvSpPr>
        <p:spPr>
          <a:xfrm>
            <a:off x="1051560" y="3977640"/>
            <a:ext cx="4206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  →  Encrypted  →  Decrypt  →  Hello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989320" y="2011680"/>
            <a:ext cx="5623560" cy="4023360"/>
          </a:xfrm>
          <a:prstGeom prst="roundRect">
            <a:avLst>
              <a:gd name="adj" fmla="val 2273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3C7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309360" y="228600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1" descr="/home/claude/deck/icons/fingerprin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0683" y="2357323"/>
            <a:ext cx="451714" cy="45171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040880" y="235915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Hashing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6309360" y="306324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create a fingerprint.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recover the original — there is no reverse.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309360" y="3977640"/>
            <a:ext cx="5029200" cy="1737360"/>
          </a:xfrm>
          <a:prstGeom prst="roundRect">
            <a:avLst>
              <a:gd name="adj" fmla="val 3158"/>
            </a:avLst>
          </a:prstGeom>
          <a:solidFill>
            <a:srgbClr val="1E2761"/>
          </a:solidFill>
          <a:ln/>
        </p:spPr>
      </p:sp>
      <p:sp>
        <p:nvSpPr>
          <p:cNvPr id="18" name="Text 14"/>
          <p:cNvSpPr/>
          <p:nvPr/>
        </p:nvSpPr>
        <p:spPr>
          <a:xfrm>
            <a:off x="6492240" y="3977640"/>
            <a:ext cx="4663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  →  SHA-256  →  185f8db3...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Cryptography vs Hashing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• HASHING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Hashing creates a unique fingerprint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108960" cy="1051560"/>
          </a:xfrm>
          <a:prstGeom prst="roundRect">
            <a:avLst>
              <a:gd name="adj" fmla="val 6087"/>
            </a:avLst>
          </a:prstGeom>
          <a:solidFill>
            <a:srgbClr val="28358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37360"/>
            <a:ext cx="3108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"Hello"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840480" y="2057400"/>
            <a:ext cx="822960" cy="411480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3703320" y="1417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46320" y="1737360"/>
            <a:ext cx="6309360" cy="1051560"/>
          </a:xfrm>
          <a:prstGeom prst="roundRect">
            <a:avLst>
              <a:gd name="adj" fmla="val 6087"/>
            </a:avLst>
          </a:prstGeom>
          <a:solidFill>
            <a:srgbClr val="2E9E5B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737360"/>
            <a:ext cx="6309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185f8db322...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291840"/>
            <a:ext cx="3108960" cy="1051560"/>
          </a:xfrm>
          <a:prstGeom prst="roundRect">
            <a:avLst>
              <a:gd name="adj" fmla="val 6087"/>
            </a:avLst>
          </a:prstGeom>
          <a:solidFill>
            <a:srgbClr val="28358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291840"/>
            <a:ext cx="3108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 Everyone"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840480" y="3611880"/>
            <a:ext cx="822960" cy="411480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14" name="Text 12"/>
          <p:cNvSpPr/>
          <p:nvPr/>
        </p:nvSpPr>
        <p:spPr>
          <a:xfrm>
            <a:off x="3703320" y="2971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0" y="3291840"/>
            <a:ext cx="6309360" cy="1051560"/>
          </a:xfrm>
          <a:prstGeom prst="roundRect">
            <a:avLst>
              <a:gd name="adj" fmla="val 6087"/>
            </a:avLst>
          </a:prstGeom>
          <a:solidFill>
            <a:srgbClr val="46A0FF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3291840"/>
            <a:ext cx="6309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93jdh82j...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" y="502920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inputs → two completely different fingerprints. There is no way to go backward from the output to the input.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• HASHING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Properties of hash functions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011680" cy="4160520"/>
          </a:xfrm>
          <a:prstGeom prst="roundRect">
            <a:avLst>
              <a:gd name="adj" fmla="val 4545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3C7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80160" y="22860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deck/icons/random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5997" y="2351837"/>
            <a:ext cx="416966" cy="4169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3017520"/>
            <a:ext cx="17922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Deterministic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85800" y="3611880"/>
            <a:ext cx="17373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input always produces the same output — today, tomorrow, forever.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761488" y="2011680"/>
            <a:ext cx="2011680" cy="4160520"/>
          </a:xfrm>
          <a:prstGeom prst="roundRect">
            <a:avLst>
              <a:gd name="adj" fmla="val 4545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3C7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93008" y="22860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deck/icons/check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8845" y="2351837"/>
            <a:ext cx="416966" cy="41696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871216" y="3017520"/>
            <a:ext cx="17922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2898648" y="3611880"/>
            <a:ext cx="17373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computer can compute millions of hashes per second.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974336" y="2011680"/>
            <a:ext cx="2011680" cy="4160520"/>
          </a:xfrm>
          <a:prstGeom prst="roundRect">
            <a:avLst>
              <a:gd name="adj" fmla="val 4545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3C7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705856" y="22860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deck/icons/fingerprint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1693" y="2351837"/>
            <a:ext cx="416966" cy="41696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084064" y="3017520"/>
            <a:ext cx="17922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 length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5111496" y="3611880"/>
            <a:ext cx="17373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2-letter word and a 100 GB file both produce exactly 64 hex characters (SHA-256).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7187184" y="2011680"/>
            <a:ext cx="2011680" cy="4160520"/>
          </a:xfrm>
          <a:prstGeom prst="roundRect">
            <a:avLst>
              <a:gd name="adj" fmla="val 4545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3C7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918704" y="22860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home/claude/deck/icons/bug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4541" y="2351837"/>
            <a:ext cx="416966" cy="41696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96912" y="3017520"/>
            <a:ext cx="17922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Avalanche effect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324344" y="3611880"/>
            <a:ext cx="17373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one character in the input, and the entire output changes completely.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9400032" y="2011680"/>
            <a:ext cx="2011680" cy="4160520"/>
          </a:xfrm>
          <a:prstGeom prst="roundRect">
            <a:avLst>
              <a:gd name="adj" fmla="val 4545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3C7">
                <a:alpha val="2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131552" y="22860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/home/claude/deck/icons/lock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7389" y="2351837"/>
            <a:ext cx="416966" cy="41696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509760" y="3017520"/>
            <a:ext cx="17922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One-way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9537192" y="3611880"/>
            <a:ext cx="17373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cannot be reversed to reveal the input — this is why passwords are hashed.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• HASHING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avalanche effect, in action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881360" cy="1965960"/>
          </a:xfrm>
          <a:prstGeom prst="roundRect">
            <a:avLst>
              <a:gd name="adj" fmla="val 4651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3C7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783080"/>
            <a:ext cx="2103120" cy="685800"/>
          </a:xfrm>
          <a:prstGeom prst="roundRect">
            <a:avLst>
              <a:gd name="adj" fmla="val 8000"/>
            </a:avLst>
          </a:prstGeom>
          <a:solidFill>
            <a:srgbClr val="F4F6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78308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"Hello"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108960" y="1965960"/>
            <a:ext cx="640080" cy="320040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3886200" y="1783080"/>
            <a:ext cx="6675120" cy="6858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3886200" y="1783080"/>
            <a:ext cx="6675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185f8db3...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68680" y="2743200"/>
            <a:ext cx="2103120" cy="685800"/>
          </a:xfrm>
          <a:prstGeom prst="roundRect">
            <a:avLst>
              <a:gd name="adj" fmla="val 8000"/>
            </a:avLst>
          </a:prstGeom>
          <a:solidFill>
            <a:srgbClr val="F4F6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74320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"hello"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108960" y="2926080"/>
            <a:ext cx="640080" cy="320040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13" name="Shape 11"/>
          <p:cNvSpPr/>
          <p:nvPr/>
        </p:nvSpPr>
        <p:spPr>
          <a:xfrm>
            <a:off x="3886200" y="2743200"/>
            <a:ext cx="6675120" cy="685800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3886200" y="2743200"/>
            <a:ext cx="6675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2cf24d...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37947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lowercase letter changed the entire hash. This is exactly what makes hashing reliable for detecting tampering.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434840"/>
            <a:ext cx="10881360" cy="1737360"/>
          </a:xfrm>
          <a:prstGeom prst="roundRect">
            <a:avLst>
              <a:gd name="adj" fmla="val 526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9AA3C7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4690872"/>
            <a:ext cx="594360" cy="594360"/>
          </a:xfrm>
          <a:prstGeom prst="ellipse">
            <a:avLst/>
          </a:prstGeom>
          <a:solidFill>
            <a:srgbClr val="283580"/>
          </a:solidFill>
          <a:ln/>
        </p:spPr>
      </p:sp>
      <p:pic>
        <p:nvPicPr>
          <p:cNvPr id="18" name="Image 0" descr="/home/claude/deck/icons/fingerprin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003" y="4762195"/>
            <a:ext cx="451714" cy="451714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645920" y="4572000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SHA-256 = Secure Hash Algorithm, 256-bit output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645920" y="4937760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bits = 32 bytes = 64 hexadecimal characters — always, no matter the size of the input.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1645920" y="5349240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"Hello"  →  185f8db32271fe25f561...  (64 hex characters, every time)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 — SHA-256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• HASHING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passwords are hashed, not stored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212080" cy="2148840"/>
          </a:xfrm>
          <a:prstGeom prst="roundRect">
            <a:avLst>
              <a:gd name="adj" fmla="val 4255"/>
            </a:avLst>
          </a:prstGeom>
          <a:solidFill>
            <a:srgbClr val="FBE9E7"/>
          </a:solidFill>
          <a:ln/>
          <a:effectLst>
            <a:outerShdw sx="100000" sy="100000" kx="0" ky="0" algn="bl" rotWithShape="0" blurRad="76200" dist="25400" dir="5400000">
              <a:srgbClr val="9AA3C7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✗  Storing plaintext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194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John  →  password123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69748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database is stolen, every password is exposed immediately. Catastrophic.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89320" y="1554480"/>
            <a:ext cx="5623560" cy="2148840"/>
          </a:xfrm>
          <a:prstGeom prst="roundRect">
            <a:avLst>
              <a:gd name="adj" fmla="val 4255"/>
            </a:avLst>
          </a:prstGeom>
          <a:solidFill>
            <a:srgbClr val="E8F6EE"/>
          </a:solidFill>
          <a:ln/>
          <a:effectLst>
            <a:outerShdw sx="100000" sy="100000" kx="0" ky="0" algn="bl" rotWithShape="0" blurRad="76200" dist="25400" dir="5400000">
              <a:srgbClr val="9AA3C7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09360" y="1737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9E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Storing a hash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09360" y="2194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John  →  ef92b778ba...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09360" y="269748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stolen, attackers get scrambled fingerprints — not the actual passwords.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10881360" cy="2103120"/>
          </a:xfrm>
          <a:prstGeom prst="roundRect">
            <a:avLst>
              <a:gd name="adj" fmla="val 4348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3C7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 wait — the dictionary attack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68680" y="448056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can still guess common passwords, hash each guess, and compare it to the stolen hash: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68680" y="4937760"/>
            <a:ext cx="2377440" cy="502920"/>
          </a:xfrm>
          <a:prstGeom prst="roundRect">
            <a:avLst>
              <a:gd name="adj" fmla="val 54545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9377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123456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474720" y="4937760"/>
            <a:ext cx="2377440" cy="502920"/>
          </a:xfrm>
          <a:prstGeom prst="roundRect">
            <a:avLst>
              <a:gd name="adj" fmla="val 54545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3474720" y="49377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080760" y="4937760"/>
            <a:ext cx="2377440" cy="502920"/>
          </a:xfrm>
          <a:prstGeom prst="roundRect">
            <a:avLst>
              <a:gd name="adj" fmla="val 54545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080760" y="49377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686800" y="4937760"/>
            <a:ext cx="2377440" cy="502920"/>
          </a:xfrm>
          <a:prstGeom prst="roundRect">
            <a:avLst>
              <a:gd name="adj" fmla="val 54545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0" y="49377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qwerty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68680" y="557784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each guess → compare to the stolen hash → a match reveals the password.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 — Password Storage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• HASHING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Salt: defeating the dictionary attack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 is random data added to a password before it is hashed.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F4F6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08483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85800" y="235915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admin123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74720" y="21488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023360" y="2011680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F4F6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60520" y="208483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60520" y="235915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X82@9P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949440" y="2240280"/>
            <a:ext cx="548640" cy="365760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13" name="Shape 11"/>
          <p:cNvSpPr/>
          <p:nvPr/>
        </p:nvSpPr>
        <p:spPr>
          <a:xfrm>
            <a:off x="7680960" y="2011680"/>
            <a:ext cx="4297680" cy="82296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7818120" y="201168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Hash(admin123X82@9P)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200400"/>
            <a:ext cx="10881360" cy="2606040"/>
          </a:xfrm>
          <a:prstGeom prst="roundRect">
            <a:avLst>
              <a:gd name="adj" fmla="val 3509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3C7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68680" y="3429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68680" y="384048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if two users choose the exact same password, a unique random salt for each of them produces two completely different hashes in the database.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68680" y="461772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breaks pre-computed dictionary attacks — an attacker can’t just hash "password123" once and check it against every user; they’d have to redo the work for every single salt.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 — Salt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• HASHING &amp; ENCODING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Base64 is not encryption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almost always assume it is. It isn’t — there’s no secret involved at all.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0881360" cy="1463040"/>
          </a:xfrm>
          <a:prstGeom prst="roundRect">
            <a:avLst>
              <a:gd name="adj" fmla="val 6250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3C7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965960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 is an encoding format — it converts binary data into text so it can be safely transmitted or displayed.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"Hello"   →   SGVsbG8=   →   "Hello"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657600"/>
            <a:ext cx="5212080" cy="2331720"/>
          </a:xfrm>
          <a:prstGeom prst="roundRect">
            <a:avLst>
              <a:gd name="adj" fmla="val 3922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3C7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Encoding (Base64)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4251960"/>
            <a:ext cx="4663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key. No secret. Anyone can decode it instantly — it just makes binary data representable as text.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89320" y="3657600"/>
            <a:ext cx="5623560" cy="2331720"/>
          </a:xfrm>
          <a:prstGeom prst="roundRect">
            <a:avLst>
              <a:gd name="adj" fmla="val 3922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3C7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0936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Encryption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09360" y="4251960"/>
            <a:ext cx="5120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key. Without it, the data stays unreadable — that’s what makes it actually secure.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• TLS / HTTPS &amp; PKI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does the browser show 🔒 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HTTPS — HTTP secured with TLS — is protecting the connection.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10881360" cy="1828800"/>
          </a:xfrm>
          <a:prstGeom prst="roundRect">
            <a:avLst>
              <a:gd name="adj" fmla="val 5000"/>
            </a:avLst>
          </a:prstGeom>
          <a:solidFill>
            <a:srgbClr val="4A1F24"/>
          </a:solidFill>
          <a:ln/>
          <a:effectLst>
            <a:outerShdw sx="100000" sy="100000" kx="0" ky="0" algn="bl" rotWithShape="0" blurRad="76200" dist="25400" dir="5400000">
              <a:srgbClr val="9AA3C7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B7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 — plain text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74320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  →  Internet  →  Attacker sees the password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329184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5B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travels exactly as typed — anyone listening on the network can read it.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10881360" cy="1828800"/>
          </a:xfrm>
          <a:prstGeom prst="roundRect">
            <a:avLst>
              <a:gd name="adj" fmla="val 5000"/>
            </a:avLst>
          </a:prstGeom>
          <a:solidFill>
            <a:srgbClr val="1E4A34"/>
          </a:solidFill>
          <a:ln/>
          <a:effectLst>
            <a:outerShdw sx="100000" sy="100000" kx="0" ky="0" algn="bl" rotWithShape="0" blurRad="76200" dist="25400" dir="5400000">
              <a:srgbClr val="9AA3C7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4297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2E0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HTTPS — encrypted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475488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  →  Encrypted  →  Internet  →  Attacker sees random bytes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68680" y="530352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2E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intended server can decrypt what was sent.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/ HTTPS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• TLS / HTTPS &amp; PKI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TLS handshake, simplified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= Transport Layer Security. Before any data is sent, the browser and server perform this handshake.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011680" cy="4206240"/>
          </a:xfrm>
          <a:prstGeom prst="roundRect">
            <a:avLst>
              <a:gd name="adj" fmla="val 4545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3C7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03020" y="22402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130302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297180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Browser says "Hello!"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3931920"/>
            <a:ext cx="1737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browser initiates the connection and lists the encryption methods it supports.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9464" y="3794760"/>
            <a:ext cx="118872" cy="274320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11" name="Shape 9"/>
          <p:cNvSpPr/>
          <p:nvPr/>
        </p:nvSpPr>
        <p:spPr>
          <a:xfrm>
            <a:off x="2697480" y="1965960"/>
            <a:ext cx="2011680" cy="4206240"/>
          </a:xfrm>
          <a:prstGeom prst="roundRect">
            <a:avLst>
              <a:gd name="adj" fmla="val 4545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3C7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51860" y="22402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345186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834640" y="297180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 replies with its certificate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834640" y="3931920"/>
            <a:ext cx="1737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certificate proves the server’s identity and includes its public key.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18304" y="3794760"/>
            <a:ext cx="118872" cy="274320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17" name="Shape 15"/>
          <p:cNvSpPr/>
          <p:nvPr/>
        </p:nvSpPr>
        <p:spPr>
          <a:xfrm>
            <a:off x="4846320" y="1965960"/>
            <a:ext cx="2011680" cy="4206240"/>
          </a:xfrm>
          <a:prstGeom prst="roundRect">
            <a:avLst>
              <a:gd name="adj" fmla="val 4545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3C7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00700" y="22402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560070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983480" y="297180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Browser verifies the certificate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983480" y="3931920"/>
            <a:ext cx="1737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against trusted Certificate Authorities — is this really the real site?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67144" y="3794760"/>
            <a:ext cx="118872" cy="274320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23" name="Shape 21"/>
          <p:cNvSpPr/>
          <p:nvPr/>
        </p:nvSpPr>
        <p:spPr>
          <a:xfrm>
            <a:off x="6995160" y="1965960"/>
            <a:ext cx="2011680" cy="4206240"/>
          </a:xfrm>
          <a:prstGeom prst="roundRect">
            <a:avLst>
              <a:gd name="adj" fmla="val 4545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3C7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749540" y="22402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774954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132320" y="297180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agree on encryption keys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132320" y="3931920"/>
            <a:ext cx="1737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sides derive shared keys that only they know.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015984" y="3794760"/>
            <a:ext cx="118872" cy="274320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29" name="Shape 27"/>
          <p:cNvSpPr/>
          <p:nvPr/>
        </p:nvSpPr>
        <p:spPr>
          <a:xfrm>
            <a:off x="9144000" y="1965960"/>
            <a:ext cx="2011680" cy="4206240"/>
          </a:xfrm>
          <a:prstGeom prst="roundRect">
            <a:avLst>
              <a:gd name="adj" fmla="val 4545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3C7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898380" y="22402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989838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281160" y="297180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communication begins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9281160" y="3931920"/>
            <a:ext cx="1737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this point on, everything exchanged is encrypted.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Handshake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• TLS / HTTPS &amp; PKI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PKI: the internet’s trust system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Key Infrastructure. Without it, anyone could pretend to be google.com.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212080" cy="4251960"/>
          </a:xfrm>
          <a:prstGeom prst="roundRect">
            <a:avLst>
              <a:gd name="adj" fmla="val 2151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3C7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24028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deck/icons/certificat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003" y="2311603"/>
            <a:ext cx="451714" cy="45171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31343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Certificate Authority (CA)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2971800"/>
            <a:ext cx="4617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trusted organization that verifies identities and issues digital certificates. Browsers already trust a known set of CAs — when a CA signs a certificate, the browser can verify it’s genuine.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68680" y="4617720"/>
            <a:ext cx="4617720" cy="0"/>
          </a:xfrm>
          <a:prstGeom prst="line">
            <a:avLst/>
          </a:prstGeom>
          <a:noFill/>
          <a:ln w="12700">
            <a:solidFill>
              <a:srgbClr val="D6DAE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4800600"/>
            <a:ext cx="4617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a CA is like a government issuing passports — you trust the passport because you trust the authority that issued it, not because you personally verified the person.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989320" y="1965960"/>
            <a:ext cx="5623560" cy="4251960"/>
          </a:xfrm>
          <a:prstGeom prst="roundRect">
            <a:avLst>
              <a:gd name="adj" fmla="val 2151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3C7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309360" y="224028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1" descr="/home/claude/deck/icons/certificat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0683" y="2311603"/>
            <a:ext cx="451714" cy="45171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040880" y="231343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digital certificate contains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6309360" y="3063240"/>
            <a:ext cx="146304" cy="1463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3"/>
          <p:cNvSpPr/>
          <p:nvPr/>
        </p:nvSpPr>
        <p:spPr>
          <a:xfrm>
            <a:off x="6583680" y="30175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name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6309360" y="3630168"/>
            <a:ext cx="146304" cy="1463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5"/>
          <p:cNvSpPr/>
          <p:nvPr/>
        </p:nvSpPr>
        <p:spPr>
          <a:xfrm>
            <a:off x="6583680" y="358444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key</a:t>
            </a:r>
            <a:endParaRPr lang="en-US" sz="1350" dirty="0"/>
          </a:p>
        </p:txBody>
      </p:sp>
      <p:sp>
        <p:nvSpPr>
          <p:cNvPr id="20" name="Shape 16"/>
          <p:cNvSpPr/>
          <p:nvPr/>
        </p:nvSpPr>
        <p:spPr>
          <a:xfrm>
            <a:off x="6309360" y="4197096"/>
            <a:ext cx="146304" cy="1463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7"/>
          <p:cNvSpPr/>
          <p:nvPr/>
        </p:nvSpPr>
        <p:spPr>
          <a:xfrm>
            <a:off x="6583680" y="4151376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350" dirty="0"/>
          </a:p>
        </p:txBody>
      </p:sp>
      <p:sp>
        <p:nvSpPr>
          <p:cNvPr id="22" name="Shape 18"/>
          <p:cNvSpPr/>
          <p:nvPr/>
        </p:nvSpPr>
        <p:spPr>
          <a:xfrm>
            <a:off x="6309360" y="4764024"/>
            <a:ext cx="146304" cy="1463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19"/>
          <p:cNvSpPr/>
          <p:nvPr/>
        </p:nvSpPr>
        <p:spPr>
          <a:xfrm>
            <a:off x="6583680" y="4718304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Expiration date</a:t>
            </a:r>
            <a:endParaRPr lang="en-US" sz="1350" dirty="0"/>
          </a:p>
        </p:txBody>
      </p:sp>
      <p:sp>
        <p:nvSpPr>
          <p:cNvPr id="24" name="Shape 20"/>
          <p:cNvSpPr/>
          <p:nvPr/>
        </p:nvSpPr>
        <p:spPr>
          <a:xfrm>
            <a:off x="6309360" y="5330952"/>
            <a:ext cx="146304" cy="1463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1"/>
          <p:cNvSpPr/>
          <p:nvPr/>
        </p:nvSpPr>
        <p:spPr>
          <a:xfrm>
            <a:off x="6583680" y="528523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signature</a:t>
            </a:r>
            <a:endParaRPr lang="en-US" sz="1350" dirty="0"/>
          </a:p>
        </p:txBody>
      </p:sp>
      <p:sp>
        <p:nvSpPr>
          <p:cNvPr id="26" name="Text 22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PKI &amp; Certificate Authorities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• TLS / HTTPS &amp; PKI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key cryptography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website holds two mathematically related keys.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212080" cy="2834640"/>
          </a:xfrm>
          <a:prstGeom prst="roundRect">
            <a:avLst>
              <a:gd name="adj" fmla="val 3226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3C7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2402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deck/icons/key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4517" y="2306117"/>
            <a:ext cx="416966" cy="41696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31343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key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2926080"/>
            <a:ext cx="4663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with everyone</a:t>
            </a:r>
            <a:endParaRPr lang="en-US" sz="13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 others to encrypt data or verify signatures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989320" y="1965960"/>
            <a:ext cx="5623560" cy="2834640"/>
          </a:xfrm>
          <a:prstGeom prst="roundRect">
            <a:avLst>
              <a:gd name="adj" fmla="val 322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9AA3C7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309360" y="2240280"/>
            <a:ext cx="548640" cy="548640"/>
          </a:xfrm>
          <a:prstGeom prst="ellipse">
            <a:avLst/>
          </a:prstGeom>
          <a:solidFill>
            <a:srgbClr val="283580"/>
          </a:solidFill>
          <a:ln/>
        </p:spPr>
      </p:sp>
      <p:pic>
        <p:nvPicPr>
          <p:cNvPr id="12" name="Image 1" descr="/home/claude/deck/icons/key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5197" y="2306117"/>
            <a:ext cx="416966" cy="41696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95160" y="231343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 key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309360" y="2926080"/>
            <a:ext cx="51206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— kept only by the owner</a:t>
            </a:r>
            <a:endParaRPr lang="en-US" sz="13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decrypt data or create digital signatures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48640" y="498348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3C7">
                <a:alpha val="25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868680" y="5120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Analogy: the mailbox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868680" y="5468112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drop a letter into the mailbox — that’s the public key. Only the owner has the physical key to open it and read what’s inside — that’s the private key.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/ Private Keys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IT TOGETHER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Visiting https://google.com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283580"/>
          </a:solidFill>
          <a:ln w="12700">
            <a:solidFill>
              <a:srgbClr val="3E4C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783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58368" y="2148840"/>
            <a:ext cx="14721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requests the website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244852" y="2240280"/>
            <a:ext cx="118872" cy="274320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9" name="Shape 7"/>
          <p:cNvSpPr/>
          <p:nvPr/>
        </p:nvSpPr>
        <p:spPr>
          <a:xfrm>
            <a:off x="2368296" y="169164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283580"/>
          </a:solidFill>
          <a:ln w="12700">
            <a:solidFill>
              <a:srgbClr val="3E4C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78024" y="1783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478024" y="2148840"/>
            <a:ext cx="14721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sends its certificate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064508" y="2240280"/>
            <a:ext cx="118872" cy="274320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13" name="Shape 11"/>
          <p:cNvSpPr/>
          <p:nvPr/>
        </p:nvSpPr>
        <p:spPr>
          <a:xfrm>
            <a:off x="4187952" y="169164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283580"/>
          </a:solidFill>
          <a:ln w="12700">
            <a:solidFill>
              <a:srgbClr val="3E4CA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0" y="1783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297680" y="2148840"/>
            <a:ext cx="14721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verifies it via trusted CAs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884164" y="2240280"/>
            <a:ext cx="118872" cy="274320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17" name="Shape 15"/>
          <p:cNvSpPr/>
          <p:nvPr/>
        </p:nvSpPr>
        <p:spPr>
          <a:xfrm>
            <a:off x="6007608" y="169164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283580"/>
          </a:solidFill>
          <a:ln w="12700">
            <a:solidFill>
              <a:srgbClr val="3E4CA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17336" y="1783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117336" y="2148840"/>
            <a:ext cx="14721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handshake creates shared keys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703820" y="2240280"/>
            <a:ext cx="118872" cy="274320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21" name="Shape 19"/>
          <p:cNvSpPr/>
          <p:nvPr/>
        </p:nvSpPr>
        <p:spPr>
          <a:xfrm>
            <a:off x="7827264" y="169164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283580"/>
          </a:solidFill>
          <a:ln w="12700">
            <a:solidFill>
              <a:srgbClr val="3E4CA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36992" y="1783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936992" y="2148840"/>
            <a:ext cx="14721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is encrypted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523476" y="2240280"/>
            <a:ext cx="118872" cy="274320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25" name="Shape 23"/>
          <p:cNvSpPr/>
          <p:nvPr/>
        </p:nvSpPr>
        <p:spPr>
          <a:xfrm>
            <a:off x="9646920" y="169164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283580"/>
          </a:solidFill>
          <a:ln w="12700">
            <a:solidFill>
              <a:srgbClr val="3E4CA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56648" y="1783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756648" y="2148840"/>
            <a:ext cx="14721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Hashes verify data integrity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3630168"/>
            <a:ext cx="128016" cy="128016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352044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Cryptography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the underlying techniques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035040" y="3630168"/>
            <a:ext cx="128016" cy="128016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31" name="Text 29"/>
          <p:cNvSpPr/>
          <p:nvPr/>
        </p:nvSpPr>
        <p:spPr>
          <a:xfrm>
            <a:off x="6309360" y="352044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 (SHA-256)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integrity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48640" y="4636008"/>
            <a:ext cx="128016" cy="128016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33" name="Text 31"/>
          <p:cNvSpPr/>
          <p:nvPr/>
        </p:nvSpPr>
        <p:spPr>
          <a:xfrm>
            <a:off x="822960" y="452628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/ private keys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secure exchange and authentication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035040" y="4636008"/>
            <a:ext cx="128016" cy="128016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35" name="Text 33"/>
          <p:cNvSpPr/>
          <p:nvPr/>
        </p:nvSpPr>
        <p:spPr>
          <a:xfrm>
            <a:off x="6309360" y="452628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PKI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establishes trust in identities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48640" y="5641848"/>
            <a:ext cx="128016" cy="128016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37" name="Text 35"/>
          <p:cNvSpPr/>
          <p:nvPr/>
        </p:nvSpPr>
        <p:spPr>
          <a:xfrm>
            <a:off x="822960" y="553212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secures the connection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035040" y="5641848"/>
            <a:ext cx="128016" cy="128016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39" name="Text 37"/>
          <p:cNvSpPr/>
          <p:nvPr/>
        </p:nvSpPr>
        <p:spPr>
          <a:xfrm>
            <a:off x="6309360" y="553212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HTTP running over TLS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all together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INSTRUCTOR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Tips for teaching this lecture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0881360" cy="2331720"/>
          </a:xfrm>
          <a:prstGeom prst="roundRect">
            <a:avLst>
              <a:gd name="adj" fmla="val 3922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3C7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792224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7373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every major topic with a real-life analogy — house locks, sealed envelopes, fingerprints, mailboxes.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68680" y="2322576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26771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live whenever possible: hash a file, Base64 encode/decode a string, inspect a real certificate.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68680" y="2852928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2798064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quick check questions often — "Can you reverse a SHA-256 hash?" "Is Base64 encryption?"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68680" y="3383280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3328416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repeating the purpose of each technology so it sticks.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2066544" cy="1691640"/>
          </a:xfrm>
          <a:prstGeom prst="roundRect">
            <a:avLst>
              <a:gd name="adj" fmla="val 4324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4279392"/>
            <a:ext cx="1847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Encryption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58368" y="4846320"/>
            <a:ext cx="18470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data secret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0" y="4114800"/>
            <a:ext cx="2066544" cy="1691640"/>
          </a:xfrm>
          <a:prstGeom prst="roundRect">
            <a:avLst>
              <a:gd name="adj" fmla="val 4324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2852928" y="4279392"/>
            <a:ext cx="1847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Hashing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2852928" y="4846320"/>
            <a:ext cx="18470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change, verifies integrity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937760" y="4114800"/>
            <a:ext cx="2066544" cy="1691640"/>
          </a:xfrm>
          <a:prstGeom prst="roundRect">
            <a:avLst>
              <a:gd name="adj" fmla="val 4324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5047488" y="4279392"/>
            <a:ext cx="1847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Base64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047488" y="4846320"/>
            <a:ext cx="18470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binary data representable as text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132320" y="4114800"/>
            <a:ext cx="2066544" cy="1691640"/>
          </a:xfrm>
          <a:prstGeom prst="roundRect">
            <a:avLst>
              <a:gd name="adj" fmla="val 4324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7242048" y="4279392"/>
            <a:ext cx="1847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TLS / HTTPS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242048" y="4846320"/>
            <a:ext cx="18470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data while it travels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326880" y="4114800"/>
            <a:ext cx="2066544" cy="1691640"/>
          </a:xfrm>
          <a:prstGeom prst="roundRect">
            <a:avLst>
              <a:gd name="adj" fmla="val 4324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9436608" y="4279392"/>
            <a:ext cx="1847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PKI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436608" y="4846320"/>
            <a:ext cx="18470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you’re talking to the real site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tips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2026-07-29T04:47:40Z</dcterms:created>
  <dcterms:modified xsi:type="dcterms:W3CDTF">2026-07-29T04:47:40Z</dcterms:modified>
</cp:coreProperties>
</file>